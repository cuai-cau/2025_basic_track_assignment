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6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5854"/>
    <p:restoredTop sz="94752"/>
  </p:normalViewPr>
  <p:slideViewPr>
    <p:cSldViewPr snapToGrid="0">
      <p:cViewPr varScale="1">
        <p:scale>
          <a:sx n="100" d="100"/>
          <a:sy n="100" d="100"/>
        </p:scale>
        <p:origin x="616" y="76"/>
      </p:cViewPr>
      <p:guideLst>
        <p:guide orient="horz" pos="161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presProps" Target="presProps.xml"  /><Relationship Id="rId33" Type="http://schemas.openxmlformats.org/officeDocument/2006/relationships/viewProps" Target="viewProps.xml"  /><Relationship Id="rId34" Type="http://schemas.openxmlformats.org/officeDocument/2006/relationships/theme" Target="theme/theme1.xml"  /><Relationship Id="rId35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9.xml"  /><Relationship Id="rId2" Type="http://schemas.openxmlformats.org/officeDocument/2006/relationships/notesMaster" Target="../notesMasters/notesMaster1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slide" Target="../slides/slide20.xml"  /><Relationship Id="rId2" Type="http://schemas.openxmlformats.org/officeDocument/2006/relationships/notesMaster" Target="../notesMasters/notesMaster1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1.xml"  /><Relationship Id="rId2" Type="http://schemas.openxmlformats.org/officeDocument/2006/relationships/notesMaster" Target="../notesMasters/notesMaster1.xml"  /></Relationships>
</file>

<file path=ppt/notesSlides/_rels/notesSlide2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2.xml"  /><Relationship Id="rId2" Type="http://schemas.openxmlformats.org/officeDocument/2006/relationships/notesMaster" Target="../notesMasters/notesMaster1.xml"  /></Relationships>
</file>

<file path=ppt/notesSlides/_rels/notesSlide23.xml.rels><?xml version="1.0" encoding="UTF-8" standalone="yes" ?><Relationships xmlns="http://schemas.openxmlformats.org/package/2006/relationships"><Relationship Id="rId1" Type="http://schemas.openxmlformats.org/officeDocument/2006/relationships/slide" Target="../slides/slide23.xml"  /><Relationship Id="rId2" Type="http://schemas.openxmlformats.org/officeDocument/2006/relationships/notesMaster" Target="../notesMasters/notesMaster1.xml"  /></Relationships>
</file>

<file path=ppt/notesSlides/_rels/notesSlide24.xml.rels><?xml version="1.0" encoding="UTF-8" standalone="yes" ?><Relationships xmlns="http://schemas.openxmlformats.org/package/2006/relationships"><Relationship Id="rId1" Type="http://schemas.openxmlformats.org/officeDocument/2006/relationships/slide" Target="../slides/slide24.xml"  /><Relationship Id="rId2" Type="http://schemas.openxmlformats.org/officeDocument/2006/relationships/notesMaster" Target="../notesMasters/notesMaster1.xml"  /></Relationships>
</file>

<file path=ppt/notesSlides/_rels/notesSlide25.xml.rels><?xml version="1.0" encoding="UTF-8" standalone="yes" ?><Relationships xmlns="http://schemas.openxmlformats.org/package/2006/relationships"><Relationship Id="rId1" Type="http://schemas.openxmlformats.org/officeDocument/2006/relationships/slide" Target="../slides/slide25.xml"  /><Relationship Id="rId2" Type="http://schemas.openxmlformats.org/officeDocument/2006/relationships/notesMaster" Target="../notesMasters/notesMaster1.xml"  /></Relationships>
</file>

<file path=ppt/notesSlides/_rels/notesSlide26.xml.rels><?xml version="1.0" encoding="UTF-8" standalone="yes" ?><Relationships xmlns="http://schemas.openxmlformats.org/package/2006/relationships"><Relationship Id="rId1" Type="http://schemas.openxmlformats.org/officeDocument/2006/relationships/slide" Target="../slides/slide26.xml"  /><Relationship Id="rId2" Type="http://schemas.openxmlformats.org/officeDocument/2006/relationships/notesMaster" Target="../notesMasters/notesMaster1.xml"  /></Relationships>
</file>

<file path=ppt/notesSlides/_rels/notesSlide27.xml.rels><?xml version="1.0" encoding="UTF-8" standalone="yes" ?><Relationships xmlns="http://schemas.openxmlformats.org/package/2006/relationships"><Relationship Id="rId1" Type="http://schemas.openxmlformats.org/officeDocument/2006/relationships/slide" Target="../slides/slide27.xml"  /><Relationship Id="rId2" Type="http://schemas.openxmlformats.org/officeDocument/2006/relationships/notesMaster" Target="../notesMasters/notesMaster1.xml"  /></Relationships>
</file>

<file path=ppt/notesSlides/_rels/notesSlide28.xml.rels><?xml version="1.0" encoding="UTF-8" standalone="yes" ?><Relationships xmlns="http://schemas.openxmlformats.org/package/2006/relationships"><Relationship Id="rId1" Type="http://schemas.openxmlformats.org/officeDocument/2006/relationships/slide" Target="../slides/slide28.xml"  /><Relationship Id="rId2" Type="http://schemas.openxmlformats.org/officeDocument/2006/relationships/notesMaster" Target="../notesMasters/notesMaster1.xml"  /></Relationships>
</file>

<file path=ppt/notesSlides/_rels/notesSlide29.xml.rels><?xml version="1.0" encoding="UTF-8" standalone="yes" ?><Relationships xmlns="http://schemas.openxmlformats.org/package/2006/relationships"><Relationship Id="rId1" Type="http://schemas.openxmlformats.org/officeDocument/2006/relationships/slide" Target="../slides/slide29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4.png"  /><Relationship Id="rId4" Type="http://schemas.openxmlformats.org/officeDocument/2006/relationships/image" Target="../media/image5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.xml"  /><Relationship Id="rId3" Type="http://schemas.openxmlformats.org/officeDocument/2006/relationships/image" Target="../media/image4.png"  /><Relationship Id="rId4" Type="http://schemas.openxmlformats.org/officeDocument/2006/relationships/image" Target="../media/image6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.xml"  /><Relationship Id="rId3" Type="http://schemas.openxmlformats.org/officeDocument/2006/relationships/image" Target="../media/image4.png"  /><Relationship Id="rId4" Type="http://schemas.openxmlformats.org/officeDocument/2006/relationships/image" Target="../media/image7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Relationship Id="rId3" Type="http://schemas.openxmlformats.org/officeDocument/2006/relationships/image" Target="../media/image4.png"  /><Relationship Id="rId4" Type="http://schemas.openxmlformats.org/officeDocument/2006/relationships/image" Target="../media/image8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8.xml"  /><Relationship Id="rId3" Type="http://schemas.openxmlformats.org/officeDocument/2006/relationships/image" Target="../media/image4.png"  /><Relationship Id="rId4" Type="http://schemas.openxmlformats.org/officeDocument/2006/relationships/image" Target="../media/image9.png"  /><Relationship Id="rId5" Type="http://schemas.openxmlformats.org/officeDocument/2006/relationships/image" Target="../media/image10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.png"  /><Relationship Id="rId4" Type="http://schemas.openxmlformats.org/officeDocument/2006/relationships/image" Target="../media/image11.png"  /><Relationship Id="rId5" Type="http://schemas.openxmlformats.org/officeDocument/2006/relationships/image" Target="../media/image12.png"  /><Relationship Id="rId6" Type="http://schemas.openxmlformats.org/officeDocument/2006/relationships/image" Target="../media/image13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14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1.xml"  /><Relationship Id="rId3" Type="http://schemas.openxmlformats.org/officeDocument/2006/relationships/image" Target="../media/image4.png"  /><Relationship Id="rId4" Type="http://schemas.openxmlformats.org/officeDocument/2006/relationships/image" Target="../media/image15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2.xml"  /><Relationship Id="rId3" Type="http://schemas.openxmlformats.org/officeDocument/2006/relationships/image" Target="../media/image4.png"  /><Relationship Id="rId4" Type="http://schemas.openxmlformats.org/officeDocument/2006/relationships/image" Target="../media/image16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3.xml"  /><Relationship Id="rId3" Type="http://schemas.openxmlformats.org/officeDocument/2006/relationships/image" Target="../media/image4.png"  /><Relationship Id="rId4" Type="http://schemas.openxmlformats.org/officeDocument/2006/relationships/image" Target="../media/image17.png"  /><Relationship Id="rId5" Type="http://schemas.openxmlformats.org/officeDocument/2006/relationships/image" Target="../media/image18.png"  /><Relationship Id="rId6" Type="http://schemas.openxmlformats.org/officeDocument/2006/relationships/image" Target="../media/image19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4.xml"  /><Relationship Id="rId3" Type="http://schemas.openxmlformats.org/officeDocument/2006/relationships/image" Target="../media/image4.png"  /><Relationship Id="rId4" Type="http://schemas.openxmlformats.org/officeDocument/2006/relationships/image" Target="../media/image20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5.xml"  /><Relationship Id="rId3" Type="http://schemas.openxmlformats.org/officeDocument/2006/relationships/image" Target="../media/image4.png"  /><Relationship Id="rId4" Type="http://schemas.openxmlformats.org/officeDocument/2006/relationships/image" Target="../media/image21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6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.png"  /><Relationship Id="rId4" Type="http://schemas.openxmlformats.org/officeDocument/2006/relationships/image" Target="../media/image22.png"  /><Relationship Id="rId5" Type="http://schemas.openxmlformats.org/officeDocument/2006/relationships/image" Target="../media/image23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7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24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8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25.png"  /><Relationship Id="rId5" Type="http://schemas.openxmlformats.org/officeDocument/2006/relationships/image" Target="../media/image26.png"  /><Relationship Id="rId6" Type="http://schemas.openxmlformats.org/officeDocument/2006/relationships/image" Target="../media/image27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9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28.png"  /><Relationship Id="rId5" Type="http://schemas.openxmlformats.org/officeDocument/2006/relationships/image" Target="../media/image29.png"  /><Relationship Id="rId6" Type="http://schemas.openxmlformats.org/officeDocument/2006/relationships/image" Target="../media/image30.png"  /><Relationship Id="rId7" Type="http://schemas.openxmlformats.org/officeDocument/2006/relationships/image" Target="../media/image31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0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2.png"  /><Relationship Id="rId4" Type="http://schemas.openxmlformats.org/officeDocument/2006/relationships/image" Target="../media/image33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1.xml"  /><Relationship Id="rId3" Type="http://schemas.openxmlformats.org/officeDocument/2006/relationships/image" Target="../media/image4.png"  /><Relationship Id="rId4" Type="http://schemas.openxmlformats.org/officeDocument/2006/relationships/image" Target="../media/image34.png"  /><Relationship Id="rId5" Type="http://schemas.openxmlformats.org/officeDocument/2006/relationships/image" Target="../media/image35.png"  /><Relationship Id="rId6" Type="http://schemas.openxmlformats.org/officeDocument/2006/relationships/image" Target="../media/image36.png"  /><Relationship Id="rId7" Type="http://schemas.openxmlformats.org/officeDocument/2006/relationships/image" Target="../media/image37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2.png"  /><Relationship Id="rId4" Type="http://schemas.openxmlformats.org/officeDocument/2006/relationships/image" Target="../media/image38.png"  /><Relationship Id="rId5" Type="http://schemas.openxmlformats.org/officeDocument/2006/relationships/image" Target="../media/image39.png"  /><Relationship Id="rId6" Type="http://schemas.openxmlformats.org/officeDocument/2006/relationships/image" Target="../media/image27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3.xml"  /><Relationship Id="rId3" Type="http://schemas.openxmlformats.org/officeDocument/2006/relationships/image" Target="../media/image4.png"  /><Relationship Id="rId4" Type="http://schemas.openxmlformats.org/officeDocument/2006/relationships/image" Target="../media/image40.png"  /><Relationship Id="rId5" Type="http://schemas.openxmlformats.org/officeDocument/2006/relationships/image" Target="../media/image41.png"  /><Relationship Id="rId6" Type="http://schemas.openxmlformats.org/officeDocument/2006/relationships/image" Target="../media/image42.png"  /><Relationship Id="rId7" Type="http://schemas.openxmlformats.org/officeDocument/2006/relationships/image" Target="../media/image43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44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5.xml"  /><Relationship Id="rId3" Type="http://schemas.openxmlformats.org/officeDocument/2006/relationships/image" Target="../media/image4.png"  /><Relationship Id="rId4" Type="http://schemas.openxmlformats.org/officeDocument/2006/relationships/image" Target="../media/image45.png"  /><Relationship Id="rId5" Type="http://schemas.openxmlformats.org/officeDocument/2006/relationships/image" Target="../media/image46.png"  /><Relationship Id="rId6" Type="http://schemas.openxmlformats.org/officeDocument/2006/relationships/image" Target="../media/image47.png"  /><Relationship Id="rId7" Type="http://schemas.openxmlformats.org/officeDocument/2006/relationships/image" Target="../media/image48.png"  /><Relationship Id="rId8" Type="http://schemas.openxmlformats.org/officeDocument/2006/relationships/image" Target="../media/image49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6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2.png"  /><Relationship Id="rId4" Type="http://schemas.openxmlformats.org/officeDocument/2006/relationships/image" Target="../media/image50.png"  /><Relationship Id="rId5" Type="http://schemas.openxmlformats.org/officeDocument/2006/relationships/image" Target="../media/image51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7.xml"  /><Relationship Id="rId3" Type="http://schemas.openxmlformats.org/officeDocument/2006/relationships/image" Target="../media/image4.png"  /><Relationship Id="rId4" Type="http://schemas.openxmlformats.org/officeDocument/2006/relationships/image" Target="../media/image52.png"  /><Relationship Id="rId5" Type="http://schemas.openxmlformats.org/officeDocument/2006/relationships/image" Target="../media/image53.png"  /><Relationship Id="rId6" Type="http://schemas.openxmlformats.org/officeDocument/2006/relationships/image" Target="../media/image54.png"  /><Relationship Id="rId7" Type="http://schemas.openxmlformats.org/officeDocument/2006/relationships/image" Target="../media/image55.png"  /><Relationship Id="rId8" Type="http://schemas.openxmlformats.org/officeDocument/2006/relationships/image" Target="../media/image56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8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video" Target="file:///C:/Users/user/Downloads/bandicam_2021-06-26_18-15-01-157.avi_000000900.mp4" TargetMode="External" /><Relationship Id="rId5" Type="http://schemas.microsoft.com/office/2007/relationships/media" Target="file:///C:\Users\user\Downloads\bandicam_2021-06-26_18-15-01-157.avi_000000900.mp4" TargetMode="External" /><Relationship Id="rId6" Type="http://schemas.openxmlformats.org/officeDocument/2006/relationships/image" Target="../media/image57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9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6654179" cy="1553325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500" b="1">
                <a:solidFill>
                  <a:srgbClr val="19264B"/>
                </a:solidFill>
              </a:rPr>
              <a:t>CUAI Basic </a:t>
            </a:r>
            <a:r>
              <a:rPr lang="ko-KR" altLang="en-US" sz="2500" b="1">
                <a:solidFill>
                  <a:srgbClr val="19264B"/>
                </a:solidFill>
              </a:rPr>
              <a:t>프로젝트 </a:t>
            </a:r>
            <a:r>
              <a:rPr lang="en-US" altLang="ko-KR" sz="2500" b="1">
                <a:solidFill>
                  <a:srgbClr val="19264B"/>
                </a:solidFill>
              </a:rPr>
              <a:t>4</a:t>
            </a:r>
            <a:r>
              <a:rPr lang="ko-KR" altLang="en-US" sz="2500" b="1">
                <a:solidFill>
                  <a:srgbClr val="19264B"/>
                </a:solidFill>
              </a:rPr>
              <a:t>조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>
                <a:solidFill>
                  <a:srgbClr val="19264B"/>
                </a:solidFill>
              </a:rPr>
              <a:t>202</a:t>
            </a:r>
            <a:r>
              <a:rPr lang="en-US" altLang="ko">
                <a:solidFill>
                  <a:srgbClr val="19264B"/>
                </a:solidFill>
              </a:rPr>
              <a:t>5</a:t>
            </a:r>
            <a:r>
              <a:rPr lang="ko">
                <a:solidFill>
                  <a:srgbClr val="19264B"/>
                </a:solidFill>
              </a:rPr>
              <a:t>.0</a:t>
            </a:r>
            <a:r>
              <a:rPr lang="en-US" altLang="ko-KR">
                <a:solidFill>
                  <a:srgbClr val="19264B"/>
                </a:solidFill>
              </a:rPr>
              <a:t>5</a:t>
            </a:r>
            <a:r>
              <a:rPr lang="ko">
                <a:solidFill>
                  <a:srgbClr val="19264B"/>
                </a:solidFill>
              </a:rPr>
              <a:t>.</a:t>
            </a:r>
            <a:r>
              <a:rPr lang="en-US" altLang="ko-KR">
                <a:solidFill>
                  <a:srgbClr val="19264B"/>
                </a:solidFill>
              </a:rPr>
              <a:t>27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100" b="1">
                <a:solidFill>
                  <a:srgbClr val="19264B"/>
                </a:solidFill>
              </a:rPr>
              <a:t>발표자 : </a:t>
            </a:r>
            <a:r>
              <a:rPr lang="ko-KR" altLang="en-US" sz="1100" b="1">
                <a:solidFill>
                  <a:srgbClr val="19264B"/>
                </a:solidFill>
              </a:rPr>
              <a:t>김은기</a:t>
            </a: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57" name="Google Shape;57;p13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66;p14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" sz="2000" b="0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스터디원 소개 및 만남 인증</a:t>
            </a:r>
            <a:endParaRPr kumimoji="0" sz="2000" b="0" i="0" u="none" strike="noStrike" kern="0" cap="none" spc="0" normalizeH="0" baseline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78" name="Google Shape;67;p14"/>
          <p:cNvSpPr txBox="1"/>
          <p:nvPr/>
        </p:nvSpPr>
        <p:spPr>
          <a:xfrm>
            <a:off x="5983322" y="1833540"/>
            <a:ext cx="2282100" cy="210598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스터디원 1 : </a:t>
            </a:r>
            <a:r>
              <a:rPr kumimoji="0" lang="ko-KR" altLang="en-US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배동혁</a:t>
            </a:r>
            <a:endParaRPr kumimoji="0" lang="ko-KR" altLang="en-US" sz="1400" b="0" i="0" u="none" strike="noStrike" kern="0" cap="none" spc="0" normalizeH="0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sz="1400" b="0" i="0" u="none" strike="noStrike" kern="0" cap="none" spc="0" normalizeH="0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스터디원 2 : </a:t>
            </a:r>
            <a:r>
              <a:rPr kumimoji="0" lang="ko-KR" altLang="en-US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박선홍</a:t>
            </a:r>
            <a:endParaRPr kumimoji="0" lang="ko-KR" altLang="en-US" sz="1400" b="0" i="0" u="none" strike="noStrike" kern="0" cap="none" spc="0" normalizeH="0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sz="1400" b="0" i="0" u="none" strike="noStrike" kern="0" cap="none" spc="0" normalizeH="0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스터디원 3 : </a:t>
            </a:r>
            <a:r>
              <a:rPr kumimoji="0" lang="ko-KR" altLang="en-US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한종성</a:t>
            </a:r>
            <a:endParaRPr kumimoji="0" lang="ko-KR" altLang="en-US" sz="1400" b="0" i="0" u="none" strike="noStrike" kern="0" cap="none" spc="0" normalizeH="0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sz="1400" b="0" i="0" u="none" strike="noStrike" kern="0" cap="none" spc="0" normalizeH="0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스터디원 </a:t>
            </a:r>
            <a:r>
              <a:rPr kumimoji="0" lang="en-US" altLang="ko-KR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 : </a:t>
            </a:r>
            <a:r>
              <a:rPr kumimoji="0" lang="ko-KR" altLang="en-US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전해인</a:t>
            </a:r>
            <a:endParaRPr kumimoji="0" lang="ko-KR" altLang="en-US" sz="1400" b="0" i="0" u="none" strike="noStrike" kern="0" cap="none" spc="0" normalizeH="0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sz="1400" b="0" i="0" u="none" strike="noStrike" kern="0" cap="none" spc="0" normalizeH="0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스터디원 </a:t>
            </a:r>
            <a:r>
              <a:rPr kumimoji="0" lang="en-US" altLang="ko-KR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:</a:t>
            </a:r>
            <a:r>
              <a:rPr kumimoji="0" lang="ko-KR" altLang="en-US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김은기</a:t>
            </a:r>
            <a:endParaRPr kumimoji="0" lang="ko-KR" altLang="en-US" sz="1400" b="0" i="0" u="none" strike="noStrike" kern="0" cap="none" spc="0" normalizeH="0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65;p14"/>
          <p:cNvSpPr/>
          <p:nvPr/>
        </p:nvSpPr>
        <p:spPr>
          <a:xfrm>
            <a:off x="2075500" y="1262100"/>
            <a:ext cx="3556455" cy="3414600"/>
          </a:xfrm>
          <a:prstGeom prst="rect">
            <a:avLst/>
          </a:prstGeom>
          <a:solidFill>
            <a:srgbClr val="efefef">
              <a:alpha val="100000"/>
            </a:srgbClr>
          </a:solidFill>
          <a:ln w="38100" cap="flat" cmpd="sng">
            <a:solidFill>
              <a:srgbClr val="19264b">
                <a:alpha val="100000"/>
              </a:srgbClr>
            </a:solidFill>
            <a:prstDash val="solid"/>
            <a:round/>
            <a:headEnd w="sm" len="sm"/>
            <a:tailEnd w="sm" len="sm"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ko" sz="1200" b="0" i="0" u="none" strike="noStrike" kern="0" cap="none" spc="0" normalizeH="0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4767" y="1290570"/>
            <a:ext cx="3529883" cy="33701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5;p15"/>
          <p:cNvSpPr txBox="1"/>
          <p:nvPr/>
        </p:nvSpPr>
        <p:spPr>
          <a:xfrm>
            <a:off x="1439306" y="407491"/>
            <a:ext cx="4979400" cy="531658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목차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소개</a:t>
            </a:r>
            <a:endParaRPr kumimoji="0" lang="ko-KR" altLang="en-US" sz="2000" b="1" i="0" u="none" strike="noStrike" kern="0" cap="none" spc="0" normalizeH="0" baseline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77" name="TextBox 2"/>
          <p:cNvSpPr txBox="1"/>
          <p:nvPr/>
        </p:nvSpPr>
        <p:spPr>
          <a:xfrm>
            <a:off x="1823776" y="981106"/>
            <a:ext cx="6229977" cy="3284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kumimoji="0" lang="ko-KR" altLang="en-US" sz="20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프로젝트 주제 소개</a:t>
            </a:r>
            <a:endParaRPr kumimoji="0" lang="ko-KR" altLang="en-US" sz="2000" b="0" i="0" u="none" strike="noStrike" kern="0" cap="none" spc="0" normalizeH="0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AutoNum type="arabicPeriod"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kumimoji="0" lang="ko-KR" altLang="en-US" sz="20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학습에 사용될 데이터 소개</a:t>
            </a:r>
            <a:endParaRPr kumimoji="0" lang="ko-KR" altLang="en-US" sz="2000" b="0" i="0" u="none" strike="noStrike" kern="0" cap="none" spc="0" normalizeH="0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kumimoji="0" lang="en-US" altLang="ko-KR" sz="2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kumimoji="0" lang="ko-KR" altLang="en-US" sz="2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ko-KR" altLang="en-US" sz="20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프로젝트 진행 방법 </a:t>
            </a:r>
            <a:r>
              <a:rPr kumimoji="0" lang="en-US" altLang="ko-KR" sz="20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kumimoji="0" lang="ko-KR" altLang="en-US" sz="20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알고리즘</a:t>
            </a:r>
            <a:r>
              <a:rPr kumimoji="0" lang="en-US" altLang="ko-KR" sz="20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kumimoji="0" lang="en-US" altLang="ko-KR" sz="2000" b="0" i="0" u="none" strike="noStrike" kern="0" cap="none" spc="0" normalizeH="0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ko-KR" altLang="en-US" sz="20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kumimoji="0" lang="ko-KR" altLang="ko-KR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⓵</a:t>
            </a:r>
            <a:r>
              <a:rPr kumimoji="0" lang="en-US" altLang="ko-KR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kumimoji="0" lang="ko-KR" altLang="en-US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전처리</a:t>
            </a:r>
            <a:endParaRPr kumimoji="0" lang="ko-KR" altLang="en-US" b="0" i="0" u="none" strike="noStrike" kern="0" cap="none" spc="0" normalizeH="0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kumimoji="0" lang="ko-KR" altLang="ko-KR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⓶</a:t>
            </a:r>
            <a:r>
              <a:rPr kumimoji="0" lang="en-US" altLang="ko-KR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kumimoji="0" lang="ko-KR" altLang="en-US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휴리스틱 기법</a:t>
            </a:r>
            <a:endParaRPr kumimoji="0" lang="ko-KR" altLang="en-US" b="0" i="0" u="none" strike="noStrike" kern="0" cap="none" spc="0" normalizeH="0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kumimoji="0" lang="ko-KR" altLang="ko-KR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⓷</a:t>
            </a:r>
            <a:r>
              <a:rPr kumimoji="0" lang="en-US" altLang="ko-KR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kumimoji="0" lang="ko-KR" altLang="en-US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가중치 조절</a:t>
            </a:r>
            <a:endParaRPr kumimoji="0" lang="ko-KR" altLang="en-US" b="0" i="0" u="none" strike="noStrike" kern="0" cap="none" spc="0" normalizeH="0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kumimoji="0" lang="ko-KR" altLang="ko-KR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⓸</a:t>
            </a:r>
            <a:r>
              <a:rPr kumimoji="0" lang="en-US" altLang="ko-KR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kumimoji="0" lang="ko-KR" altLang="en-US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몬테카를로 알고리즘</a:t>
            </a:r>
            <a:endParaRPr kumimoji="0" lang="ko-KR" altLang="en-US" b="0" i="0" u="none" strike="noStrike" kern="0" cap="none" spc="0" normalizeH="0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sz="2000" b="0" i="0" u="none" strike="noStrike" kern="0" cap="none" spc="0" normalizeH="0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r>
              <a:rPr kumimoji="0" lang="en-US" altLang="ko-KR" sz="2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ko-KR" altLang="en-US" sz="20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프로젝트 결과 </a:t>
            </a:r>
            <a:endParaRPr kumimoji="0" lang="ko-KR" altLang="en-US" sz="2000" b="0" i="0" u="none" strike="noStrike" kern="0" cap="none" spc="0" normalizeH="0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83;p16"/>
          <p:cNvSpPr txBox="1"/>
          <p:nvPr/>
        </p:nvSpPr>
        <p:spPr>
          <a:xfrm>
            <a:off x="1408975" y="306875"/>
            <a:ext cx="4979400" cy="52749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1. 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프로젝트 주제 소개</a:t>
            </a:r>
          </a:p>
        </p:txBody>
      </p:sp>
      <p:pic>
        <p:nvPicPr>
          <p:cNvPr id="77" name="그림 7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675639" y="1346113"/>
            <a:ext cx="6851245" cy="1561023"/>
          </a:xfrm>
          <a:prstGeom prst="rect">
            <a:avLst/>
          </a:prstGeom>
        </p:spPr>
      </p:pic>
      <p:sp>
        <p:nvSpPr>
          <p:cNvPr id="79" name="TextBox 1"/>
          <p:cNvSpPr txBox="1"/>
          <p:nvPr/>
        </p:nvSpPr>
        <p:spPr>
          <a:xfrm>
            <a:off x="1747112" y="3090719"/>
            <a:ext cx="6854230" cy="285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300" b="0" i="0" u="none" strike="noStrike" kern="0" cap="none" spc="0" normalizeH="0" baseline="0">
                <a:solidFill>
                  <a:srgbClr val="000000"/>
                </a:solidFill>
                <a:latin typeface="나눔고딕"/>
                <a:ea typeface="나눔고딕"/>
              </a:rPr>
              <a:t>KBO</a:t>
            </a:r>
            <a:r>
              <a:rPr kumimoji="0" lang="ko-KR" altLang="en-US" sz="1300" b="0" i="0" u="none" strike="noStrike" kern="0" cap="none" spc="0" normalizeH="0" baseline="0">
                <a:solidFill>
                  <a:srgbClr val="000000"/>
                </a:solidFill>
                <a:latin typeface="나눔고딕"/>
                <a:ea typeface="나눔고딕"/>
              </a:rPr>
              <a:t> 공식 기록실에 명시된 여러 데이터들을 활용해서 </a:t>
            </a:r>
            <a:endParaRPr kumimoji="0" lang="en-US" altLang="ko-KR" sz="1300" b="0" i="0" u="none" strike="noStrike" kern="0" cap="none" spc="0" normalizeH="0" baseline="0">
              <a:solidFill>
                <a:srgbClr val="000000"/>
              </a:solidFill>
              <a:latin typeface="나눔고딕"/>
              <a:ea typeface="나눔고딕"/>
            </a:endParaRPr>
          </a:p>
          <a:p>
            <a:pPr marL="0" marR="0" lvl="0" indent="0" algn="ctr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300" b="0" i="0" u="none" strike="noStrike" kern="0" cap="none" spc="0" normalizeH="0" baseline="0">
                <a:solidFill>
                  <a:srgbClr val="000000"/>
                </a:solidFill>
                <a:latin typeface="나눔고딕"/>
                <a:ea typeface="나눔고딕"/>
              </a:rPr>
              <a:t>5</a:t>
            </a:r>
            <a:r>
              <a:rPr kumimoji="0" lang="ko-KR" altLang="en-US" sz="1300" b="0" i="0" u="none" strike="noStrike" kern="0" cap="none" spc="0" normalizeH="0" baseline="0">
                <a:solidFill>
                  <a:srgbClr val="000000"/>
                </a:solidFill>
                <a:latin typeface="나눔고딕"/>
                <a:ea typeface="나눔고딕"/>
              </a:rPr>
              <a:t>월 </a:t>
            </a:r>
            <a:r>
              <a:rPr kumimoji="0" lang="en-US" altLang="ko-KR" sz="1300" b="0" i="0" u="none" strike="noStrike" kern="0" cap="none" spc="0" normalizeH="0" baseline="0">
                <a:solidFill>
                  <a:srgbClr val="000000"/>
                </a:solidFill>
                <a:latin typeface="나눔고딕"/>
                <a:ea typeface="나눔고딕"/>
              </a:rPr>
              <a:t>27</a:t>
            </a:r>
            <a:r>
              <a:rPr kumimoji="0" lang="ko-KR" altLang="en-US" sz="1300" b="0" i="0" u="none" strike="noStrike" kern="0" cap="none" spc="0" normalizeH="0" baseline="0">
                <a:solidFill>
                  <a:srgbClr val="000000"/>
                </a:solidFill>
                <a:latin typeface="나눔고딕"/>
                <a:ea typeface="나눔고딕"/>
              </a:rPr>
              <a:t>일 프로야구경기를 예측해보기</a:t>
            </a:r>
          </a:p>
          <a:p>
            <a:pPr marL="0" marR="0" lvl="0" indent="0" algn="ctr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ko-KR" altLang="en-US" sz="1300" b="0" i="0" u="none" strike="noStrike" kern="0" cap="none" spc="0" normalizeH="0" baseline="0">
              <a:solidFill>
                <a:srgbClr val="000000"/>
              </a:solidFill>
              <a:latin typeface="나눔고딕"/>
              <a:ea typeface="나눔고딕"/>
            </a:endParaRPr>
          </a:p>
          <a:p>
            <a:pPr marL="0" marR="0" lvl="0" indent="0" algn="ctr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300" b="0" i="0" u="none" strike="noStrike" kern="0" cap="none" spc="0" normalizeH="0" baseline="0">
                <a:solidFill>
                  <a:srgbClr val="000000"/>
                </a:solidFill>
                <a:latin typeface="나눔고딕"/>
                <a:ea typeface="나눔고딕"/>
              </a:rPr>
              <a:t>1.</a:t>
            </a:r>
            <a:r>
              <a:rPr kumimoji="0" lang="ko-KR" altLang="en-US" sz="1300" b="0" i="0" u="none" strike="noStrike" kern="0" cap="none" spc="0" normalizeH="0" baseline="0">
                <a:solidFill>
                  <a:srgbClr val="000000"/>
                </a:solidFill>
                <a:latin typeface="나눔고딕"/>
                <a:ea typeface="나눔고딕"/>
              </a:rPr>
              <a:t> 타자 라인업 예측</a:t>
            </a:r>
          </a:p>
          <a:p>
            <a:pPr marL="0" marR="0" lvl="0" indent="0" algn="ctr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300" b="0" i="0" u="none" strike="noStrike" kern="0" cap="none" spc="0" normalizeH="0" baseline="0">
                <a:solidFill>
                  <a:srgbClr val="000000"/>
                </a:solidFill>
                <a:latin typeface="나눔고딕"/>
                <a:ea typeface="나눔고딕"/>
              </a:rPr>
              <a:t>2.</a:t>
            </a:r>
            <a:r>
              <a:rPr kumimoji="0" lang="ko-KR" altLang="en-US" sz="1300" b="0" i="0" u="none" strike="noStrike" kern="0" cap="none" spc="0" normalizeH="0" baseline="0">
                <a:solidFill>
                  <a:srgbClr val="000000"/>
                </a:solidFill>
                <a:latin typeface="나눔고딕"/>
                <a:ea typeface="나눔고딕"/>
              </a:rPr>
              <a:t> 이닝별 점수 및 최종 승패 예측</a:t>
            </a:r>
          </a:p>
          <a:p>
            <a:pPr marL="0" marR="0" lvl="0" indent="0" algn="ctr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300" b="0" i="0" u="none" strike="noStrike" kern="0" cap="none" spc="0" normalizeH="0" baseline="0">
                <a:solidFill>
                  <a:srgbClr val="000000"/>
                </a:solidFill>
                <a:latin typeface="나눔고딕"/>
                <a:ea typeface="나눔고딕"/>
              </a:rPr>
              <a:t>3.</a:t>
            </a:r>
            <a:r>
              <a:rPr kumimoji="0" lang="ko-KR" altLang="en-US" sz="1300" b="0" i="0" u="none" strike="noStrike" kern="0" cap="none" spc="0" normalizeH="0" baseline="0">
                <a:solidFill>
                  <a:srgbClr val="000000"/>
                </a:solidFill>
                <a:latin typeface="나눔고딕"/>
                <a:ea typeface="나눔고딕"/>
              </a:rPr>
              <a:t> 각 타자별 기록 예측</a:t>
            </a:r>
            <a:endParaRPr kumimoji="0" lang="ko-KR" altLang="en-US" sz="1600" b="0" i="0" u="none" strike="noStrike" kern="0" cap="none" spc="0" normalizeH="0" baseline="0">
              <a:solidFill>
                <a:srgbClr val="000000"/>
              </a:solidFill>
              <a:latin typeface="나눔고딕"/>
              <a:ea typeface="나눔고딕"/>
            </a:endParaRPr>
          </a:p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sz="1600" b="0" i="0" u="none" strike="noStrike" kern="0" cap="none" spc="0" normalizeH="0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sz="1600" b="0" i="0" u="none" strike="noStrike" kern="0" cap="none" spc="0" normalizeH="0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sz="1600" b="0" i="0" u="none" strike="noStrike" kern="0" cap="none" spc="0" normalizeH="0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ko-KR" altLang="en-US" sz="1600" b="0" i="0" u="none" strike="noStrike" kern="0" cap="none" spc="0" normalizeH="0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3495406" y="860888"/>
            <a:ext cx="3320335" cy="362218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dk1"/>
                </a:solidFill>
                <a:latin typeface="나눔고딕 ExtraBold"/>
                <a:ea typeface="나눔고딕 ExtraBold"/>
              </a:rPr>
              <a:t>프로야구 승부 예측 </a:t>
            </a:r>
            <a:r>
              <a:rPr lang="en-US" altLang="ko-KR">
                <a:solidFill>
                  <a:schemeClr val="dk1"/>
                </a:solidFill>
                <a:latin typeface="나눔고딕 ExtraBold"/>
                <a:ea typeface="나눔고딕 ExtraBold"/>
              </a:rPr>
              <a:t>AI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83;p16"/>
          <p:cNvSpPr txBox="1"/>
          <p:nvPr/>
        </p:nvSpPr>
        <p:spPr>
          <a:xfrm>
            <a:off x="1408975" y="306875"/>
            <a:ext cx="4979400" cy="52749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2.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학습에 사용될 데이터 소개</a:t>
            </a:r>
          </a:p>
        </p:txBody>
      </p:sp>
      <p:pic>
        <p:nvPicPr>
          <p:cNvPr id="78" name="그림 7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509241" y="1521799"/>
            <a:ext cx="7299370" cy="1811467"/>
          </a:xfrm>
          <a:prstGeom prst="rect">
            <a:avLst/>
          </a:prstGeom>
        </p:spPr>
      </p:pic>
      <p:sp>
        <p:nvSpPr>
          <p:cNvPr id="79" name="Google Shape;66;p14"/>
          <p:cNvSpPr txBox="1"/>
          <p:nvPr/>
        </p:nvSpPr>
        <p:spPr>
          <a:xfrm>
            <a:off x="2542584" y="977649"/>
            <a:ext cx="4979400" cy="5330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ctr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0" i="0" u="none" strike="noStrike" kern="0" cap="none" spc="0" normalizeH="0" baseline="0">
                <a:solidFill>
                  <a:srgbClr val="19264B"/>
                </a:solidFill>
                <a:latin typeface="나눔고딕 ExtraBold"/>
                <a:ea typeface="나눔고딕 ExtraBold"/>
                <a:cs typeface="NanumGothic ExtraBold"/>
                <a:sym typeface="NanumGothic ExtraBold"/>
              </a:rPr>
              <a:t>1.</a:t>
            </a:r>
            <a:r>
              <a:rPr kumimoji="0" lang="ko-KR" altLang="en-US" sz="2000" b="0" i="0" u="none" strike="noStrike" kern="0" cap="none" spc="0" normalizeH="0" baseline="0">
                <a:solidFill>
                  <a:srgbClr val="19264B"/>
                </a:solidFill>
                <a:latin typeface="나눔고딕 ExtraBold"/>
                <a:ea typeface="나눔고딕 ExtraBold"/>
                <a:cs typeface="NanumGothic ExtraBold"/>
                <a:sym typeface="NanumGothic ExtraBold"/>
              </a:rPr>
              <a:t> 타자의 종합 </a:t>
            </a:r>
            <a:r>
              <a:rPr kumimoji="0" lang="en-US" altLang="ko-KR" sz="2000" b="0" i="0" u="none" strike="noStrike" kern="0" cap="none" spc="0" normalizeH="0" baseline="0">
                <a:solidFill>
                  <a:srgbClr val="19264B"/>
                </a:solidFill>
                <a:latin typeface="나눔고딕 ExtraBold"/>
                <a:ea typeface="나눔고딕 ExtraBold"/>
                <a:cs typeface="NanumGothic ExtraBold"/>
                <a:sym typeface="NanumGothic ExtraBold"/>
              </a:rPr>
              <a:t>DataSet</a:t>
            </a:r>
          </a:p>
        </p:txBody>
      </p:sp>
      <p:sp>
        <p:nvSpPr>
          <p:cNvPr id="80" name="Google Shape;66;p14"/>
          <p:cNvSpPr txBox="1"/>
          <p:nvPr/>
        </p:nvSpPr>
        <p:spPr>
          <a:xfrm>
            <a:off x="1413803" y="3571668"/>
            <a:ext cx="7179542" cy="1301306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프로야구 선수들의 </a:t>
            </a:r>
            <a:r>
              <a:rPr kumimoji="0" lang="en-US" altLang="ko-KR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2025</a:t>
            </a:r>
            <a:r>
              <a:rPr kumimoji="0" lang="ko-KR" altLang="en-US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년 종합 성적을 기록해 놓은 데이터</a:t>
            </a:r>
          </a:p>
          <a:p>
            <a:pPr marL="0" marR="0" lvl="0" indent="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sz="1600" b="0" i="0" u="non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KBO</a:t>
            </a:r>
            <a:r>
              <a:rPr kumimoji="0" lang="ko-KR" altLang="en-US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에 명시된 여러 가지 지표들 중 경기 예측을 학습할 때 가장 필요한 핵심 지표들만 가져온 상황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83;p16"/>
          <p:cNvSpPr txBox="1"/>
          <p:nvPr/>
        </p:nvSpPr>
        <p:spPr>
          <a:xfrm>
            <a:off x="1408975" y="306875"/>
            <a:ext cx="4979400" cy="52749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2.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학습에 사용될 데이터 소개</a:t>
            </a:r>
          </a:p>
        </p:txBody>
      </p:sp>
      <p:sp>
        <p:nvSpPr>
          <p:cNvPr id="79" name="Google Shape;66;p14"/>
          <p:cNvSpPr txBox="1"/>
          <p:nvPr/>
        </p:nvSpPr>
        <p:spPr>
          <a:xfrm>
            <a:off x="2542584" y="977649"/>
            <a:ext cx="4979400" cy="5330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ctr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0" i="0" u="none" strike="noStrike" kern="0" cap="none" spc="0" normalizeH="0" baseline="0">
                <a:solidFill>
                  <a:srgbClr val="19264B"/>
                </a:solidFill>
                <a:latin typeface="나눔고딕 ExtraBold"/>
                <a:ea typeface="나눔고딕 ExtraBold"/>
                <a:cs typeface="NanumGothic ExtraBold"/>
                <a:sym typeface="NanumGothic ExtraBold"/>
              </a:rPr>
              <a:t>2.</a:t>
            </a:r>
            <a:r>
              <a:rPr kumimoji="0" lang="ko-KR" altLang="en-US" sz="2000" b="0" i="0" u="none" strike="noStrike" kern="0" cap="none" spc="0" normalizeH="0" baseline="0">
                <a:solidFill>
                  <a:srgbClr val="19264B"/>
                </a:solidFill>
                <a:latin typeface="나눔고딕 ExtraBold"/>
                <a:ea typeface="나눔고딕 ExtraBold"/>
                <a:cs typeface="NanumGothic ExtraBold"/>
                <a:sym typeface="NanumGothic ExtraBold"/>
              </a:rPr>
              <a:t> 타자의 볼카운트 별 타율 </a:t>
            </a:r>
            <a:r>
              <a:rPr kumimoji="0" lang="en-US" altLang="ko-KR" sz="2000" b="0" i="0" u="none" strike="noStrike" kern="0" cap="none" spc="0" normalizeH="0" baseline="0">
                <a:solidFill>
                  <a:srgbClr val="19264B"/>
                </a:solidFill>
                <a:latin typeface="나눔고딕 ExtraBold"/>
                <a:ea typeface="나눔고딕 ExtraBold"/>
                <a:cs typeface="NanumGothic ExtraBold"/>
                <a:sym typeface="NanumGothic ExtraBold"/>
              </a:rPr>
              <a:t>DataSet</a:t>
            </a:r>
          </a:p>
        </p:txBody>
      </p:sp>
      <p:sp>
        <p:nvSpPr>
          <p:cNvPr id="80" name="Google Shape;66;p14"/>
          <p:cNvSpPr txBox="1"/>
          <p:nvPr/>
        </p:nvSpPr>
        <p:spPr>
          <a:xfrm>
            <a:off x="1413803" y="3571668"/>
            <a:ext cx="7179542" cy="1863281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프로야구 선수들의 </a:t>
            </a:r>
            <a:r>
              <a:rPr kumimoji="0" lang="en-US" altLang="ko-KR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2025</a:t>
            </a:r>
            <a:r>
              <a:rPr kumimoji="0" lang="ko-KR" altLang="en-US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년 경기 중 카운트별 타율을 기록해놓은 데이터</a:t>
            </a:r>
          </a:p>
          <a:p>
            <a:pPr marL="0" marR="0" lvl="0" indent="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ko-KR" altLang="en-US" sz="1600" b="0" i="0" u="non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*</a:t>
            </a:r>
            <a:r>
              <a:rPr kumimoji="0" lang="ko-KR" altLang="en-US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</a:t>
            </a:r>
            <a:r>
              <a:rPr kumimoji="0" lang="en-US" altLang="ko-KR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S = </a:t>
            </a:r>
            <a:r>
              <a:rPr kumimoji="0" lang="ko-KR" altLang="en-US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스트라이크 </a:t>
            </a:r>
            <a:r>
              <a:rPr kumimoji="0" lang="en-US" altLang="ko-KR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(3S = </a:t>
            </a:r>
            <a:r>
              <a:rPr kumimoji="0" lang="ko-KR" altLang="en-US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삼진 아웃</a:t>
            </a:r>
            <a:r>
              <a:rPr kumimoji="0" lang="en-US" altLang="ko-KR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)</a:t>
            </a:r>
          </a:p>
          <a:p>
            <a:pPr marL="0" marR="0" lvl="0" indent="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*</a:t>
            </a:r>
            <a:r>
              <a:rPr kumimoji="0" lang="ko-KR" altLang="en-US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</a:t>
            </a:r>
            <a:r>
              <a:rPr kumimoji="0" lang="en-US" altLang="ko-KR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B = </a:t>
            </a:r>
            <a:r>
              <a:rPr kumimoji="0" lang="ko-KR" altLang="en-US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볼 </a:t>
            </a:r>
            <a:r>
              <a:rPr kumimoji="0" lang="en-US" altLang="ko-KR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(4B = </a:t>
            </a:r>
            <a:r>
              <a:rPr kumimoji="0" lang="ko-KR" altLang="en-US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볼넷 출루</a:t>
            </a:r>
            <a:r>
              <a:rPr kumimoji="0" lang="en-US" altLang="ko-KR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)</a:t>
            </a:r>
          </a:p>
          <a:p>
            <a:pPr marL="0" marR="0" lvl="0" indent="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ko-KR" altLang="en-US" sz="1600" b="0" i="0" u="non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ko-KR" altLang="en-US" sz="1600" b="0" i="0" u="non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</p:txBody>
      </p:sp>
      <p:pic>
        <p:nvPicPr>
          <p:cNvPr id="81" name="그림 8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502534" y="1558099"/>
            <a:ext cx="7493895" cy="17992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83;p16"/>
          <p:cNvSpPr txBox="1"/>
          <p:nvPr/>
        </p:nvSpPr>
        <p:spPr>
          <a:xfrm>
            <a:off x="1408975" y="306875"/>
            <a:ext cx="4979400" cy="52749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2.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학습에 사용될 데이터 소개</a:t>
            </a:r>
          </a:p>
        </p:txBody>
      </p:sp>
      <p:sp>
        <p:nvSpPr>
          <p:cNvPr id="79" name="Google Shape;66;p14"/>
          <p:cNvSpPr txBox="1"/>
          <p:nvPr/>
        </p:nvSpPr>
        <p:spPr>
          <a:xfrm>
            <a:off x="2542584" y="977649"/>
            <a:ext cx="4979400" cy="5330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ctr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0" i="0" u="none" strike="noStrike" kern="0" cap="none" spc="0" normalizeH="0" baseline="0">
                <a:solidFill>
                  <a:srgbClr val="19264B"/>
                </a:solidFill>
                <a:latin typeface="나눔고딕 ExtraBold"/>
                <a:ea typeface="나눔고딕 ExtraBold"/>
                <a:cs typeface="NanumGothic ExtraBold"/>
                <a:sym typeface="NanumGothic ExtraBold"/>
              </a:rPr>
              <a:t>3.</a:t>
            </a:r>
            <a:r>
              <a:rPr kumimoji="0" lang="ko-KR" altLang="en-US" sz="2000" b="0" i="0" u="none" strike="noStrike" kern="0" cap="none" spc="0" normalizeH="0" baseline="0">
                <a:solidFill>
                  <a:srgbClr val="19264B"/>
                </a:solidFill>
                <a:latin typeface="나눔고딕 ExtraBold"/>
                <a:ea typeface="나눔고딕 ExtraBold"/>
                <a:cs typeface="NanumGothic ExtraBold"/>
                <a:sym typeface="NanumGothic ExtraBold"/>
              </a:rPr>
              <a:t> 타자의 주자 위치별 타율 </a:t>
            </a:r>
            <a:r>
              <a:rPr kumimoji="0" lang="en-US" altLang="ko-KR" sz="2000" b="0" i="0" u="none" strike="noStrike" kern="0" cap="none" spc="0" normalizeH="0" baseline="0">
                <a:solidFill>
                  <a:srgbClr val="19264B"/>
                </a:solidFill>
                <a:latin typeface="나눔고딕 ExtraBold"/>
                <a:ea typeface="나눔고딕 ExtraBold"/>
                <a:cs typeface="NanumGothic ExtraBold"/>
                <a:sym typeface="NanumGothic ExtraBold"/>
              </a:rPr>
              <a:t>DataSet</a:t>
            </a:r>
          </a:p>
        </p:txBody>
      </p:sp>
      <p:sp>
        <p:nvSpPr>
          <p:cNvPr id="80" name="Google Shape;66;p14"/>
          <p:cNvSpPr txBox="1"/>
          <p:nvPr/>
        </p:nvSpPr>
        <p:spPr>
          <a:xfrm>
            <a:off x="1420511" y="3410681"/>
            <a:ext cx="7179543" cy="1863281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프로야구 선수들의 </a:t>
            </a:r>
            <a:r>
              <a:rPr kumimoji="0" lang="en-US" altLang="ko-KR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2025</a:t>
            </a:r>
            <a:r>
              <a:rPr kumimoji="0" lang="ko-KR" altLang="en-US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년 경기 중 주자의 위치별 타율을 기록해놓은 데이터</a:t>
            </a:r>
          </a:p>
          <a:p>
            <a:pPr marL="0" marR="0" lvl="0" indent="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ko-KR" altLang="en-US" sz="1600" b="0" i="0" u="non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*</a:t>
            </a:r>
            <a:r>
              <a:rPr kumimoji="0" lang="ko-KR" altLang="en-US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주자가 </a:t>
            </a:r>
            <a:r>
              <a:rPr kumimoji="0" lang="en-US" altLang="ko-KR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2</a:t>
            </a:r>
            <a:r>
              <a:rPr kumimoji="0" lang="ko-KR" altLang="en-US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루 혹은 </a:t>
            </a:r>
            <a:r>
              <a:rPr kumimoji="0" lang="en-US" altLang="ko-KR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3</a:t>
            </a:r>
            <a:r>
              <a:rPr kumimoji="0" lang="ko-KR" altLang="en-US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루에 있는 상황 </a:t>
            </a:r>
            <a:r>
              <a:rPr kumimoji="0" lang="en-US" altLang="ko-KR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=</a:t>
            </a:r>
            <a:r>
              <a:rPr kumimoji="0" lang="ko-KR" altLang="en-US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득점권 상황</a:t>
            </a:r>
          </a:p>
          <a:p>
            <a:pPr marL="0" marR="0" lvl="0" indent="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*</a:t>
            </a:r>
            <a:r>
              <a:rPr kumimoji="0" lang="ko-KR" altLang="en-US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주자가 </a:t>
            </a:r>
            <a:r>
              <a:rPr kumimoji="0" lang="en-US" altLang="ko-KR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1</a:t>
            </a:r>
            <a:r>
              <a:rPr kumimoji="0" lang="ko-KR" altLang="en-US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루</a:t>
            </a:r>
            <a:r>
              <a:rPr kumimoji="0" lang="en-US" altLang="ko-KR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,</a:t>
            </a:r>
            <a:r>
              <a:rPr kumimoji="0" lang="ko-KR" altLang="en-US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혹은 없는 상황 </a:t>
            </a:r>
            <a:r>
              <a:rPr kumimoji="0" lang="en-US" altLang="ko-KR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=</a:t>
            </a:r>
            <a:r>
              <a:rPr kumimoji="0" lang="ko-KR" altLang="en-US" sz="1600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비득점권 상황</a:t>
            </a:r>
          </a:p>
          <a:p>
            <a:pPr marL="0" marR="0" lvl="0" indent="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ko-KR" altLang="en-US" sz="1600" b="0" i="0" u="non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ko-KR" altLang="en-US" sz="1600" b="0" i="0" u="non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</p:txBody>
      </p:sp>
      <p:pic>
        <p:nvPicPr>
          <p:cNvPr id="83" name="그림 8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905670" y="1500187"/>
            <a:ext cx="6506514" cy="16802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83;p16"/>
          <p:cNvSpPr txBox="1"/>
          <p:nvPr/>
        </p:nvSpPr>
        <p:spPr>
          <a:xfrm>
            <a:off x="1408975" y="306875"/>
            <a:ext cx="4979400" cy="52749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2.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학습에 사용될 데이터 소개</a:t>
            </a:r>
          </a:p>
        </p:txBody>
      </p:sp>
      <p:sp>
        <p:nvSpPr>
          <p:cNvPr id="79" name="Google Shape;66;p14"/>
          <p:cNvSpPr txBox="1"/>
          <p:nvPr/>
        </p:nvSpPr>
        <p:spPr>
          <a:xfrm>
            <a:off x="597336" y="1044725"/>
            <a:ext cx="4979400" cy="448752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ctr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500" b="0" i="0" u="none" strike="noStrike" kern="0" cap="none" spc="0" normalizeH="0" baseline="0">
                <a:solidFill>
                  <a:srgbClr val="19264B"/>
                </a:solidFill>
                <a:latin typeface="나눔고딕 ExtraBold"/>
                <a:ea typeface="나눔고딕 ExtraBold"/>
                <a:cs typeface="NanumGothic ExtraBold"/>
                <a:sym typeface="NanumGothic ExtraBold"/>
              </a:rPr>
              <a:t>4.</a:t>
            </a:r>
            <a:r>
              <a:rPr kumimoji="0" lang="ko-KR" altLang="en-US" sz="1500" b="0" i="0" u="none" strike="noStrike" kern="0" cap="none" spc="0" normalizeH="0" baseline="0">
                <a:solidFill>
                  <a:srgbClr val="19264B"/>
                </a:solidFill>
                <a:latin typeface="나눔고딕 ExtraBold"/>
                <a:ea typeface="나눔고딕 ExtraBold"/>
                <a:cs typeface="NanumGothic ExtraBold"/>
                <a:sym typeface="NanumGothic ExtraBold"/>
              </a:rPr>
              <a:t> 타자의 아웃카운트별 타율 </a:t>
            </a:r>
            <a:r>
              <a:rPr kumimoji="0" lang="en-US" altLang="ko-KR" sz="1500" b="0" i="0" u="none" strike="noStrike" kern="0" cap="none" spc="0" normalizeH="0" baseline="0">
                <a:solidFill>
                  <a:srgbClr val="19264B"/>
                </a:solidFill>
                <a:latin typeface="나눔고딕 ExtraBold"/>
                <a:ea typeface="나눔고딕 ExtraBold"/>
                <a:cs typeface="NanumGothic ExtraBold"/>
                <a:sym typeface="NanumGothic ExtraBold"/>
              </a:rPr>
              <a:t>DataSet</a:t>
            </a:r>
          </a:p>
        </p:txBody>
      </p:sp>
      <p:sp>
        <p:nvSpPr>
          <p:cNvPr id="80" name="Google Shape;66;p14"/>
          <p:cNvSpPr txBox="1"/>
          <p:nvPr/>
        </p:nvSpPr>
        <p:spPr>
          <a:xfrm>
            <a:off x="1413802" y="3905113"/>
            <a:ext cx="3158198" cy="1238387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프로야구 선수들의 </a:t>
            </a:r>
            <a:r>
              <a:rPr kumimoji="0" lang="en-US" altLang="ko-KR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2025</a:t>
            </a:r>
            <a:r>
              <a:rPr kumimoji="0" lang="ko-KR" altLang="en-US" b="0" i="0" u="non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년 아웃 카운트 상황에 따른 타율을 기록해 놓은 데이터</a:t>
            </a:r>
            <a:endParaRPr kumimoji="0" lang="ko-KR" altLang="en-US" sz="1600" b="0" i="0" u="non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sz="1600" b="0" i="0" u="non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sz="1600" b="0" i="0" u="non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</p:txBody>
      </p:sp>
      <p:sp>
        <p:nvSpPr>
          <p:cNvPr id="82" name="Google Shape;66;p14"/>
          <p:cNvSpPr txBox="1"/>
          <p:nvPr/>
        </p:nvSpPr>
        <p:spPr>
          <a:xfrm>
            <a:off x="4345088" y="1040030"/>
            <a:ext cx="4979400" cy="448752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ctr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500" b="0" i="0" u="none" strike="noStrike" kern="0" cap="none" spc="0" normalizeH="0" baseline="0">
                <a:solidFill>
                  <a:srgbClr val="19264B"/>
                </a:solidFill>
                <a:latin typeface="나눔고딕 ExtraBold"/>
                <a:ea typeface="나눔고딕 ExtraBold"/>
                <a:cs typeface="NanumGothic ExtraBold"/>
                <a:sym typeface="NanumGothic ExtraBold"/>
              </a:rPr>
              <a:t>5.</a:t>
            </a:r>
            <a:r>
              <a:rPr kumimoji="0" lang="ko-KR" altLang="en-US" sz="1500" b="0" i="0" u="none" strike="noStrike" kern="0" cap="none" spc="0" normalizeH="0" baseline="0">
                <a:solidFill>
                  <a:srgbClr val="19264B"/>
                </a:solidFill>
                <a:latin typeface="나눔고딕 ExtraBold"/>
                <a:ea typeface="나눔고딕 ExtraBold"/>
                <a:cs typeface="NanumGothic ExtraBold"/>
                <a:sym typeface="NanumGothic ExtraBold"/>
              </a:rPr>
              <a:t> 타자의 선발 투수와의 상대 전적 </a:t>
            </a:r>
            <a:r>
              <a:rPr kumimoji="0" lang="en-US" altLang="ko-KR" sz="1500" b="0" i="0" u="none" strike="noStrike" kern="0" cap="none" spc="0" normalizeH="0" baseline="0">
                <a:solidFill>
                  <a:srgbClr val="19264B"/>
                </a:solidFill>
                <a:latin typeface="나눔고딕 ExtraBold"/>
                <a:ea typeface="나눔고딕 ExtraBold"/>
                <a:cs typeface="NanumGothic ExtraBold"/>
                <a:sym typeface="NanumGothic ExtraBold"/>
              </a:rPr>
              <a:t>DataSet</a:t>
            </a:r>
          </a:p>
        </p:txBody>
      </p:sp>
      <p:pic>
        <p:nvPicPr>
          <p:cNvPr id="84" name="그림 8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523999" y="1699274"/>
            <a:ext cx="3155324" cy="2066925"/>
          </a:xfrm>
          <a:prstGeom prst="rect">
            <a:avLst/>
          </a:prstGeom>
        </p:spPr>
      </p:pic>
      <p:pic>
        <p:nvPicPr>
          <p:cNvPr id="85" name="그림 8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006451" y="1671570"/>
            <a:ext cx="1779566" cy="2076450"/>
          </a:xfrm>
          <a:prstGeom prst="rect">
            <a:avLst/>
          </a:prstGeom>
        </p:spPr>
      </p:pic>
      <p:sp>
        <p:nvSpPr>
          <p:cNvPr id="87" name="Google Shape;66;p14"/>
          <p:cNvSpPr txBox="1"/>
          <p:nvPr/>
        </p:nvSpPr>
        <p:spPr>
          <a:xfrm>
            <a:off x="5362788" y="3905112"/>
            <a:ext cx="3158198" cy="1234562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2025</a:t>
            </a:r>
            <a:r>
              <a:rPr kumimoji="0" lang="ko-KR" altLang="en-US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년 상대 선발 투수와의 맞대결 전적을 기록해 놓은 데이터</a:t>
            </a: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sz="16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sz="16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83;p16"/>
          <p:cNvSpPr txBox="1"/>
          <p:nvPr/>
        </p:nvSpPr>
        <p:spPr>
          <a:xfrm>
            <a:off x="1408975" y="306875"/>
            <a:ext cx="4979400" cy="52749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3.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승부 예측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AI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구현하기</a:t>
            </a:r>
            <a:endParaRPr kumimoji="0" lang="ko-KR" altLang="en-US" sz="2000" b="1" i="0" u="none" strike="noStrike" kern="0" cap="none" spc="0" normalizeH="0" baseline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77" name="Google Shape;66;p14"/>
          <p:cNvSpPr txBox="1"/>
          <p:nvPr/>
        </p:nvSpPr>
        <p:spPr>
          <a:xfrm>
            <a:off x="1413802" y="839671"/>
            <a:ext cx="6042530" cy="985303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1.</a:t>
            </a:r>
            <a:r>
              <a:rPr kumimoji="0" lang="ko-KR" altLang="en-US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데이터 전처리 </a:t>
            </a:r>
            <a:r>
              <a:rPr kumimoji="0" lang="en-US" altLang="ko-KR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-</a:t>
            </a:r>
            <a:r>
              <a:rPr kumimoji="0" lang="ko-KR" altLang="en-US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데이터 내에 존재하는 </a:t>
            </a:r>
            <a:r>
              <a:rPr kumimoji="0" lang="en-US" altLang="ko-KR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NaN</a:t>
            </a:r>
            <a:r>
              <a:rPr kumimoji="0" lang="ko-KR" altLang="en-US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값을 적절한 값으로 대체</a:t>
            </a:r>
            <a:endParaRPr kumimoji="0" lang="ko-KR" altLang="en-US" sz="14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sz="16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sz="16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</p:txBody>
      </p:sp>
      <p:pic>
        <p:nvPicPr>
          <p:cNvPr id="78" name="그림 7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475120" y="1294997"/>
            <a:ext cx="3096878" cy="2265072"/>
          </a:xfrm>
          <a:prstGeom prst="rect">
            <a:avLst/>
          </a:prstGeom>
        </p:spPr>
      </p:pic>
      <p:sp>
        <p:nvSpPr>
          <p:cNvPr id="80" name="타원 79"/>
          <p:cNvSpPr/>
          <p:nvPr/>
        </p:nvSpPr>
        <p:spPr>
          <a:xfrm>
            <a:off x="4251101" y="3336046"/>
            <a:ext cx="301849" cy="228063"/>
          </a:xfrm>
          <a:prstGeom prst="ellipse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1" name="타원 80"/>
          <p:cNvSpPr/>
          <p:nvPr/>
        </p:nvSpPr>
        <p:spPr>
          <a:xfrm>
            <a:off x="3012180" y="3336985"/>
            <a:ext cx="301849" cy="228063"/>
          </a:xfrm>
          <a:prstGeom prst="ellipse">
            <a:avLst/>
          </a:prstGeom>
          <a:noFill/>
          <a:ln w="25400" cap="flat" cmpd="sng" algn="ctr">
            <a:solidFill>
              <a:srgbClr val="1f4075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ko-KR" altLang="en-US" sz="1400" b="0" i="0" u="none" strike="noStrike" kern="0" cap="none" spc="0" normalizeH="0" baseline="0">
              <a:solidFill>
                <a:srgbClr val="ffffff"/>
              </a:solidFill>
              <a:latin typeface="Arial"/>
              <a:ea typeface="맑은 고딕"/>
              <a:cs typeface="맑은 고딕"/>
            </a:endParaRPr>
          </a:p>
        </p:txBody>
      </p:sp>
      <p:sp>
        <p:nvSpPr>
          <p:cNvPr id="82" name="타원 81"/>
          <p:cNvSpPr/>
          <p:nvPr/>
        </p:nvSpPr>
        <p:spPr>
          <a:xfrm>
            <a:off x="3652232" y="3166474"/>
            <a:ext cx="301849" cy="228063"/>
          </a:xfrm>
          <a:prstGeom prst="ellipse">
            <a:avLst/>
          </a:prstGeom>
          <a:noFill/>
          <a:ln w="25400" cap="flat" cmpd="sng" algn="ctr">
            <a:solidFill>
              <a:srgbClr val="1f4075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ko-KR" altLang="en-US" sz="1400" b="0" i="0" u="none" strike="noStrike" kern="0" cap="none" spc="0" normalizeH="0" baseline="0">
              <a:solidFill>
                <a:srgbClr val="ffffff"/>
              </a:solidFill>
              <a:latin typeface="Arial"/>
              <a:ea typeface="맑은 고딕"/>
              <a:cs typeface="맑은 고딕"/>
            </a:endParaRPr>
          </a:p>
        </p:txBody>
      </p:sp>
      <p:sp>
        <p:nvSpPr>
          <p:cNvPr id="83" name="오른쪽 화살표 82"/>
          <p:cNvSpPr/>
          <p:nvPr/>
        </p:nvSpPr>
        <p:spPr>
          <a:xfrm>
            <a:off x="4759012" y="2467780"/>
            <a:ext cx="489665" cy="2079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84" name="그림 8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417025" y="1338732"/>
            <a:ext cx="3370391" cy="2242891"/>
          </a:xfrm>
          <a:prstGeom prst="rect">
            <a:avLst/>
          </a:prstGeom>
        </p:spPr>
      </p:pic>
      <p:sp>
        <p:nvSpPr>
          <p:cNvPr id="85" name="타원 84"/>
          <p:cNvSpPr/>
          <p:nvPr/>
        </p:nvSpPr>
        <p:spPr>
          <a:xfrm>
            <a:off x="7772802" y="3161242"/>
            <a:ext cx="301849" cy="228063"/>
          </a:xfrm>
          <a:prstGeom prst="ellipse">
            <a:avLst/>
          </a:prstGeom>
          <a:noFill/>
          <a:ln w="25400" cap="flat" cmpd="sng" algn="ctr">
            <a:solidFill>
              <a:srgbClr val="1f4075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ko-KR" altLang="en-US" sz="1400" b="0" i="0" u="none" strike="noStrike" kern="0" cap="none" spc="0" normalizeH="0" baseline="0">
              <a:solidFill>
                <a:srgbClr val="ffffff"/>
              </a:solidFill>
              <a:latin typeface="Arial"/>
              <a:ea typeface="맑은 고딕"/>
              <a:cs typeface="맑은 고딕"/>
            </a:endParaRPr>
          </a:p>
        </p:txBody>
      </p:sp>
      <p:sp>
        <p:nvSpPr>
          <p:cNvPr id="86" name="타원 85"/>
          <p:cNvSpPr/>
          <p:nvPr/>
        </p:nvSpPr>
        <p:spPr>
          <a:xfrm>
            <a:off x="7046486" y="3340473"/>
            <a:ext cx="301849" cy="228063"/>
          </a:xfrm>
          <a:prstGeom prst="ellipse">
            <a:avLst/>
          </a:prstGeom>
          <a:noFill/>
          <a:ln w="25400" cap="flat" cmpd="sng" algn="ctr">
            <a:solidFill>
              <a:srgbClr val="1f4075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ko-KR" altLang="en-US" sz="1400" b="0" i="0" u="none" strike="noStrike" kern="0" cap="none" spc="0" normalizeH="0" baseline="0">
              <a:solidFill>
                <a:srgbClr val="ffffff"/>
              </a:solidFill>
              <a:latin typeface="Arial"/>
              <a:ea typeface="맑은 고딕"/>
              <a:cs typeface="맑은 고딕"/>
            </a:endParaRPr>
          </a:p>
        </p:txBody>
      </p:sp>
      <p:sp>
        <p:nvSpPr>
          <p:cNvPr id="87" name="타원 86"/>
          <p:cNvSpPr/>
          <p:nvPr/>
        </p:nvSpPr>
        <p:spPr>
          <a:xfrm>
            <a:off x="8426405" y="3345302"/>
            <a:ext cx="301849" cy="228063"/>
          </a:xfrm>
          <a:prstGeom prst="ellipse">
            <a:avLst/>
          </a:prstGeom>
          <a:noFill/>
          <a:ln w="25400" cap="flat" cmpd="sng" algn="ctr">
            <a:solidFill>
              <a:srgbClr val="1f4075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ko-KR" altLang="en-US" sz="1400" b="0" i="0" u="none" strike="noStrike" kern="0" cap="none" spc="0" normalizeH="0" baseline="0">
              <a:solidFill>
                <a:srgbClr val="ffffff"/>
              </a:solidFill>
              <a:latin typeface="Arial"/>
              <a:ea typeface="맑은 고딕"/>
              <a:cs typeface="맑은 고딕"/>
            </a:endParaRPr>
          </a:p>
        </p:txBody>
      </p:sp>
      <p:pic>
        <p:nvPicPr>
          <p:cNvPr id="88" name="그림 8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502333" y="3858631"/>
            <a:ext cx="6400935" cy="7264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49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83;p16"/>
          <p:cNvSpPr txBox="1"/>
          <p:nvPr/>
        </p:nvSpPr>
        <p:spPr>
          <a:xfrm>
            <a:off x="1408975" y="306875"/>
            <a:ext cx="4979400" cy="52749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3.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승부 예측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AI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구현하기</a:t>
            </a:r>
            <a:endParaRPr kumimoji="0" lang="ko-KR" altLang="en-US" sz="2000" b="1" i="0" u="none" strike="noStrike" kern="0" cap="none" spc="0" normalizeH="0" baseline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77" name="Google Shape;66;p14"/>
          <p:cNvSpPr txBox="1"/>
          <p:nvPr/>
        </p:nvSpPr>
        <p:spPr>
          <a:xfrm>
            <a:off x="1413796" y="839669"/>
            <a:ext cx="6042529" cy="210925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2.</a:t>
            </a:r>
            <a:r>
              <a:rPr kumimoji="0" lang="ko-KR" altLang="en-US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휴리스틱 기법을 통한 구단별 타순 짜기</a:t>
            </a:r>
            <a:endParaRPr kumimoji="0" lang="ko-KR" altLang="en-US" sz="14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ko-KR" altLang="en-US" sz="14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휴리스틱 </a:t>
            </a:r>
            <a:r>
              <a:rPr kumimoji="0" lang="en-US" altLang="ko-KR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:</a:t>
            </a:r>
            <a:r>
              <a:rPr kumimoji="0" lang="ko-KR" altLang="en-US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경험 기반 규칙이나 도메인 지식을 활용해서 의사결정을 하는 기법</a:t>
            </a:r>
            <a:endParaRPr kumimoji="0" lang="ko-KR" altLang="en-US" sz="14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2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*</a:t>
            </a:r>
            <a:r>
              <a:rPr kumimoji="0" lang="ko-KR" altLang="en-US" sz="12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홈런 잘치는 타자는 3~4번에 배치 </a:t>
            </a:r>
            <a:endParaRPr kumimoji="0" lang="ko-KR" altLang="en-US" sz="12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2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*</a:t>
            </a:r>
            <a:r>
              <a:rPr kumimoji="0" lang="ko-KR" altLang="en-US" sz="12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상대 투수에게 강했던 타자는 상위 타선 배치</a:t>
            </a:r>
            <a:endParaRPr kumimoji="0" lang="ko-KR" altLang="en-US" sz="12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2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*</a:t>
            </a:r>
            <a:r>
              <a:rPr kumimoji="0" lang="ko-KR" altLang="en-US" sz="12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출루율 좋은 선수는 1~2번에 배치</a:t>
            </a:r>
            <a:endParaRPr kumimoji="0" lang="ko-KR" altLang="en-US" sz="12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sz="16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sz="16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5219297" y="1893881"/>
            <a:ext cx="3213011" cy="90554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sz="10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0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1번,2번 = ops, 타율, 상대전적의 평균치의 1,2등으로</a:t>
            </a:r>
            <a:endParaRPr kumimoji="0" lang="en-US" altLang="ko-KR" sz="10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0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3번~6번 : ops, 2,3루, 만루, 1,3루 등 득점권 타율이 좋은 선수</a:t>
            </a:r>
            <a:r>
              <a:rPr kumimoji="0" lang="ko-KR" altLang="en-US" sz="10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</a:t>
            </a:r>
            <a:r>
              <a:rPr kumimoji="0" lang="en-US" altLang="ko-KR" sz="10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</a:t>
            </a:r>
            <a:endParaRPr kumimoji="0" lang="en-US" altLang="ko-KR" sz="10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0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7번~9번 : 출루율, 상대</a:t>
            </a:r>
            <a:r>
              <a:rPr kumimoji="0" lang="ko-KR" altLang="en-US" sz="10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투수와의 </a:t>
            </a:r>
            <a:r>
              <a:rPr kumimoji="0" lang="en-US" altLang="ko-KR" sz="10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전적의 평균치</a:t>
            </a:r>
            <a:r>
              <a:rPr kumimoji="0" lang="ko-KR" altLang="en-US" sz="10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가</a:t>
            </a:r>
            <a:r>
              <a:rPr kumimoji="0" lang="en-US" altLang="ko-KR" sz="10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높은순</a:t>
            </a:r>
            <a:endParaRPr kumimoji="0" lang="en-US" altLang="ko-KR" sz="10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</p:txBody>
      </p:sp>
      <p:pic>
        <p:nvPicPr>
          <p:cNvPr id="81" name="그림 8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777553" y="636531"/>
            <a:ext cx="6816412" cy="38704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83;p16"/>
          <p:cNvSpPr txBox="1"/>
          <p:nvPr/>
        </p:nvSpPr>
        <p:spPr>
          <a:xfrm>
            <a:off x="1408975" y="306875"/>
            <a:ext cx="4979400" cy="52749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3.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승부 예측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AI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구현하기</a:t>
            </a:r>
          </a:p>
        </p:txBody>
      </p:sp>
      <p:sp>
        <p:nvSpPr>
          <p:cNvPr id="77" name="Google Shape;66;p14"/>
          <p:cNvSpPr txBox="1"/>
          <p:nvPr/>
        </p:nvSpPr>
        <p:spPr>
          <a:xfrm>
            <a:off x="1413796" y="839669"/>
            <a:ext cx="6042529" cy="210925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2.</a:t>
            </a:r>
            <a:r>
              <a:rPr kumimoji="0" lang="ko-KR" altLang="en-US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휴리스틱 기법을 통한 구단별 타순 짜기</a:t>
            </a: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ko-KR" altLang="en-US" sz="14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휴리스틱 </a:t>
            </a:r>
            <a:r>
              <a:rPr kumimoji="0" lang="en-US" altLang="ko-KR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:</a:t>
            </a:r>
            <a:r>
              <a:rPr kumimoji="0" lang="ko-KR" altLang="en-US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경험 기반 규칙이나 도메인 지식을 활용해서 의사결정을 하는 기법</a:t>
            </a: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2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*</a:t>
            </a:r>
            <a:r>
              <a:rPr kumimoji="0" lang="ko-KR" altLang="en-US" sz="12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홈런 잘치는 타자는 3~4번에 배치 </a:t>
            </a: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2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*</a:t>
            </a:r>
            <a:r>
              <a:rPr kumimoji="0" lang="ko-KR" altLang="en-US" sz="12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상대 투수에게 강했던 타자는 상위 타선 배치</a:t>
            </a: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2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*</a:t>
            </a:r>
            <a:r>
              <a:rPr kumimoji="0" lang="ko-KR" altLang="en-US" sz="12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출루율 좋은 선수는 1~2번에 배치</a:t>
            </a:r>
            <a:endParaRPr kumimoji="0" lang="ko-KR" altLang="en-US" sz="15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sz="16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sz="16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5219297" y="1893881"/>
            <a:ext cx="3213011" cy="90554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sz="10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0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1번,2번 = ops, 타율, 상대전적의 평균치의 1,2등으로</a:t>
            </a: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0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3번~6번 : ops, 2,3루, 만루, 1,3루 등 득점권 타율이 좋은 선수</a:t>
            </a:r>
            <a:r>
              <a:rPr kumimoji="0" lang="ko-KR" altLang="en-US" sz="10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</a:t>
            </a:r>
            <a:r>
              <a:rPr kumimoji="0" lang="en-US" altLang="ko-KR" sz="10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</a:t>
            </a: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0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7번~9번 : 출루율, 상대</a:t>
            </a:r>
            <a:r>
              <a:rPr kumimoji="0" lang="ko-KR" altLang="en-US" sz="10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투수와의 </a:t>
            </a:r>
            <a:r>
              <a:rPr kumimoji="0" lang="en-US" altLang="ko-KR" sz="10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전적의 평균치</a:t>
            </a:r>
            <a:r>
              <a:rPr kumimoji="0" lang="ko-KR" altLang="en-US" sz="10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가</a:t>
            </a:r>
            <a:r>
              <a:rPr kumimoji="0" lang="en-US" altLang="ko-KR" sz="10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높은순</a:t>
            </a:r>
            <a:endParaRPr kumimoji="0" lang="en-US" altLang="ko-KR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</p:txBody>
      </p:sp>
      <p:pic>
        <p:nvPicPr>
          <p:cNvPr id="82" name="그림 8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710474" y="611075"/>
            <a:ext cx="6776166" cy="39213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83;p16"/>
          <p:cNvSpPr txBox="1"/>
          <p:nvPr/>
        </p:nvSpPr>
        <p:spPr>
          <a:xfrm>
            <a:off x="1408975" y="306875"/>
            <a:ext cx="4979400" cy="52749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3.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승부 예측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AI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구현하기</a:t>
            </a:r>
          </a:p>
        </p:txBody>
      </p:sp>
      <p:sp>
        <p:nvSpPr>
          <p:cNvPr id="77" name="Google Shape;66;p14"/>
          <p:cNvSpPr txBox="1"/>
          <p:nvPr/>
        </p:nvSpPr>
        <p:spPr>
          <a:xfrm>
            <a:off x="1413796" y="839669"/>
            <a:ext cx="6042529" cy="210925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2.</a:t>
            </a:r>
            <a:r>
              <a:rPr kumimoji="0" lang="ko-KR" altLang="en-US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휴리스틱 기법을 통한 구단별 타순 짜기</a:t>
            </a: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ko-KR" altLang="en-US" sz="14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휴리스틱 </a:t>
            </a:r>
            <a:r>
              <a:rPr kumimoji="0" lang="en-US" altLang="ko-KR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:</a:t>
            </a:r>
            <a:r>
              <a:rPr kumimoji="0" lang="ko-KR" altLang="en-US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경험 기반 규칙이나 도메인 지식을 활용해서 의사결정을 하는 기법</a:t>
            </a: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2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*</a:t>
            </a:r>
            <a:r>
              <a:rPr kumimoji="0" lang="ko-KR" altLang="en-US" sz="12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홈런 잘치는 타자는 3~4번에 배치 </a:t>
            </a: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2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*</a:t>
            </a:r>
            <a:r>
              <a:rPr kumimoji="0" lang="ko-KR" altLang="en-US" sz="12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상대 투수에게 강했던 타자는 상위 타선 배치</a:t>
            </a: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2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*</a:t>
            </a:r>
            <a:r>
              <a:rPr kumimoji="0" lang="ko-KR" altLang="en-US" sz="12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출루율 좋은 선수는 1~2번에 배치</a:t>
            </a:r>
            <a:endParaRPr kumimoji="0" lang="ko-KR" altLang="en-US" sz="15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sz="16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sz="16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5219297" y="1893881"/>
            <a:ext cx="3213011" cy="90554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sz="10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0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1번,2번 = ops, 타율, 상대전적의 평균치의 1,2등으로</a:t>
            </a: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0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3번~6번 : ops, 2,3루, 만루, 1,3루 등 득점권 타율이 좋은 선수</a:t>
            </a:r>
            <a:r>
              <a:rPr kumimoji="0" lang="ko-KR" altLang="en-US" sz="10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</a:t>
            </a:r>
            <a:r>
              <a:rPr kumimoji="0" lang="en-US" altLang="ko-KR" sz="10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</a:t>
            </a: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0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7번~9번 : 출루율, 상대</a:t>
            </a:r>
            <a:r>
              <a:rPr kumimoji="0" lang="ko-KR" altLang="en-US" sz="10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투수와의 </a:t>
            </a:r>
            <a:r>
              <a:rPr kumimoji="0" lang="en-US" altLang="ko-KR" sz="10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전적의 평균치</a:t>
            </a:r>
            <a:r>
              <a:rPr kumimoji="0" lang="ko-KR" altLang="en-US" sz="10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가</a:t>
            </a:r>
            <a:r>
              <a:rPr kumimoji="0" lang="en-US" altLang="ko-KR" sz="10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높은순</a:t>
            </a:r>
            <a:endParaRPr kumimoji="0" lang="en-US" altLang="ko-KR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</p:txBody>
      </p:sp>
      <p:pic>
        <p:nvPicPr>
          <p:cNvPr id="82" name="그림 8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737306" y="715300"/>
            <a:ext cx="6796317" cy="41153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83;p16"/>
          <p:cNvSpPr txBox="1"/>
          <p:nvPr/>
        </p:nvSpPr>
        <p:spPr>
          <a:xfrm>
            <a:off x="1408975" y="306875"/>
            <a:ext cx="4979400" cy="52749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3.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승부 예측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AI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구현하기</a:t>
            </a:r>
          </a:p>
        </p:txBody>
      </p:sp>
      <p:sp>
        <p:nvSpPr>
          <p:cNvPr id="77" name="Google Shape;66;p14"/>
          <p:cNvSpPr txBox="1"/>
          <p:nvPr/>
        </p:nvSpPr>
        <p:spPr>
          <a:xfrm>
            <a:off x="1413795" y="839669"/>
            <a:ext cx="6042530" cy="9853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3.</a:t>
            </a:r>
            <a:r>
              <a:rPr kumimoji="0" lang="ko-KR" altLang="en-US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정규화 및 가중치 조절을 통해 타자의 안타 칠 확률 계산하기</a:t>
            </a: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sz="16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sz="16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</p:txBody>
      </p:sp>
      <p:pic>
        <p:nvPicPr>
          <p:cNvPr id="79" name="그림 7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532853" y="1328536"/>
            <a:ext cx="5219700" cy="514350"/>
          </a:xfrm>
          <a:prstGeom prst="rect">
            <a:avLst/>
          </a:prstGeom>
        </p:spPr>
      </p:pic>
      <p:pic>
        <p:nvPicPr>
          <p:cNvPr id="80" name="그림 7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526280" y="2065986"/>
            <a:ext cx="5581650" cy="1428750"/>
          </a:xfrm>
          <a:prstGeom prst="rect">
            <a:avLst/>
          </a:prstGeom>
        </p:spPr>
      </p:pic>
      <p:pic>
        <p:nvPicPr>
          <p:cNvPr id="81" name="그림 8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560289" y="3766869"/>
            <a:ext cx="6372225" cy="7154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83;p16"/>
          <p:cNvSpPr txBox="1"/>
          <p:nvPr/>
        </p:nvSpPr>
        <p:spPr>
          <a:xfrm>
            <a:off x="1408975" y="306875"/>
            <a:ext cx="4979400" cy="52749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3.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승부 예측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AI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구현하기</a:t>
            </a:r>
          </a:p>
        </p:txBody>
      </p:sp>
      <p:pic>
        <p:nvPicPr>
          <p:cNvPr id="77" name="그림 7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489389" y="1294595"/>
            <a:ext cx="4152900" cy="3573887"/>
          </a:xfrm>
          <a:prstGeom prst="rect">
            <a:avLst/>
          </a:prstGeom>
        </p:spPr>
      </p:pic>
      <p:sp>
        <p:nvSpPr>
          <p:cNvPr id="79" name="Google Shape;66;p14"/>
          <p:cNvSpPr txBox="1"/>
          <p:nvPr/>
        </p:nvSpPr>
        <p:spPr>
          <a:xfrm>
            <a:off x="1413795" y="839669"/>
            <a:ext cx="6042530" cy="9853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4.</a:t>
            </a:r>
            <a:r>
              <a:rPr kumimoji="0" lang="ko-KR" altLang="en-US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 타자의 타석 결과에 따른 주자 위치 및 득점 최신화</a:t>
            </a: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sz="16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sz="16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그림 7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496162" y="1403193"/>
            <a:ext cx="4810125" cy="3343275"/>
          </a:xfrm>
          <a:prstGeom prst="rect">
            <a:avLst/>
          </a:prstGeom>
        </p:spPr>
      </p:pic>
      <p:sp>
        <p:nvSpPr>
          <p:cNvPr id="77" name="Google Shape;83;p16"/>
          <p:cNvSpPr txBox="1"/>
          <p:nvPr/>
        </p:nvSpPr>
        <p:spPr>
          <a:xfrm>
            <a:off x="1408975" y="306875"/>
            <a:ext cx="4979400" cy="52749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3.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승부 예측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AI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구현하기</a:t>
            </a:r>
          </a:p>
        </p:txBody>
      </p:sp>
      <p:sp>
        <p:nvSpPr>
          <p:cNvPr id="78" name="Google Shape;66;p14"/>
          <p:cNvSpPr txBox="1"/>
          <p:nvPr/>
        </p:nvSpPr>
        <p:spPr>
          <a:xfrm>
            <a:off x="1413796" y="839670"/>
            <a:ext cx="6532195" cy="9853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5.</a:t>
            </a:r>
            <a:r>
              <a:rPr kumimoji="0" lang="ko-KR" altLang="en-US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 각각의 이닝을 시뮬레이션 하는 함수 </a:t>
            </a:r>
            <a:r>
              <a:rPr kumimoji="0" lang="en-US" altLang="ko-KR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(</a:t>
            </a:r>
            <a:r>
              <a:rPr kumimoji="0" lang="ko-KR" altLang="en-US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이걸 </a:t>
            </a:r>
            <a:r>
              <a:rPr kumimoji="0" lang="en-US" altLang="ko-KR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9</a:t>
            </a:r>
            <a:r>
              <a:rPr kumimoji="0" lang="ko-KR" altLang="en-US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번 진행하면 </a:t>
            </a:r>
            <a:r>
              <a:rPr kumimoji="0" lang="en-US" altLang="ko-KR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1</a:t>
            </a:r>
            <a:r>
              <a:rPr kumimoji="0" lang="ko-KR" altLang="en-US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개의 정규이닝이 완성</a:t>
            </a:r>
            <a:r>
              <a:rPr kumimoji="0" lang="en-US" altLang="ko-KR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)</a:t>
            </a: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sz="16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sz="16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83;p16"/>
          <p:cNvSpPr txBox="1"/>
          <p:nvPr/>
        </p:nvSpPr>
        <p:spPr>
          <a:xfrm>
            <a:off x="1408975" y="306875"/>
            <a:ext cx="4979400" cy="52749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3.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승부 예측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AI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구현하기</a:t>
            </a:r>
            <a:endParaRPr kumimoji="0" lang="ko-KR" altLang="en-US" sz="2000" b="1" i="0" u="none" strike="noStrike" kern="0" cap="none" spc="0" normalizeH="0" baseline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78" name="Google Shape;66;p14"/>
          <p:cNvSpPr txBox="1"/>
          <p:nvPr/>
        </p:nvSpPr>
        <p:spPr>
          <a:xfrm>
            <a:off x="1413796" y="839670"/>
            <a:ext cx="7826790" cy="985304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6.</a:t>
            </a:r>
            <a:r>
              <a:rPr kumimoji="0" lang="ko-KR" altLang="en-US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  몬테카를로 알고리즘을 통해 시행을 </a:t>
            </a:r>
            <a:r>
              <a:rPr kumimoji="0" lang="en-US" altLang="ko-KR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N</a:t>
            </a:r>
            <a:r>
              <a:rPr kumimoji="0" lang="ko-KR" altLang="en-US" sz="1400" b="0" i="0" u="none" strike="noStrike" kern="0" cap="none" spc="0" normalizeH="0" baseline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번 했을 때의 결과값을 도출해냄으로써 일반화하기</a:t>
            </a:r>
            <a:endParaRPr kumimoji="0" lang="ko-KR" altLang="en-US" sz="14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sz="16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en-US" altLang="ko-KR" sz="1600" b="0" i="0" u="none" strike="noStrike" kern="0" cap="none" spc="0" normalizeH="0" baseline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</p:txBody>
      </p:sp>
      <p:pic>
        <p:nvPicPr>
          <p:cNvPr id="79" name="그림 7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570417" y="1504950"/>
            <a:ext cx="6553200" cy="1066800"/>
          </a:xfrm>
          <a:prstGeom prst="rect">
            <a:avLst/>
          </a:prstGeom>
        </p:spPr>
      </p:pic>
      <p:pic>
        <p:nvPicPr>
          <p:cNvPr id="80" name="그림 7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568807" y="2799812"/>
            <a:ext cx="3003192" cy="21203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83;p16"/>
          <p:cNvSpPr txBox="1"/>
          <p:nvPr/>
        </p:nvSpPr>
        <p:spPr>
          <a:xfrm>
            <a:off x="1408975" y="306875"/>
            <a:ext cx="5375157" cy="52749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4.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5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월 </a:t>
            </a:r>
            <a:r>
              <a:rPr xmlns:mc="http://schemas.openxmlformats.org/markup-compatibility/2006" xmlns:hp="http://schemas.haansoft.com/office/presentation/8.0" kumimoji="0" lang="en-US" altLang="ko-KR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27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일 프로야구 경기 승부예측 실습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78" name="그림 7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715885" y="1010727"/>
            <a:ext cx="6851245" cy="1561023"/>
          </a:xfrm>
          <a:prstGeom prst="rect">
            <a:avLst/>
          </a:prstGeom>
        </p:spPr>
      </p:pic>
      <p:sp>
        <p:nvSpPr>
          <p:cNvPr id="84" name=""/>
          <p:cNvSpPr/>
          <p:nvPr/>
        </p:nvSpPr>
        <p:spPr>
          <a:xfrm>
            <a:off x="2322624" y="2676943"/>
            <a:ext cx="207940" cy="275017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5" name=""/>
          <p:cNvSpPr/>
          <p:nvPr/>
        </p:nvSpPr>
        <p:spPr>
          <a:xfrm>
            <a:off x="7750131" y="2657759"/>
            <a:ext cx="207940" cy="275017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>
              <a:alpha val="100000"/>
            </a:schemeClr>
          </a:solidFill>
          <a:ln w="25400" cap="flat" cmpd="sng" algn="ctr">
            <a:solidFill>
              <a:srgbClr val="1f4075">
                <a:alpha val="100000"/>
              </a:srgbClr>
            </a:solidFill>
            <a:prstDash val="solid"/>
          </a:ln>
        </p:spPr>
        <p:txBody>
          <a:bodyPr anchor="ctr"/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<a:solidFill>
                <a:srgbClr val="ffffff"/>
              </a:solidFill>
              <a:latin typeface="Arial"/>
              <a:ea typeface="맑은 고딕"/>
              <a:cs typeface="맑은 고딕"/>
            </a:endParaRPr>
          </a:p>
        </p:txBody>
      </p:sp>
      <p:sp>
        <p:nvSpPr>
          <p:cNvPr id="86" name=""/>
          <p:cNvSpPr/>
          <p:nvPr/>
        </p:nvSpPr>
        <p:spPr>
          <a:xfrm>
            <a:off x="6393288" y="2658699"/>
            <a:ext cx="207940" cy="275017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>
              <a:alpha val="100000"/>
            </a:schemeClr>
          </a:solidFill>
          <a:ln w="25400" cap="flat" cmpd="sng" algn="ctr">
            <a:solidFill>
              <a:srgbClr val="1f4075">
                <a:alpha val="100000"/>
              </a:srgbClr>
            </a:solidFill>
            <a:prstDash val="solid"/>
          </a:ln>
        </p:spPr>
        <p:txBody>
          <a:bodyPr anchor="ctr"/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<a:solidFill>
                <a:srgbClr val="ffffff"/>
              </a:solidFill>
              <a:latin typeface="Arial"/>
              <a:ea typeface="맑은 고딕"/>
              <a:cs typeface="맑은 고딕"/>
            </a:endParaRPr>
          </a:p>
        </p:txBody>
      </p:sp>
      <p:sp>
        <p:nvSpPr>
          <p:cNvPr id="87" name=""/>
          <p:cNvSpPr/>
          <p:nvPr/>
        </p:nvSpPr>
        <p:spPr>
          <a:xfrm>
            <a:off x="5032554" y="2660711"/>
            <a:ext cx="207940" cy="275017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>
              <a:alpha val="100000"/>
            </a:schemeClr>
          </a:solidFill>
          <a:ln w="25400" cap="flat" cmpd="sng" algn="ctr">
            <a:solidFill>
              <a:srgbClr val="1f4075">
                <a:alpha val="100000"/>
              </a:srgbClr>
            </a:solidFill>
            <a:prstDash val="solid"/>
          </a:ln>
        </p:spPr>
        <p:txBody>
          <a:bodyPr anchor="ctr"/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<a:solidFill>
                <a:srgbClr val="ffffff"/>
              </a:solidFill>
              <a:latin typeface="Arial"/>
              <a:ea typeface="맑은 고딕"/>
              <a:cs typeface="맑은 고딕"/>
            </a:endParaRPr>
          </a:p>
        </p:txBody>
      </p:sp>
      <p:sp>
        <p:nvSpPr>
          <p:cNvPr id="88" name=""/>
          <p:cNvSpPr/>
          <p:nvPr/>
        </p:nvSpPr>
        <p:spPr>
          <a:xfrm>
            <a:off x="3670076" y="2665540"/>
            <a:ext cx="207940" cy="275017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>
              <a:alpha val="100000"/>
            </a:schemeClr>
          </a:solidFill>
          <a:ln w="25400" cap="flat" cmpd="sng" algn="ctr">
            <a:solidFill>
              <a:srgbClr val="1f4075">
                <a:alpha val="100000"/>
              </a:srgbClr>
            </a:solidFill>
            <a:prstDash val="solid"/>
          </a:ln>
        </p:spPr>
        <p:txBody>
          <a:bodyPr anchor="ctr"/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<a:solidFill>
                <a:srgbClr val="ffffff"/>
              </a:solidFill>
              <a:latin typeface="Arial"/>
              <a:ea typeface="맑은 고딕"/>
              <a:cs typeface="맑은 고딕"/>
            </a:endParaRPr>
          </a:p>
        </p:txBody>
      </p:sp>
      <p:sp>
        <p:nvSpPr>
          <p:cNvPr id="91" name=""/>
          <p:cNvSpPr/>
          <p:nvPr/>
        </p:nvSpPr>
        <p:spPr>
          <a:xfrm>
            <a:off x="1939209" y="3034198"/>
            <a:ext cx="6573592" cy="275017"/>
          </a:xfrm>
          <a:prstGeom prst="rect">
            <a:avLst/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  박선홍                 한종성                 전해인                 김은기                 배동혁</a:t>
            </a:r>
            <a:r>
              <a:rPr lang="ko-KR" altLang="en-US"/>
              <a:t>혁</a:t>
            </a:r>
            <a:endParaRPr lang="ko-KR" altLang="en-US"/>
          </a:p>
        </p:txBody>
      </p:sp>
      <p:sp>
        <p:nvSpPr>
          <p:cNvPr id="92" name="Google Shape;66;p14"/>
          <p:cNvSpPr txBox="1"/>
          <p:nvPr/>
        </p:nvSpPr>
        <p:spPr>
          <a:xfrm>
            <a:off x="2118115" y="3656926"/>
            <a:ext cx="5928497" cy="949348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주어진 데이터를 자유롭게 활용해서 가장 실제 경기 결과와 비슷한 예측값을 도출해내는 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AI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19264b"/>
                </a:solidFill>
                <a:latin typeface="나눔고딕"/>
                <a:ea typeface="나눔고딕"/>
                <a:sym typeface="NanumGothic ExtraBold"/>
              </a:rPr>
              <a:t>를 개발해보는 실습을 진행</a:t>
            </a:r>
            <a:endPara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600" b="0" i="0" u="none" strike="noStrike" kern="0" cap="none" spc="0" normalizeH="0" baseline="0" mc:Ignorable="hp" hp:hslEmbossed="0">
              <a:solidFill>
                <a:srgbClr val="19264b"/>
              </a:solidFill>
              <a:latin typeface="나눔고딕"/>
              <a:ea typeface="나눔고딕"/>
              <a:sym typeface="NanumGothic Extra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8" grpId="1" animBg="1"/>
      <p:bldP spid="87" grpId="2" animBg="1"/>
      <p:bldP spid="86" grpId="3" animBg="1"/>
      <p:bldP spid="85" grpId="4" animBg="1"/>
      <p:bldP spid="91" grpId="5" animBg="1"/>
      <p:bldP spid="92" grpId="6" animBg="1"/>
    </p:bldLst>
  </p:timing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83;p16"/>
          <p:cNvSpPr txBox="1"/>
          <p:nvPr/>
        </p:nvSpPr>
        <p:spPr>
          <a:xfrm>
            <a:off x="1388850" y="75323"/>
            <a:ext cx="5375157" cy="530451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4.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승부 예측 결과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-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(1)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두산 베어스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VS KT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위즈</a:t>
            </a:r>
            <a:endParaRPr kumimoji="0" lang="ko-KR" altLang="en-US" sz="2000" b="1" i="0" u="none" strike="noStrike" kern="0" cap="none" spc="0" normalizeH="0" baseline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2474219" y="1914003"/>
            <a:ext cx="5339366" cy="2998363"/>
          </a:xfrm>
          <a:prstGeom prst="rect">
            <a:avLst/>
          </a:prstGeom>
          <a:noFill/>
          <a:ln w="25400" cap="flat" cmpd="sng" algn="ctr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1. NaN 값 처리시 선수별 개인 평균값 및 두산전</a:t>
            </a:r>
            <a:r>
              <a:rPr kumimoji="0" lang="en-US" altLang="ko-KR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,</a:t>
            </a:r>
            <a:r>
              <a:rPr kumimoji="0" lang="ko-KR" altLang="en-US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 </a:t>
            </a:r>
            <a:r>
              <a:rPr kumimoji="0" lang="en-US" altLang="ko-KR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KT</a:t>
            </a:r>
            <a:r>
              <a:rPr kumimoji="0" lang="ko-KR" altLang="en-US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전 타율으로 대체</a:t>
            </a:r>
            <a:endParaRPr kumimoji="0" lang="ko-KR" altLang="en-US" sz="1300" b="0" i="0" u="none" strike="noStrike" kern="0" cap="none" spc="0" normalizeH="0" baseline="0">
              <a:solidFill>
                <a:srgbClr val="000000"/>
              </a:solidFill>
              <a:latin typeface="Arial"/>
              <a:ea typeface="맑은 고딕"/>
              <a:cs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ko-KR" altLang="en-US" sz="1300" b="0" i="0" u="none" strike="noStrike" kern="0" cap="none" spc="0" normalizeH="0" baseline="0">
              <a:solidFill>
                <a:srgbClr val="000000"/>
              </a:solidFill>
              <a:latin typeface="Arial"/>
              <a:ea typeface="맑은 고딕"/>
              <a:cs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2. 타순 제작</a:t>
            </a:r>
            <a:endParaRPr kumimoji="0" lang="ko-KR" altLang="en-US" sz="1300" b="0" i="0" u="none" strike="noStrike" kern="0" cap="none" spc="0" normalizeH="0" baseline="0">
              <a:solidFill>
                <a:srgbClr val="000000"/>
              </a:solidFill>
              <a:latin typeface="Arial"/>
              <a:ea typeface="맑은 고딕"/>
              <a:cs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(1)</a:t>
            </a:r>
            <a:r>
              <a:rPr kumimoji="0" lang="ko-KR" altLang="en-US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 </a:t>
            </a:r>
            <a:r>
              <a:rPr kumimoji="0" lang="en-US" altLang="ko-KR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1</a:t>
            </a:r>
            <a:r>
              <a:rPr kumimoji="0" lang="ko-KR" altLang="en-US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번 </a:t>
            </a:r>
            <a:r>
              <a:rPr kumimoji="0" lang="en-US" altLang="ko-KR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: </a:t>
            </a:r>
            <a:r>
              <a:rPr kumimoji="0" lang="ko-KR" altLang="en-US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OPS, 상대전적 평균치 1등선수 </a:t>
            </a:r>
            <a:endParaRPr kumimoji="0" lang="ko-KR" altLang="en-US" sz="1300" b="0" i="0" u="none" strike="noStrike" kern="0" cap="none" spc="0" normalizeH="0" baseline="0">
              <a:solidFill>
                <a:srgbClr val="000000"/>
              </a:solidFill>
              <a:latin typeface="Arial"/>
              <a:ea typeface="맑은 고딕"/>
              <a:cs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(2) </a:t>
            </a:r>
            <a:r>
              <a:rPr kumimoji="0" lang="ko-KR" altLang="en-US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2번,3번</a:t>
            </a:r>
            <a:r>
              <a:rPr kumimoji="0" lang="en-US" altLang="ko-KR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 :</a:t>
            </a:r>
            <a:r>
              <a:rPr kumimoji="0" lang="ko-KR" altLang="en-US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 장타율, 타율, 상대전적 가중치 합산 등수 기준</a:t>
            </a:r>
            <a:endParaRPr kumimoji="0" lang="ko-KR" altLang="en-US" sz="1300" b="0" i="0" u="none" strike="noStrike" kern="0" cap="none" spc="0" normalizeH="0" baseline="0">
              <a:solidFill>
                <a:srgbClr val="000000"/>
              </a:solidFill>
              <a:latin typeface="Arial"/>
              <a:ea typeface="맑은 고딕"/>
              <a:cs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(3)</a:t>
            </a:r>
            <a:r>
              <a:rPr kumimoji="0" lang="ko-KR" altLang="en-US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 4번</a:t>
            </a:r>
            <a:r>
              <a:rPr kumimoji="0" lang="en-US" altLang="ko-KR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~</a:t>
            </a:r>
            <a:r>
              <a:rPr kumimoji="0" lang="ko-KR" altLang="en-US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6번 </a:t>
            </a:r>
            <a:r>
              <a:rPr kumimoji="0" lang="en-US" altLang="ko-KR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:</a:t>
            </a:r>
            <a:r>
              <a:rPr kumimoji="0" lang="ko-KR" altLang="en-US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타율, 득점권 타율의 가중치 합산 기준</a:t>
            </a:r>
            <a:endParaRPr kumimoji="0" lang="ko-KR" altLang="en-US" sz="1300" b="0" i="0" u="none" strike="noStrike" kern="0" cap="none" spc="0" normalizeH="0" baseline="0">
              <a:solidFill>
                <a:srgbClr val="000000"/>
              </a:solidFill>
              <a:latin typeface="Arial"/>
              <a:ea typeface="맑은 고딕"/>
              <a:cs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(4)</a:t>
            </a:r>
            <a:r>
              <a:rPr kumimoji="0" lang="ko-KR" altLang="en-US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 7번~9번 </a:t>
            </a:r>
            <a:r>
              <a:rPr kumimoji="0" lang="en-US" altLang="ko-KR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:</a:t>
            </a:r>
            <a:r>
              <a:rPr kumimoji="0" lang="ko-KR" altLang="en-US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출루율, 상대전적의 가중치 합산 기준</a:t>
            </a:r>
            <a:endParaRPr kumimoji="0" lang="ko-KR" altLang="en-US" sz="1300" b="0" i="0" u="none" strike="noStrike" kern="0" cap="none" spc="0" normalizeH="0" baseline="0">
              <a:solidFill>
                <a:srgbClr val="000000"/>
              </a:solidFill>
              <a:latin typeface="Arial"/>
              <a:ea typeface="맑은 고딕"/>
              <a:cs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ko-KR" altLang="en-US" sz="1300" b="0" i="0" u="none" strike="noStrike" kern="0" cap="none" spc="0" normalizeH="0" baseline="0">
              <a:solidFill>
                <a:srgbClr val="000000"/>
              </a:solidFill>
              <a:latin typeface="Arial"/>
              <a:ea typeface="맑은 고딕"/>
              <a:cs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3. 기본데이터를 활용한 확률 계산 (타율과 OPS를 각각 0.</a:t>
            </a:r>
            <a:r>
              <a:rPr kumimoji="0" lang="en-US" altLang="ko-KR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4</a:t>
            </a:r>
            <a:r>
              <a:rPr kumimoji="0" lang="ko-KR" altLang="en-US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, 0.</a:t>
            </a:r>
            <a:r>
              <a:rPr kumimoji="0" lang="en-US" altLang="ko-KR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6</a:t>
            </a:r>
            <a:r>
              <a:rPr kumimoji="0" lang="ko-KR" altLang="en-US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 가중치 사용)</a:t>
            </a:r>
            <a:endParaRPr kumimoji="0" lang="ko-KR" altLang="en-US" sz="1300" b="0" i="0" u="none" strike="noStrike" kern="0" cap="none" spc="0" normalizeH="0" baseline="0">
              <a:solidFill>
                <a:srgbClr val="000000"/>
              </a:solidFill>
              <a:latin typeface="Arial"/>
              <a:ea typeface="맑은 고딕"/>
              <a:cs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ko-KR" altLang="en-US" sz="1300" b="0" i="0" u="none" strike="noStrike" kern="0" cap="none" spc="0" normalizeH="0" baseline="0">
              <a:solidFill>
                <a:srgbClr val="000000"/>
              </a:solidFill>
              <a:latin typeface="Arial"/>
              <a:ea typeface="맑은 고딕"/>
              <a:cs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4. 상황별 데이터를 활용한 확률 계산 (각각 0.</a:t>
            </a:r>
            <a:r>
              <a:rPr kumimoji="0" lang="en-US" altLang="ko-KR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2</a:t>
            </a:r>
            <a:r>
              <a:rPr kumimoji="0" lang="ko-KR" altLang="en-US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, 0.</a:t>
            </a:r>
            <a:r>
              <a:rPr kumimoji="0" lang="en-US" altLang="ko-KR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5</a:t>
            </a:r>
            <a:r>
              <a:rPr kumimoji="0" lang="ko-KR" altLang="en-US" sz="13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, 0.3 가중치 사용)</a:t>
            </a:r>
            <a:endParaRPr kumimoji="0" lang="ko-KR" altLang="en-US" sz="1300" b="0" i="0" u="none" strike="noStrike" kern="0" cap="none" spc="0" normalizeH="0" baseline="0">
              <a:solidFill>
                <a:srgbClr val="000000"/>
              </a:solidFill>
              <a:latin typeface="Arial"/>
              <a:ea typeface="맑은 고딕"/>
              <a:cs typeface="맑은 고딕"/>
            </a:endParaRPr>
          </a:p>
        </p:txBody>
      </p:sp>
      <p:pic>
        <p:nvPicPr>
          <p:cNvPr id="84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475600" y="648371"/>
            <a:ext cx="3432086" cy="1144079"/>
          </a:xfrm>
          <a:prstGeom prst="rect">
            <a:avLst/>
          </a:prstGeom>
        </p:spPr>
      </p:pic>
      <p:pic>
        <p:nvPicPr>
          <p:cNvPr id="86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382086" y="665140"/>
            <a:ext cx="3428419" cy="1132267"/>
          </a:xfrm>
          <a:prstGeom prst="rect">
            <a:avLst/>
          </a:prstGeom>
        </p:spPr>
      </p:pic>
      <p:pic>
        <p:nvPicPr>
          <p:cNvPr id="87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954408" y="1030712"/>
            <a:ext cx="406310" cy="4749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83;p16"/>
          <p:cNvSpPr txBox="1"/>
          <p:nvPr/>
        </p:nvSpPr>
        <p:spPr>
          <a:xfrm>
            <a:off x="1408975" y="306875"/>
            <a:ext cx="5375157" cy="52749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4.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승부 예측 결과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-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(1)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두산 베어스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VS KT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위즈</a:t>
            </a:r>
            <a:endParaRPr kumimoji="0" lang="ko-KR" altLang="en-US" sz="2000" b="1" i="0" u="none" strike="noStrike" kern="0" cap="none" spc="0" normalizeH="0" baseline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84" name="그림 8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658757" y="956591"/>
            <a:ext cx="7248525" cy="466725"/>
          </a:xfrm>
          <a:prstGeom prst="rect">
            <a:avLst/>
          </a:prstGeom>
        </p:spPr>
      </p:pic>
      <p:pic>
        <p:nvPicPr>
          <p:cNvPr id="86" name="그림 8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659898" y="1534665"/>
            <a:ext cx="2912101" cy="719204"/>
          </a:xfrm>
          <a:prstGeom prst="rect">
            <a:avLst/>
          </a:prstGeom>
        </p:spPr>
      </p:pic>
      <p:pic>
        <p:nvPicPr>
          <p:cNvPr id="87" name="그림 8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661240" y="2360511"/>
            <a:ext cx="4068650" cy="2607715"/>
          </a:xfrm>
          <a:prstGeom prst="rect">
            <a:avLst/>
          </a:prstGeom>
        </p:spPr>
      </p:pic>
      <p:pic>
        <p:nvPicPr>
          <p:cNvPr id="88" name="그림 8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177565" y="2015610"/>
            <a:ext cx="2267688" cy="28965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직사각형 80"/>
          <p:cNvSpPr/>
          <p:nvPr/>
        </p:nvSpPr>
        <p:spPr>
          <a:xfrm>
            <a:off x="2532845" y="2037813"/>
            <a:ext cx="5339366" cy="2998363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1. NaN 값 처리시 평균값 사용</a:t>
            </a: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2. 타율 0.3, ops 0.6, 상대투수 0.1 가중치를 두어서 높은순으로 타순 제작</a:t>
            </a: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3. 기본데이터를 활용한 확률 계산 (타율과 OPS를 각각 0.5, 0.5 가중치 사용)</a:t>
            </a: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4. 상황별 데이터를 활용한 확률 계산 (각각 0.3, 0.4, 0.3 가중치 사용)</a:t>
            </a: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endParaRPr lang="ko-KR" altLang="en-US">
              <a:solidFill>
                <a:schemeClr val="dk1"/>
              </a:solidFill>
            </a:endParaRPr>
          </a:p>
          <a:p>
            <a:pPr>
              <a:defRPr/>
            </a:pPr>
            <a:r>
              <a:rPr lang="ko-KR" altLang="en-US">
                <a:solidFill>
                  <a:schemeClr val="dk1"/>
                </a:solidFill>
              </a:rPr>
              <a:t>5. 1루타 2루타 3루타 홈런 확률 조정</a:t>
            </a:r>
            <a:endParaRPr lang="ko-KR" altLang="en-US">
              <a:solidFill>
                <a:schemeClr val="dk1"/>
              </a:solidFill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83;p16"/>
          <p:cNvSpPr txBox="1"/>
          <p:nvPr/>
        </p:nvSpPr>
        <p:spPr>
          <a:xfrm>
            <a:off x="1408975" y="306875"/>
            <a:ext cx="6146547" cy="52749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4.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승부 예측 결과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-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(2)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한화 이글스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VS LG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트윈스</a:t>
            </a:r>
            <a:endParaRPr kumimoji="0" lang="ko-KR" altLang="en-US" sz="2000" b="1" i="0" u="none" strike="noStrike" kern="0" cap="none" spc="0" normalizeH="0" baseline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3130772" y="1585053"/>
            <a:ext cx="3948984" cy="29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pic>
        <p:nvPicPr>
          <p:cNvPr id="83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823030" y="837056"/>
            <a:ext cx="6765702" cy="10814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83;p16"/>
          <p:cNvSpPr txBox="1"/>
          <p:nvPr/>
        </p:nvSpPr>
        <p:spPr>
          <a:xfrm>
            <a:off x="1408975" y="306875"/>
            <a:ext cx="6146547" cy="52749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4.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승부 예측 결과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-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(2)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한화 이글스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VS LG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트윈스</a:t>
            </a:r>
          </a:p>
        </p:txBody>
      </p:sp>
      <p:pic>
        <p:nvPicPr>
          <p:cNvPr id="78" name="그림 7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650576" y="909637"/>
            <a:ext cx="7077074" cy="466725"/>
          </a:xfrm>
          <a:prstGeom prst="rect">
            <a:avLst/>
          </a:prstGeom>
        </p:spPr>
      </p:pic>
      <p:pic>
        <p:nvPicPr>
          <p:cNvPr id="79" name="그림 7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625419" y="2129348"/>
            <a:ext cx="4313479" cy="2799504"/>
          </a:xfrm>
          <a:prstGeom prst="rect">
            <a:avLst/>
          </a:prstGeom>
        </p:spPr>
      </p:pic>
      <p:pic>
        <p:nvPicPr>
          <p:cNvPr id="80" name="그림 7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247194" y="2189407"/>
            <a:ext cx="2384134" cy="2602326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3130772" y="1585053"/>
            <a:ext cx="3948984" cy="29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/>
          </a:p>
        </p:txBody>
      </p:sp>
      <p:pic>
        <p:nvPicPr>
          <p:cNvPr id="83" name="그림 82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671168" y="1466045"/>
            <a:ext cx="2900832" cy="6954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직사각형 79"/>
          <p:cNvSpPr/>
          <p:nvPr/>
        </p:nvSpPr>
        <p:spPr>
          <a:xfrm>
            <a:off x="2512722" y="1994497"/>
            <a:ext cx="5339366" cy="2998363"/>
          </a:xfrm>
          <a:prstGeom prst="rect">
            <a:avLst/>
          </a:prstGeom>
          <a:noFill/>
          <a:ln w="25400" cap="flat" cmpd="sng" algn="ctr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1.</a:t>
            </a:r>
            <a:r>
              <a:rPr kumimoji="0" lang="ko-KR" altLang="en-US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 NAN 값 처리는 선수별 열의 평균으로 </a:t>
            </a:r>
            <a:endParaRPr kumimoji="0" lang="ko-KR" altLang="en-US" sz="1400" b="0" i="0" u="none" strike="noStrike" kern="0" cap="none" spc="0" normalizeH="0" baseline="0">
              <a:solidFill>
                <a:srgbClr val="000000"/>
              </a:solidFill>
              <a:latin typeface="Arial"/>
              <a:ea typeface="맑은 고딕"/>
              <a:cs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ko-KR" altLang="en-US" sz="1400" b="0" i="0" u="none" strike="noStrike" kern="0" cap="none" spc="0" normalizeH="0" baseline="0">
              <a:solidFill>
                <a:srgbClr val="000000"/>
              </a:solidFill>
              <a:latin typeface="Arial"/>
              <a:ea typeface="맑은 고딕"/>
              <a:cs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2.</a:t>
            </a:r>
            <a:r>
              <a:rPr kumimoji="0" lang="ko-KR" altLang="en-US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 타순은 타율, ops, 상대전적을 고려하였고 타율 가중치는 0.3, ops는 0.45, 상대전적은 0.25의 가중치를 부여.</a:t>
            </a:r>
            <a:endParaRPr kumimoji="0" lang="ko-KR" altLang="en-US" sz="1400" b="0" i="0" u="none" strike="noStrike" kern="0" cap="none" spc="0" normalizeH="0" baseline="0">
              <a:solidFill>
                <a:srgbClr val="000000"/>
              </a:solidFill>
              <a:latin typeface="Arial"/>
              <a:ea typeface="맑은 고딕"/>
              <a:cs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 </a:t>
            </a:r>
            <a:endParaRPr kumimoji="0" lang="ko-KR" altLang="en-US" sz="1400" b="0" i="0" u="none" strike="noStrike" kern="0" cap="none" spc="0" normalizeH="0" baseline="0">
              <a:solidFill>
                <a:srgbClr val="000000"/>
              </a:solidFill>
              <a:latin typeface="Arial"/>
              <a:ea typeface="맑은 고딕"/>
              <a:cs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3.</a:t>
            </a:r>
            <a:r>
              <a:rPr kumimoji="0" lang="ko-KR" altLang="en-US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 base_hit_prob에서는 타율에 0.25, ops에 0.75의 가중치를 부여</a:t>
            </a:r>
            <a:endParaRPr kumimoji="0" lang="ko-KR" altLang="en-US" sz="1400" b="0" i="0" u="none" strike="noStrike" kern="0" cap="none" spc="0" normalizeH="0" baseline="0">
              <a:solidFill>
                <a:srgbClr val="000000"/>
              </a:solidFill>
              <a:latin typeface="Arial"/>
              <a:ea typeface="맑은 고딕"/>
              <a:cs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ko-KR" altLang="en-US" sz="1400" b="0" i="0" u="none" strike="noStrike" kern="0" cap="none" spc="0" normalizeH="0" baseline="0">
              <a:solidFill>
                <a:srgbClr val="000000"/>
              </a:solidFill>
              <a:latin typeface="Arial"/>
              <a:ea typeface="맑은 고딕"/>
              <a:cs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4.</a:t>
            </a:r>
            <a:r>
              <a:rPr kumimoji="0" lang="ko-KR" altLang="en-US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 상황별 데이터를 고려한 확률에서는 아웃 상황에 0.25, 주자 출루 상황에 0.55, 볼카운트에는 0.2의 가중치를 부여</a:t>
            </a:r>
            <a:endParaRPr kumimoji="0" lang="ko-KR" altLang="en-US" sz="1400" b="0" i="0" u="none" strike="noStrike" kern="0" cap="none" spc="0" normalizeH="0" baseline="0">
              <a:solidFill>
                <a:srgbClr val="000000"/>
              </a:solidFill>
              <a:latin typeface="Arial"/>
              <a:ea typeface="맑은 고딕"/>
              <a:cs typeface="맑은 고딕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83;p16"/>
          <p:cNvSpPr txBox="1"/>
          <p:nvPr/>
        </p:nvSpPr>
        <p:spPr>
          <a:xfrm>
            <a:off x="1408975" y="306875"/>
            <a:ext cx="6515475" cy="52749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4.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승부 예측 결과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-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(3)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롯데 자이언츠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VS 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삼성 라이온즈</a:t>
            </a:r>
            <a:endParaRPr kumimoji="0" lang="ko-KR" altLang="en-US" sz="2000" b="1" i="0" u="none" strike="noStrike" kern="0" cap="none" spc="0" normalizeH="0" baseline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81" name=""/>
          <p:cNvPicPr>
            <a:picLocks noChangeAspect="1"/>
          </p:cNvPicPr>
          <p:nvPr/>
        </p:nvPicPr>
        <p:blipFill rotWithShape="1">
          <a:blip r:embed="rId4"/>
          <a:srcRect b="4200"/>
          <a:stretch>
            <a:fillRect/>
          </a:stretch>
        </p:blipFill>
        <p:spPr>
          <a:xfrm>
            <a:off x="1459203" y="808954"/>
            <a:ext cx="3448587" cy="1014802"/>
          </a:xfrm>
          <a:prstGeom prst="rect">
            <a:avLst/>
          </a:prstGeom>
        </p:spPr>
      </p:pic>
      <p:pic>
        <p:nvPicPr>
          <p:cNvPr id="82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531609" y="813223"/>
            <a:ext cx="3370911" cy="1011081"/>
          </a:xfrm>
          <a:prstGeom prst="rect">
            <a:avLst/>
          </a:prstGeom>
        </p:spPr>
      </p:pic>
      <p:pic>
        <p:nvPicPr>
          <p:cNvPr id="83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026450" y="1117913"/>
            <a:ext cx="406310" cy="4749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83;p16"/>
          <p:cNvSpPr txBox="1"/>
          <p:nvPr/>
        </p:nvSpPr>
        <p:spPr>
          <a:xfrm>
            <a:off x="1408975" y="306875"/>
            <a:ext cx="6515475" cy="52749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4.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승부 예측 결과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-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(3)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롯데 자이언츠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VS 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삼성 라이온즈</a:t>
            </a:r>
          </a:p>
        </p:txBody>
      </p:sp>
      <p:pic>
        <p:nvPicPr>
          <p:cNvPr id="77" name="그림 7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545330" y="942103"/>
            <a:ext cx="7343774" cy="428625"/>
          </a:xfrm>
          <a:prstGeom prst="rect">
            <a:avLst/>
          </a:prstGeom>
        </p:spPr>
      </p:pic>
      <p:pic>
        <p:nvPicPr>
          <p:cNvPr id="78" name="그림 7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556842" y="2172133"/>
            <a:ext cx="4196927" cy="2745690"/>
          </a:xfrm>
          <a:prstGeom prst="rect">
            <a:avLst/>
          </a:prstGeom>
        </p:spPr>
      </p:pic>
      <p:pic>
        <p:nvPicPr>
          <p:cNvPr id="79" name="그림 78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222510" y="1977778"/>
            <a:ext cx="2199336" cy="2791093"/>
          </a:xfrm>
          <a:prstGeom prst="rect">
            <a:avLst/>
          </a:prstGeom>
        </p:spPr>
      </p:pic>
      <p:pic>
        <p:nvPicPr>
          <p:cNvPr id="81" name="그림 8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539763" y="1463898"/>
            <a:ext cx="2877959" cy="726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직사각형 79"/>
          <p:cNvSpPr/>
          <p:nvPr/>
        </p:nvSpPr>
        <p:spPr>
          <a:xfrm>
            <a:off x="2729824" y="1691170"/>
            <a:ext cx="5046263" cy="3283298"/>
          </a:xfrm>
          <a:prstGeom prst="rect">
            <a:avLst/>
          </a:prstGeom>
          <a:noFill/>
          <a:ln w="25400" cap="flat" cmpd="sng" algn="ctr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lvl="0">
              <a:defRPr/>
            </a:pPr>
            <a:r>
              <a:rPr lang="en-US" altLang="ko-KR" sz="1200">
                <a:ea typeface="맑은 고딕"/>
                <a:cs typeface="맑은 고딕"/>
              </a:rPr>
              <a:t>1. </a:t>
            </a:r>
            <a:r>
              <a:rPr lang="ko-KR" altLang="en-US" sz="1200">
                <a:ea typeface="맑은 고딕"/>
                <a:cs typeface="맑은 고딕"/>
              </a:rPr>
              <a:t>데이터 전처리 </a:t>
            </a:r>
            <a:r>
              <a:rPr lang="en-US" altLang="ko-KR" sz="1200">
                <a:ea typeface="맑은 고딕"/>
                <a:cs typeface="맑은 고딕"/>
              </a:rPr>
              <a:t>(NaN </a:t>
            </a:r>
            <a:r>
              <a:rPr lang="ko-KR" altLang="en-US" sz="1200">
                <a:ea typeface="맑은 고딕"/>
                <a:cs typeface="맑은 고딕"/>
              </a:rPr>
              <a:t>값</a:t>
            </a:r>
            <a:r>
              <a:rPr lang="en-US" altLang="ko-KR" sz="1200">
                <a:ea typeface="맑은 고딕"/>
                <a:cs typeface="맑은 고딕"/>
              </a:rPr>
              <a:t>)</a:t>
            </a:r>
            <a:endParaRPr lang="en-US" altLang="ko-KR" sz="1200">
              <a:ea typeface="맑은 고딕"/>
              <a:cs typeface="맑은 고딕"/>
            </a:endParaRPr>
          </a:p>
          <a:p>
            <a:pPr lvl="0">
              <a:defRPr/>
            </a:pPr>
            <a:r>
              <a:rPr lang="ko-KR" altLang="en-US" sz="1200">
                <a:ea typeface="맑은 고딕"/>
                <a:cs typeface="맑은 고딕"/>
              </a:rPr>
              <a:t>기본적으로 행의 평균값으로 결측치 채워넣기</a:t>
            </a:r>
            <a:r>
              <a:rPr lang="en-US" altLang="ko-KR" sz="1200">
                <a:ea typeface="맑은 고딕"/>
                <a:cs typeface="맑은 고딕"/>
              </a:rPr>
              <a:t>. </a:t>
            </a:r>
            <a:endParaRPr lang="en-US" altLang="ko-KR" sz="1200">
              <a:ea typeface="맑은 고딕"/>
              <a:cs typeface="맑은 고딕"/>
            </a:endParaRPr>
          </a:p>
          <a:p>
            <a:pPr lvl="0">
              <a:defRPr/>
            </a:pPr>
            <a:r>
              <a:rPr lang="ko-KR" altLang="en-US" sz="1200">
                <a:ea typeface="맑은 고딕"/>
                <a:cs typeface="맑은 고딕"/>
              </a:rPr>
              <a:t>투수별 상대전적은 </a:t>
            </a:r>
            <a:r>
              <a:rPr lang="en-US" altLang="ko-KR" sz="1200">
                <a:ea typeface="맑은 고딕"/>
                <a:cs typeface="맑은 고딕"/>
              </a:rPr>
              <a:t>(</a:t>
            </a:r>
            <a:r>
              <a:rPr lang="ko-KR" altLang="en-US" sz="1200">
                <a:ea typeface="맑은 고딕"/>
                <a:cs typeface="맑은 고딕"/>
              </a:rPr>
              <a:t>상대팀 데이터 </a:t>
            </a:r>
            <a:r>
              <a:rPr lang="en-US" altLang="ko-KR" sz="1200">
                <a:ea typeface="맑은 고딕"/>
                <a:cs typeface="맑은 고딕"/>
              </a:rPr>
              <a:t>+ </a:t>
            </a:r>
            <a:r>
              <a:rPr lang="ko-KR" altLang="en-US" sz="1200">
                <a:ea typeface="맑은 고딕"/>
                <a:cs typeface="맑은 고딕"/>
              </a:rPr>
              <a:t>투수 데이터</a:t>
            </a:r>
            <a:r>
              <a:rPr lang="en-US" altLang="ko-KR" sz="1200">
                <a:ea typeface="맑은 고딕"/>
                <a:cs typeface="맑은 고딕"/>
              </a:rPr>
              <a:t>) / 2 </a:t>
            </a:r>
            <a:r>
              <a:rPr lang="ko-KR" altLang="en-US" sz="1200">
                <a:ea typeface="맑은 고딕"/>
                <a:cs typeface="맑은 고딕"/>
              </a:rPr>
              <a:t>로 채워넣음</a:t>
            </a:r>
            <a:endParaRPr lang="ko-KR" altLang="en-US" sz="1200">
              <a:ea typeface="맑은 고딕"/>
              <a:cs typeface="맑은 고딕"/>
            </a:endParaRPr>
          </a:p>
          <a:p>
            <a:pPr lvl="0">
              <a:defRPr/>
            </a:pPr>
            <a:endParaRPr lang="en-US" altLang="ko-KR" sz="1200">
              <a:ea typeface="맑은 고딕"/>
              <a:cs typeface="맑은 고딕"/>
            </a:endParaRPr>
          </a:p>
          <a:p>
            <a:pPr lvl="0">
              <a:defRPr/>
            </a:pPr>
            <a:r>
              <a:rPr lang="ko-KR" altLang="en-US" sz="1200">
                <a:ea typeface="맑은 고딕"/>
                <a:cs typeface="맑은 고딕"/>
              </a:rPr>
              <a:t>2. 타순 제작 </a:t>
            </a:r>
            <a:r>
              <a:rPr lang="en-US" altLang="ko-KR" sz="1200">
                <a:ea typeface="맑은 고딕"/>
                <a:cs typeface="맑은 고딕"/>
              </a:rPr>
              <a:t>(</a:t>
            </a:r>
            <a:r>
              <a:rPr lang="ko-KR" altLang="en-US" sz="1200">
                <a:ea typeface="맑은 고딕"/>
                <a:cs typeface="맑은 고딕"/>
              </a:rPr>
              <a:t>가중치</a:t>
            </a:r>
            <a:r>
              <a:rPr lang="en-US" altLang="ko-KR" sz="1200">
                <a:ea typeface="맑은 고딕"/>
                <a:cs typeface="맑은 고딕"/>
              </a:rPr>
              <a:t>)</a:t>
            </a:r>
            <a:endParaRPr lang="en-US" altLang="ko-KR" sz="1200">
              <a:ea typeface="맑은 고딕"/>
              <a:cs typeface="맑은 고딕"/>
            </a:endParaRPr>
          </a:p>
          <a:p>
            <a:pPr lvl="0">
              <a:defRPr/>
            </a:pPr>
            <a:r>
              <a:rPr lang="en-US" altLang="ko-KR" sz="1200">
                <a:ea typeface="맑은 고딕"/>
                <a:cs typeface="맑은 고딕"/>
              </a:rPr>
              <a:t>(1) 1</a:t>
            </a:r>
            <a:r>
              <a:rPr lang="ko-KR" altLang="en-US" sz="1200">
                <a:ea typeface="맑은 고딕"/>
                <a:cs typeface="맑은 고딕"/>
              </a:rPr>
              <a:t>번</a:t>
            </a:r>
            <a:r>
              <a:rPr lang="en-US" altLang="ko-KR" sz="1200">
                <a:ea typeface="맑은 고딕"/>
                <a:cs typeface="맑은 고딕"/>
              </a:rPr>
              <a:t>, 2</a:t>
            </a:r>
            <a:r>
              <a:rPr lang="ko-KR" altLang="en-US" sz="1200">
                <a:ea typeface="맑은 고딕"/>
                <a:cs typeface="맑은 고딕"/>
              </a:rPr>
              <a:t>번 </a:t>
            </a:r>
            <a:r>
              <a:rPr lang="en-US" altLang="ko-KR" sz="1200">
                <a:ea typeface="맑은 고딕"/>
                <a:cs typeface="맑은 고딕"/>
              </a:rPr>
              <a:t>: </a:t>
            </a:r>
            <a:r>
              <a:rPr lang="ko-KR" altLang="en-US" sz="1200">
                <a:ea typeface="맑은 고딕"/>
                <a:cs typeface="맑은 고딕"/>
              </a:rPr>
              <a:t>출루율↑</a:t>
            </a:r>
            <a:r>
              <a:rPr lang="en-US" altLang="ko-KR" sz="1200">
                <a:ea typeface="맑은 고딕"/>
                <a:cs typeface="맑은 고딕"/>
              </a:rPr>
              <a:t>, </a:t>
            </a:r>
            <a:r>
              <a:rPr lang="ko-KR" altLang="en-US" sz="1200">
                <a:ea typeface="맑은 고딕"/>
                <a:cs typeface="맑은 고딕"/>
              </a:rPr>
              <a:t>삼진↓</a:t>
            </a:r>
            <a:r>
              <a:rPr lang="en-US" altLang="ko-KR" sz="1200">
                <a:ea typeface="맑은 고딕"/>
                <a:cs typeface="맑은 고딕"/>
              </a:rPr>
              <a:t>, </a:t>
            </a:r>
            <a:r>
              <a:rPr lang="ko-KR" altLang="en-US" sz="1200">
                <a:ea typeface="맑은 고딕"/>
                <a:cs typeface="맑은 고딕"/>
              </a:rPr>
              <a:t>도루 ↑</a:t>
            </a:r>
            <a:endParaRPr lang="ko-KR" altLang="en-US" sz="1200">
              <a:ea typeface="맑은 고딕"/>
              <a:cs typeface="맑은 고딕"/>
            </a:endParaRPr>
          </a:p>
          <a:p>
            <a:pPr lvl="0">
              <a:defRPr/>
            </a:pPr>
            <a:r>
              <a:rPr lang="en-US" altLang="ko-KR" sz="1200">
                <a:ea typeface="맑은 고딕"/>
                <a:cs typeface="맑은 고딕"/>
              </a:rPr>
              <a:t>(2) 3</a:t>
            </a:r>
            <a:r>
              <a:rPr lang="ko-KR" altLang="en-US" sz="1200">
                <a:ea typeface="맑은 고딕"/>
                <a:cs typeface="맑은 고딕"/>
              </a:rPr>
              <a:t>번</a:t>
            </a:r>
            <a:r>
              <a:rPr lang="en-US" altLang="ko-KR" sz="1200">
                <a:ea typeface="맑은 고딕"/>
                <a:cs typeface="맑은 고딕"/>
              </a:rPr>
              <a:t>~5</a:t>
            </a:r>
            <a:r>
              <a:rPr lang="ko-KR" altLang="en-US" sz="1200">
                <a:ea typeface="맑은 고딕"/>
                <a:cs typeface="맑은 고딕"/>
              </a:rPr>
              <a:t>번 </a:t>
            </a:r>
            <a:r>
              <a:rPr lang="en-US" altLang="ko-KR" sz="1200">
                <a:ea typeface="맑은 고딕"/>
                <a:cs typeface="맑은 고딕"/>
              </a:rPr>
              <a:t>:</a:t>
            </a:r>
            <a:r>
              <a:rPr lang="ko-KR" altLang="en-US" sz="1200">
                <a:ea typeface="맑은 고딕"/>
                <a:cs typeface="맑은 고딕"/>
              </a:rPr>
              <a:t> </a:t>
            </a:r>
            <a:r>
              <a:rPr lang="en-US" altLang="ko-KR" sz="1200">
                <a:ea typeface="맑은 고딕"/>
                <a:cs typeface="맑은 고딕"/>
              </a:rPr>
              <a:t>OPS</a:t>
            </a:r>
            <a:r>
              <a:rPr lang="ko-KR" altLang="en-US" sz="1200">
                <a:ea typeface="맑은 고딕"/>
                <a:cs typeface="맑은 고딕"/>
              </a:rPr>
              <a:t> ↑</a:t>
            </a:r>
            <a:r>
              <a:rPr lang="en-US" altLang="ko-KR" sz="1200">
                <a:ea typeface="맑은 고딕"/>
                <a:cs typeface="맑은 고딕"/>
              </a:rPr>
              <a:t>, </a:t>
            </a:r>
            <a:r>
              <a:rPr lang="ko-KR" altLang="en-US" sz="1200">
                <a:ea typeface="맑은 고딕"/>
                <a:cs typeface="맑은 고딕"/>
              </a:rPr>
              <a:t>장타율↑</a:t>
            </a:r>
            <a:endParaRPr lang="ko-KR" altLang="en-US" sz="1200">
              <a:ea typeface="맑은 고딕"/>
              <a:cs typeface="맑은 고딕"/>
            </a:endParaRPr>
          </a:p>
          <a:p>
            <a:pPr lvl="0">
              <a:defRPr/>
            </a:pPr>
            <a:r>
              <a:rPr lang="en-US" altLang="ko-KR" sz="1200">
                <a:ea typeface="맑은 고딕"/>
                <a:cs typeface="맑은 고딕"/>
              </a:rPr>
              <a:t>(3)</a:t>
            </a:r>
            <a:r>
              <a:rPr lang="ko-KR" altLang="en-US" sz="1200">
                <a:ea typeface="맑은 고딕"/>
                <a:cs typeface="맑은 고딕"/>
              </a:rPr>
              <a:t> </a:t>
            </a:r>
            <a:r>
              <a:rPr lang="en-US" altLang="ko-KR" sz="1200">
                <a:ea typeface="맑은 고딕"/>
                <a:cs typeface="맑은 고딕"/>
              </a:rPr>
              <a:t>6</a:t>
            </a:r>
            <a:r>
              <a:rPr lang="ko-KR" altLang="en-US" sz="1200">
                <a:ea typeface="맑은 고딕"/>
                <a:cs typeface="맑은 고딕"/>
              </a:rPr>
              <a:t>번</a:t>
            </a:r>
            <a:r>
              <a:rPr lang="en-US" altLang="ko-KR" sz="1200">
                <a:ea typeface="맑은 고딕"/>
                <a:cs typeface="맑은 고딕"/>
              </a:rPr>
              <a:t>~9</a:t>
            </a:r>
            <a:r>
              <a:rPr lang="ko-KR" altLang="en-US" sz="1200">
                <a:ea typeface="맑은 고딕"/>
                <a:cs typeface="맑은 고딕"/>
              </a:rPr>
              <a:t>번 </a:t>
            </a:r>
            <a:r>
              <a:rPr lang="en-US" altLang="ko-KR" sz="1200">
                <a:ea typeface="맑은 고딕"/>
                <a:cs typeface="맑은 고딕"/>
              </a:rPr>
              <a:t>: </a:t>
            </a:r>
            <a:r>
              <a:rPr lang="ko-KR" altLang="en-US" sz="1200">
                <a:ea typeface="맑은 고딕"/>
                <a:cs typeface="맑은 고딕"/>
              </a:rPr>
              <a:t>특별한 스탯 중요도 없음 </a:t>
            </a:r>
            <a:endParaRPr lang="ko-KR" altLang="en-US" sz="1200">
              <a:ea typeface="맑은 고딕"/>
              <a:cs typeface="맑은 고딕"/>
            </a:endParaRPr>
          </a:p>
          <a:p>
            <a:pPr lvl="0">
              <a:defRPr/>
            </a:pPr>
            <a:r>
              <a:rPr lang="en-US" altLang="ko-KR" sz="1200">
                <a:ea typeface="맑은 고딕"/>
                <a:cs typeface="맑은 고딕"/>
              </a:rPr>
              <a:t>(4)</a:t>
            </a:r>
            <a:r>
              <a:rPr lang="ko-KR" altLang="en-US" sz="1200">
                <a:ea typeface="맑은 고딕"/>
                <a:cs typeface="맑은 고딕"/>
              </a:rPr>
              <a:t> </a:t>
            </a:r>
            <a:r>
              <a:rPr lang="en-US" altLang="ko-KR" sz="1200">
                <a:ea typeface="맑은 고딕"/>
                <a:cs typeface="맑은 고딕"/>
              </a:rPr>
              <a:t>8</a:t>
            </a:r>
            <a:r>
              <a:rPr lang="ko-KR" altLang="en-US" sz="1200">
                <a:ea typeface="맑은 고딕"/>
                <a:cs typeface="맑은 고딕"/>
              </a:rPr>
              <a:t>번 </a:t>
            </a:r>
            <a:r>
              <a:rPr lang="en-US" altLang="ko-KR" sz="1200">
                <a:ea typeface="맑은 고딕"/>
                <a:cs typeface="맑은 고딕"/>
              </a:rPr>
              <a:t>: </a:t>
            </a:r>
            <a:r>
              <a:rPr lang="ko-KR" altLang="en-US" sz="1200">
                <a:ea typeface="맑은 고딕"/>
                <a:cs typeface="맑은 고딕"/>
              </a:rPr>
              <a:t>포수특수 </a:t>
            </a:r>
            <a:r>
              <a:rPr lang="en-US" altLang="ko-KR" sz="1200">
                <a:ea typeface="맑은 고딕"/>
                <a:cs typeface="맑은 고딕"/>
              </a:rPr>
              <a:t>(</a:t>
            </a:r>
            <a:r>
              <a:rPr lang="ko-KR" altLang="en-US" sz="1200">
                <a:ea typeface="맑은 고딕"/>
                <a:cs typeface="맑은 고딕"/>
              </a:rPr>
              <a:t>경기에서 포수가 필요한데</a:t>
            </a:r>
            <a:r>
              <a:rPr lang="en-US" altLang="ko-KR" sz="1200">
                <a:ea typeface="맑은 고딕"/>
                <a:cs typeface="맑은 고딕"/>
              </a:rPr>
              <a:t>, </a:t>
            </a:r>
            <a:r>
              <a:rPr lang="ko-KR" altLang="en-US" sz="1200">
                <a:ea typeface="맑은 고딕"/>
                <a:cs typeface="맑은 고딕"/>
              </a:rPr>
              <a:t>키움과 기아 포수는 스탯이 좋지 않아서 타순 예측에서 많이 빠짐 → 최소한 </a:t>
            </a:r>
            <a:r>
              <a:rPr lang="en-US" altLang="ko-KR" sz="1200">
                <a:ea typeface="맑은 고딕"/>
                <a:cs typeface="맑은 고딕"/>
              </a:rPr>
              <a:t>8</a:t>
            </a:r>
            <a:r>
              <a:rPr lang="ko-KR" altLang="en-US" sz="1200">
                <a:ea typeface="맑은 고딕"/>
                <a:cs typeface="맑은 고딕"/>
              </a:rPr>
              <a:t>번에는 포수가 무조건 들어갈 수 있도록 설정</a:t>
            </a:r>
            <a:r>
              <a:rPr lang="en-US" altLang="ko-KR" sz="1200">
                <a:ea typeface="맑은 고딕"/>
                <a:cs typeface="맑은 고딕"/>
              </a:rPr>
              <a:t>)</a:t>
            </a:r>
            <a:endParaRPr lang="en-US" altLang="ko-KR" sz="1200">
              <a:ea typeface="맑은 고딕"/>
              <a:cs typeface="맑은 고딕"/>
            </a:endParaRPr>
          </a:p>
          <a:p>
            <a:pPr lvl="0">
              <a:defRPr/>
            </a:pPr>
            <a:endParaRPr lang="en-US" altLang="ko-KR" sz="1200">
              <a:ea typeface="맑은 고딕"/>
              <a:cs typeface="맑은 고딕"/>
            </a:endParaRPr>
          </a:p>
          <a:p>
            <a:pPr lvl="0">
              <a:defRPr/>
            </a:pPr>
            <a:r>
              <a:rPr lang="ko-KR" altLang="en-US" sz="1200">
                <a:ea typeface="맑은 고딕"/>
                <a:cs typeface="맑은 고딕"/>
              </a:rPr>
              <a:t>3. 타율</a:t>
            </a:r>
            <a:r>
              <a:rPr lang="en-US" altLang="ko-KR" sz="1200">
                <a:ea typeface="맑은 고딕"/>
                <a:cs typeface="맑은 고딕"/>
              </a:rPr>
              <a:t>,</a:t>
            </a:r>
            <a:r>
              <a:rPr lang="ko-KR" altLang="en-US" sz="1200">
                <a:ea typeface="맑은 고딕"/>
                <a:cs typeface="맑은 고딕"/>
              </a:rPr>
              <a:t> OPS </a:t>
            </a:r>
            <a:r>
              <a:rPr lang="en-US" altLang="ko-KR" sz="1200">
                <a:ea typeface="맑은 고딕"/>
                <a:cs typeface="맑은 고딕"/>
              </a:rPr>
              <a:t>= </a:t>
            </a:r>
            <a:r>
              <a:rPr lang="ko-KR" altLang="en-US" sz="1200">
                <a:ea typeface="맑은 고딕"/>
                <a:cs typeface="맑은 고딕"/>
              </a:rPr>
              <a:t>0.</a:t>
            </a:r>
            <a:r>
              <a:rPr lang="en-US" altLang="ko-KR" sz="1200">
                <a:ea typeface="맑은 고딕"/>
                <a:cs typeface="맑은 고딕"/>
              </a:rPr>
              <a:t>7</a:t>
            </a:r>
            <a:r>
              <a:rPr lang="ko-KR" altLang="en-US" sz="1200">
                <a:ea typeface="맑은 고딕"/>
                <a:cs typeface="맑은 고딕"/>
              </a:rPr>
              <a:t>, 0.</a:t>
            </a:r>
            <a:r>
              <a:rPr lang="en-US" altLang="ko-KR" sz="1200">
                <a:ea typeface="맑은 고딕"/>
                <a:cs typeface="맑은 고딕"/>
              </a:rPr>
              <a:t>3</a:t>
            </a:r>
            <a:r>
              <a:rPr lang="ko-KR" altLang="en-US" sz="1200">
                <a:ea typeface="맑은 고딕"/>
                <a:cs typeface="맑은 고딕"/>
              </a:rPr>
              <a:t>의 가중치 사용해서 출루 확률 계산</a:t>
            </a:r>
            <a:endParaRPr lang="ko-KR" altLang="en-US" sz="1200">
              <a:ea typeface="맑은 고딕"/>
              <a:cs typeface="맑은 고딕"/>
            </a:endParaRPr>
          </a:p>
          <a:p>
            <a:pPr lvl="0">
              <a:defRPr/>
            </a:pPr>
            <a:r>
              <a:rPr lang="en-US" altLang="ko-KR" sz="1200">
                <a:ea typeface="맑은 고딕"/>
                <a:cs typeface="맑은 고딕"/>
              </a:rPr>
              <a:t>(1</a:t>
            </a:r>
            <a:r>
              <a:rPr lang="ko-KR" altLang="en-US" sz="1200">
                <a:ea typeface="맑은 고딕"/>
                <a:cs typeface="맑은 고딕"/>
              </a:rPr>
              <a:t>루타 확률</a:t>
            </a:r>
            <a:r>
              <a:rPr lang="en-US" altLang="ko-KR" sz="1200">
                <a:ea typeface="맑은 고딕"/>
                <a:cs typeface="맑은 고딕"/>
              </a:rPr>
              <a:t>, </a:t>
            </a:r>
            <a:r>
              <a:rPr lang="ko-KR" altLang="en-US" sz="1200">
                <a:ea typeface="맑은 고딕"/>
                <a:cs typeface="맑은 고딕"/>
              </a:rPr>
              <a:t>홈런 확률 등을 나중에 곱하므로 타율에 높은 가중치</a:t>
            </a:r>
            <a:r>
              <a:rPr lang="en-US" altLang="ko-KR" sz="1200">
                <a:ea typeface="맑은 고딕"/>
                <a:cs typeface="맑은 고딕"/>
              </a:rPr>
              <a:t>)</a:t>
            </a:r>
            <a:endParaRPr lang="en-US" altLang="ko-KR" sz="1200">
              <a:ea typeface="맑은 고딕"/>
              <a:cs typeface="맑은 고딕"/>
            </a:endParaRPr>
          </a:p>
          <a:p>
            <a:pPr lvl="0">
              <a:defRPr/>
            </a:pPr>
            <a:endParaRPr lang="ko-KR" altLang="en-US">
              <a:ea typeface="맑은 고딕"/>
              <a:cs typeface="맑은 고딕"/>
            </a:endParaRPr>
          </a:p>
          <a:p>
            <a:pPr>
              <a:defRPr/>
            </a:pPr>
            <a:r>
              <a:rPr lang="ko-KR" altLang="en-US" sz="1200">
                <a:ea typeface="맑은 고딕"/>
                <a:cs typeface="맑은 고딕"/>
              </a:rPr>
              <a:t>4. 아웃 상황</a:t>
            </a:r>
            <a:r>
              <a:rPr lang="en-US" altLang="ko-KR" sz="1200">
                <a:ea typeface="맑은 고딕"/>
                <a:cs typeface="맑은 고딕"/>
              </a:rPr>
              <a:t>,</a:t>
            </a:r>
            <a:r>
              <a:rPr lang="ko-KR" altLang="en-US" sz="1200">
                <a:ea typeface="맑은 고딕"/>
                <a:cs typeface="맑은 고딕"/>
              </a:rPr>
              <a:t> 주자 출루</a:t>
            </a:r>
            <a:r>
              <a:rPr lang="en-US" altLang="ko-KR" sz="1200">
                <a:ea typeface="맑은 고딕"/>
                <a:cs typeface="맑은 고딕"/>
              </a:rPr>
              <a:t>, </a:t>
            </a:r>
            <a:r>
              <a:rPr lang="ko-KR" altLang="en-US" sz="1200">
                <a:ea typeface="맑은 고딕"/>
                <a:cs typeface="맑은 고딕"/>
              </a:rPr>
              <a:t>볼</a:t>
            </a:r>
            <a:r>
              <a:rPr lang="en-US" altLang="ko-KR" sz="1200">
                <a:ea typeface="맑은 고딕"/>
                <a:cs typeface="맑은 고딕"/>
              </a:rPr>
              <a:t>/</a:t>
            </a:r>
            <a:r>
              <a:rPr lang="ko-KR" altLang="en-US" sz="1200">
                <a:ea typeface="맑은 고딕"/>
                <a:cs typeface="맑은 고딕"/>
              </a:rPr>
              <a:t>스트라이크 카운트 </a:t>
            </a:r>
            <a:r>
              <a:rPr lang="en-US" altLang="ko-KR" sz="1200">
                <a:ea typeface="맑은 고딕"/>
                <a:cs typeface="맑은 고딕"/>
              </a:rPr>
              <a:t>= </a:t>
            </a:r>
            <a:r>
              <a:rPr lang="ko-KR" altLang="en-US" sz="1200">
                <a:ea typeface="맑은 고딕"/>
                <a:cs typeface="맑은 고딕"/>
              </a:rPr>
              <a:t>0.</a:t>
            </a:r>
            <a:r>
              <a:rPr lang="en-US" altLang="ko-KR" sz="1200">
                <a:ea typeface="맑은 고딕"/>
                <a:cs typeface="맑은 고딕"/>
              </a:rPr>
              <a:t>1</a:t>
            </a:r>
            <a:r>
              <a:rPr lang="ko-KR" altLang="en-US" sz="1200">
                <a:ea typeface="맑은 고딕"/>
                <a:cs typeface="맑은 고딕"/>
              </a:rPr>
              <a:t>, 0.</a:t>
            </a:r>
            <a:r>
              <a:rPr lang="en-US" altLang="ko-KR" sz="1200">
                <a:ea typeface="맑은 고딕"/>
                <a:cs typeface="맑은 고딕"/>
              </a:rPr>
              <a:t>3</a:t>
            </a:r>
            <a:r>
              <a:rPr lang="ko-KR" altLang="en-US" sz="1200">
                <a:ea typeface="맑은 고딕"/>
                <a:cs typeface="맑은 고딕"/>
              </a:rPr>
              <a:t>, 0.</a:t>
            </a:r>
            <a:r>
              <a:rPr lang="en-US" altLang="ko-KR" sz="1200">
                <a:ea typeface="맑은 고딕"/>
                <a:cs typeface="맑은 고딕"/>
              </a:rPr>
              <a:t>6</a:t>
            </a:r>
            <a:r>
              <a:rPr lang="ko-KR" altLang="en-US" sz="1200">
                <a:ea typeface="맑은 고딕"/>
                <a:cs typeface="맑은 고딕"/>
              </a:rPr>
              <a:t>의 가중치를 부여하여 상황별 데이터를 활용한 확률 계산 </a:t>
            </a:r>
            <a:endParaRPr lang="en-US" altLang="ko-KR" sz="1200">
              <a:ea typeface="맑은 고딕"/>
              <a:cs typeface="맑은 고딕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83;p16"/>
          <p:cNvSpPr txBox="1"/>
          <p:nvPr/>
        </p:nvSpPr>
        <p:spPr>
          <a:xfrm>
            <a:off x="1395559" y="105642"/>
            <a:ext cx="6515475" cy="528707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4.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승부 예측 결과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-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(4)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키움 히어로즈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VS 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기아 타이거즈</a:t>
            </a:r>
            <a:endParaRPr kumimoji="0" lang="ko-KR" altLang="en-US" sz="2000" b="1" i="0" u="none" strike="noStrike" kern="0" cap="none" spc="0" normalizeH="0" baseline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81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890712" y="601751"/>
            <a:ext cx="6824863" cy="9617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83;p16"/>
          <p:cNvSpPr txBox="1"/>
          <p:nvPr/>
        </p:nvSpPr>
        <p:spPr>
          <a:xfrm>
            <a:off x="1408975" y="306875"/>
            <a:ext cx="6515475" cy="52749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4.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승부 예측 결과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-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(4)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키움 히어로즈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VS 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기아 타이거즈</a:t>
            </a:r>
          </a:p>
        </p:txBody>
      </p:sp>
      <p:pic>
        <p:nvPicPr>
          <p:cNvPr id="77" name="그림 7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367774" y="879519"/>
            <a:ext cx="3638147" cy="573914"/>
          </a:xfrm>
          <a:prstGeom prst="rect">
            <a:avLst/>
          </a:prstGeom>
        </p:spPr>
      </p:pic>
      <p:pic>
        <p:nvPicPr>
          <p:cNvPr id="78" name="그림 7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143097" y="854633"/>
            <a:ext cx="3886870" cy="524143"/>
          </a:xfrm>
          <a:prstGeom prst="rect">
            <a:avLst/>
          </a:prstGeom>
        </p:spPr>
      </p:pic>
      <p:pic>
        <p:nvPicPr>
          <p:cNvPr id="79" name="그림 78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343536" y="2305677"/>
            <a:ext cx="4415817" cy="2782713"/>
          </a:xfrm>
          <a:prstGeom prst="rect">
            <a:avLst/>
          </a:prstGeom>
        </p:spPr>
      </p:pic>
      <p:pic>
        <p:nvPicPr>
          <p:cNvPr id="80" name="그림 79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206476" y="2261852"/>
            <a:ext cx="2124075" cy="2672366"/>
          </a:xfrm>
          <a:prstGeom prst="rect">
            <a:avLst/>
          </a:prstGeom>
        </p:spPr>
      </p:pic>
      <p:pic>
        <p:nvPicPr>
          <p:cNvPr id="81" name="그림 80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356172" y="1449745"/>
            <a:ext cx="3041426" cy="8487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직사각형 84"/>
          <p:cNvSpPr/>
          <p:nvPr/>
        </p:nvSpPr>
        <p:spPr>
          <a:xfrm>
            <a:off x="2539552" y="1987789"/>
            <a:ext cx="5339366" cy="2998363"/>
          </a:xfrm>
          <a:prstGeom prst="rect">
            <a:avLst/>
          </a:prstGeom>
          <a:noFill/>
          <a:ln w="25400" cap="flat" cmpd="sng" algn="ctr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1.</a:t>
            </a:r>
            <a:r>
              <a:rPr kumimoji="0" lang="ko-KR" altLang="en-US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 상대투수별 DATA는 대부분이 결측치라 따로 제작하지 않고 </a:t>
            </a:r>
            <a:r>
              <a:rPr kumimoji="0" lang="en-US" altLang="ko-KR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4</a:t>
            </a:r>
            <a:r>
              <a:rPr kumimoji="0" lang="ko-KR" altLang="en-US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개의 데이터만 사용</a:t>
            </a:r>
            <a:r>
              <a:rPr kumimoji="0" lang="en-US" altLang="ko-KR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.</a:t>
            </a:r>
            <a:endParaRPr kumimoji="0" lang="en-US" altLang="ko-KR" sz="1400" b="0" i="0" u="none" strike="noStrike" kern="0" cap="none" spc="0" normalizeH="0" baseline="0">
              <a:solidFill>
                <a:srgbClr val="000000"/>
              </a:solidFill>
              <a:latin typeface="Arial"/>
              <a:ea typeface="맑은 고딕"/>
              <a:cs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ko-KR" altLang="en-US" sz="1400" b="0" i="0" u="none" strike="noStrike" kern="0" cap="none" spc="0" normalizeH="0" baseline="0">
              <a:solidFill>
                <a:srgbClr val="000000"/>
              </a:solidFill>
              <a:latin typeface="Arial"/>
              <a:ea typeface="맑은 고딕"/>
              <a:cs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2.</a:t>
            </a:r>
            <a:r>
              <a:rPr kumimoji="0" lang="ko-KR" altLang="en-US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 결측치 처리 : 이상치에 영향을 덜 받기 위해 평균값보다는 중앙값으로 대체</a:t>
            </a:r>
            <a:endParaRPr kumimoji="0" lang="ko-KR" altLang="en-US" sz="1400" b="0" i="0" u="none" strike="noStrike" kern="0" cap="none" spc="0" normalizeH="0" baseline="0">
              <a:solidFill>
                <a:srgbClr val="000000"/>
              </a:solidFill>
              <a:latin typeface="Arial"/>
              <a:ea typeface="맑은 고딕"/>
              <a:cs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ko-KR" altLang="en-US" sz="1400" b="0" i="0" u="none" strike="noStrike" kern="0" cap="none" spc="0" normalizeH="0" baseline="0">
              <a:solidFill>
                <a:srgbClr val="000000"/>
              </a:solidFill>
              <a:latin typeface="Arial"/>
              <a:ea typeface="맑은 고딕"/>
              <a:cs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3.</a:t>
            </a:r>
            <a:r>
              <a:rPr kumimoji="0" lang="ko-KR" altLang="en-US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 타순 짜기 : 단순하게 타율에는 0.3, OPS에는 0.7의 가중치 설정하여 점수순대로 타자를 나열하고 내림차순으로 타순 배치</a:t>
            </a:r>
            <a:endParaRPr kumimoji="0" lang="ko-KR" altLang="en-US" sz="1400" b="0" i="0" u="none" strike="noStrike" kern="0" cap="none" spc="0" normalizeH="0" baseline="0">
              <a:solidFill>
                <a:srgbClr val="000000"/>
              </a:solidFill>
              <a:latin typeface="Arial"/>
              <a:ea typeface="맑은 고딕"/>
              <a:cs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lang="ko-KR" altLang="en-US" sz="1400" b="0" i="0" u="none" strike="noStrike" kern="0" cap="none" spc="0" normalizeH="0" baseline="0">
              <a:solidFill>
                <a:srgbClr val="000000"/>
              </a:solidFill>
              <a:latin typeface="Arial"/>
              <a:ea typeface="맑은 고딕"/>
              <a:cs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4.</a:t>
            </a:r>
            <a:r>
              <a:rPr kumimoji="0" lang="ko-KR" altLang="en-US" sz="1400" b="0" i="0" u="none" strike="noStrike" kern="0" cap="none" spc="0" normalizeH="0" baseline="0">
                <a:solidFill>
                  <a:srgbClr val="000000"/>
                </a:solidFill>
                <a:latin typeface="Arial"/>
                <a:ea typeface="맑은 고딕"/>
                <a:cs typeface="맑은 고딕"/>
              </a:rPr>
              <a:t> prob hit : 타순과 똑같이 타율에는 0.3, OPS에는 0.7 가중치 설정</a:t>
            </a:r>
            <a:endParaRPr kumimoji="0" lang="ko-KR" altLang="en-US" sz="1400" b="0" i="0" u="none" strike="noStrike" kern="0" cap="none" spc="0" normalizeH="0" baseline="0">
              <a:solidFill>
                <a:srgbClr val="000000"/>
              </a:solidFill>
              <a:latin typeface="Arial"/>
              <a:ea typeface="맑은 고딕"/>
              <a:cs typeface="맑은 고딕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83;p16"/>
          <p:cNvSpPr txBox="1"/>
          <p:nvPr/>
        </p:nvSpPr>
        <p:spPr>
          <a:xfrm>
            <a:off x="1408975" y="306875"/>
            <a:ext cx="6515475" cy="52749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4.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승부 예측 결과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-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(5)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NC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다이노스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VS SSG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랜더스</a:t>
            </a:r>
            <a:endParaRPr kumimoji="0" lang="ko-KR" altLang="en-US" sz="2000" b="1" i="0" u="none" strike="noStrike" kern="0" cap="none" spc="0" normalizeH="0" baseline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87" name=""/>
          <p:cNvPicPr>
            <a:picLocks noChangeAspect="1"/>
          </p:cNvPicPr>
          <p:nvPr/>
        </p:nvPicPr>
        <p:blipFill rotWithShape="1">
          <a:blip r:embed="rId4"/>
          <a:srcRect l="1180" t="150" b="910"/>
          <a:stretch>
            <a:fillRect/>
          </a:stretch>
        </p:blipFill>
        <p:spPr>
          <a:xfrm>
            <a:off x="5070792" y="788647"/>
            <a:ext cx="3681474" cy="1097169"/>
          </a:xfrm>
          <a:prstGeom prst="rect">
            <a:avLst/>
          </a:prstGeom>
        </p:spPr>
      </p:pic>
      <p:pic>
        <p:nvPicPr>
          <p:cNvPr id="86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627366" y="790239"/>
            <a:ext cx="3461868" cy="10991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83;p16"/>
          <p:cNvSpPr txBox="1"/>
          <p:nvPr/>
        </p:nvSpPr>
        <p:spPr>
          <a:xfrm>
            <a:off x="1408975" y="306875"/>
            <a:ext cx="6515475" cy="52749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4.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승부 예측 결과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-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(5)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NC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다이노스 </a:t>
            </a:r>
            <a:r>
              <a:rPr kumimoji="0" lang="en-US" altLang="ko-KR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VS SSG</a:t>
            </a:r>
            <a:r>
              <a:rPr kumimoji="0" lang="ko-KR" altLang="en-US" sz="2000" b="1" i="0" u="none" strike="noStrike" kern="0" cap="none" spc="0" normalizeH="0" baseline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랜더스</a:t>
            </a:r>
          </a:p>
        </p:txBody>
      </p:sp>
      <p:pic>
        <p:nvPicPr>
          <p:cNvPr id="81" name="그림 8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402993" y="816735"/>
            <a:ext cx="3634793" cy="764417"/>
          </a:xfrm>
          <a:prstGeom prst="rect">
            <a:avLst/>
          </a:prstGeom>
        </p:spPr>
      </p:pic>
      <p:pic>
        <p:nvPicPr>
          <p:cNvPr id="82" name="그림 8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123913" y="815460"/>
            <a:ext cx="3671283" cy="769355"/>
          </a:xfrm>
          <a:prstGeom prst="rect">
            <a:avLst/>
          </a:prstGeom>
        </p:spPr>
      </p:pic>
      <p:pic>
        <p:nvPicPr>
          <p:cNvPr id="83" name="그림 82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417614" y="2350394"/>
            <a:ext cx="4365071" cy="2555382"/>
          </a:xfrm>
          <a:prstGeom prst="rect">
            <a:avLst/>
          </a:prstGeom>
        </p:spPr>
      </p:pic>
      <p:pic>
        <p:nvPicPr>
          <p:cNvPr id="84" name="그림 8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152813" y="2250181"/>
            <a:ext cx="2124075" cy="2548139"/>
          </a:xfrm>
          <a:prstGeom prst="rect">
            <a:avLst/>
          </a:prstGeom>
        </p:spPr>
      </p:pic>
      <p:pic>
        <p:nvPicPr>
          <p:cNvPr id="86" name="그림 85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449813" y="1616030"/>
            <a:ext cx="2642316" cy="6404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83;p16"/>
          <p:cNvSpPr txBox="1"/>
          <p:nvPr/>
        </p:nvSpPr>
        <p:spPr>
          <a:xfrm>
            <a:off x="1408975" y="306875"/>
            <a:ext cx="6515475" cy="52749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4.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승부예측 결과 정리 및 한계점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graphicFrame>
        <p:nvGraphicFramePr>
          <p:cNvPr id="81" name=""/>
          <p:cNvGraphicFramePr>
            <a:graphicFrameLocks noGrp="1"/>
          </p:cNvGraphicFramePr>
          <p:nvPr/>
        </p:nvGraphicFramePr>
        <p:xfrm>
          <a:off x="1503877" y="855014"/>
          <a:ext cx="3642834" cy="185420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825660"/>
                <a:gridCol w="1817173"/>
              </a:tblGrid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두산 베어스 </a:t>
                      </a: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(6)</a:t>
                      </a: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 승</a:t>
                      </a:r>
                      <a:endParaRPr lang="ko-KR" altLang="en-US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KT </a:t>
                      </a: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위즈 </a:t>
                      </a: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(5)</a:t>
                      </a: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 패</a:t>
                      </a:r>
                      <a:endParaRPr lang="ko-KR" altLang="en-US">
                        <a:solidFill>
                          <a:schemeClr val="dk1"/>
                        </a:solidFill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b="1"/>
                        <a:t>한화 이글스 </a:t>
                      </a:r>
                      <a:r>
                        <a:rPr lang="en-US" altLang="ko-KR" b="1"/>
                        <a:t>(3)</a:t>
                      </a:r>
                      <a:r>
                        <a:rPr lang="ko-KR" altLang="en-US" b="1"/>
                        <a:t> 패</a:t>
                      </a:r>
                      <a:endParaRPr lang="ko-KR" altLang="en-US" b="1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b="1"/>
                        <a:t>LG</a:t>
                      </a:r>
                      <a:r>
                        <a:rPr lang="ko-KR" altLang="en-US" b="1"/>
                        <a:t> 트윈스 </a:t>
                      </a:r>
                      <a:r>
                        <a:rPr lang="en-US" altLang="ko-KR" b="1"/>
                        <a:t>(7)</a:t>
                      </a:r>
                      <a:r>
                        <a:rPr lang="ko-KR" altLang="en-US" b="1"/>
                        <a:t> 승</a:t>
                      </a:r>
                      <a:endParaRPr lang="ko-KR" altLang="en-US" b="1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6"/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b="1"/>
                        <a:t>롯데 자이언츠 </a:t>
                      </a:r>
                      <a:r>
                        <a:rPr lang="en-US" altLang="ko-KR" b="1"/>
                        <a:t>(5)</a:t>
                      </a:r>
                      <a:r>
                        <a:rPr lang="ko-KR" altLang="en-US" b="1"/>
                        <a:t> 승</a:t>
                      </a:r>
                      <a:endParaRPr lang="ko-KR" altLang="en-US" b="1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b="1"/>
                        <a:t>삼성 라이온즈 </a:t>
                      </a:r>
                      <a:r>
                        <a:rPr lang="en-US" altLang="ko-KR" b="1"/>
                        <a:t>(3)</a:t>
                      </a:r>
                      <a:r>
                        <a:rPr lang="ko-KR" altLang="en-US" b="1"/>
                        <a:t> 패</a:t>
                      </a:r>
                      <a:endParaRPr lang="ko-KR" altLang="en-US" b="1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b="1"/>
                        <a:t>키움 히어로즈 </a:t>
                      </a:r>
                      <a:r>
                        <a:rPr lang="en-US" altLang="ko-KR" b="1"/>
                        <a:t>(4)</a:t>
                      </a:r>
                      <a:r>
                        <a:rPr lang="ko-KR" altLang="en-US" b="1"/>
                        <a:t> 패</a:t>
                      </a:r>
                      <a:endParaRPr lang="ko-KR" altLang="en-US" b="1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b="1"/>
                        <a:t>기아 타이거즈 </a:t>
                      </a:r>
                      <a:r>
                        <a:rPr lang="en-US" altLang="ko-KR" b="1"/>
                        <a:t>(9)</a:t>
                      </a:r>
                      <a:r>
                        <a:rPr lang="ko-KR" altLang="en-US" b="1"/>
                        <a:t> 승</a:t>
                      </a:r>
                      <a:endParaRPr lang="ko-KR" altLang="en-US" b="1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6"/>
                    </a:solidFill>
                  </a:tcPr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b="1"/>
                        <a:t>NC</a:t>
                      </a:r>
                      <a:r>
                        <a:rPr lang="ko-KR" altLang="en-US" b="1"/>
                        <a:t> 다이노스 </a:t>
                      </a:r>
                      <a:r>
                        <a:rPr lang="en-US" altLang="ko-KR" b="1"/>
                        <a:t>(6)</a:t>
                      </a:r>
                      <a:r>
                        <a:rPr lang="ko-KR" altLang="en-US" b="1"/>
                        <a:t> 패</a:t>
                      </a:r>
                      <a:endParaRPr lang="ko-KR" altLang="en-US" b="1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b="1"/>
                        <a:t>SSG </a:t>
                      </a:r>
                      <a:r>
                        <a:rPr lang="ko-KR" altLang="en-US" b="1"/>
                        <a:t>랜더스 </a:t>
                      </a:r>
                      <a:r>
                        <a:rPr lang="en-US" altLang="ko-KR" b="1"/>
                        <a:t>(7)</a:t>
                      </a:r>
                      <a:r>
                        <a:rPr lang="ko-KR" altLang="en-US" b="1"/>
                        <a:t> 승</a:t>
                      </a:r>
                      <a:endParaRPr lang="ko-KR" altLang="en-US" b="1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82" name="TextBox 1"/>
          <p:cNvSpPr txBox="1"/>
          <p:nvPr/>
        </p:nvSpPr>
        <p:spPr>
          <a:xfrm>
            <a:off x="1465387" y="2902900"/>
            <a:ext cx="6854230" cy="247682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300" b="0" i="0" u="none" strike="noStrike" kern="0" cap="none" spc="0" normalizeH="0" baseline="0" mc:Ignorable="hp" hp:hslEmbossed="0">
              <a:solidFill>
                <a:srgbClr val="000000"/>
              </a:solidFill>
              <a:latin typeface="나눔고딕"/>
              <a:ea typeface="나눔고딕"/>
            </a:endParaRPr>
          </a:p>
          <a:p>
            <a:pPr marL="0" marR="0" lvl="0" indent="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고딕"/>
                <a:ea typeface="나눔고딕"/>
              </a:rPr>
              <a:t>1.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고딕"/>
                <a:ea typeface="나눔고딕"/>
              </a:rPr>
              <a:t> 적은 표본의 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고딕"/>
                <a:ea typeface="나눔고딕"/>
              </a:rPr>
              <a:t>DATA</a:t>
            </a:r>
            <a:endParaRPr xmlns:mc="http://schemas.openxmlformats.org/markup-compatibility/2006" xmlns:hp="http://schemas.haansoft.com/office/presentation/8.0" kumimoji="0" lang="en-US" altLang="ko-KR" sz="1600" b="0" i="0" u="none" strike="noStrike" kern="0" cap="none" spc="0" normalizeH="0" baseline="0" mc:Ignorable="hp" hp:hslEmbossed="0">
              <a:solidFill>
                <a:srgbClr val="000000"/>
              </a:solidFill>
              <a:latin typeface="나눔고딕"/>
              <a:ea typeface="나눔고딕"/>
            </a:endParaRPr>
          </a:p>
          <a:p>
            <a:pPr marL="0" marR="0" lvl="0" indent="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600" b="0" i="0" u="none" strike="noStrike" kern="0" cap="none" spc="0" normalizeH="0" baseline="0" mc:Ignorable="hp" hp:hslEmbossed="0">
              <a:solidFill>
                <a:srgbClr val="000000"/>
              </a:solidFill>
              <a:latin typeface="나눔고딕"/>
              <a:ea typeface="나눔고딕"/>
            </a:endParaRPr>
          </a:p>
          <a:p>
            <a:pPr marL="0" marR="0" lvl="0" indent="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고딕"/>
                <a:ea typeface="나눔고딕"/>
              </a:rPr>
              <a:t>2.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고딕"/>
                <a:ea typeface="나눔고딕"/>
              </a:rPr>
              <a:t>더 많은 피처 특성이 존재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<a:solidFill>
                <a:srgbClr val="000000"/>
              </a:solidFill>
              <a:latin typeface="나눔고딕"/>
              <a:ea typeface="나눔고딕"/>
            </a:endParaRPr>
          </a:p>
          <a:p>
            <a:pPr marL="0" marR="0" lvl="0" indent="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<a:solidFill>
                <a:srgbClr val="000000"/>
              </a:solidFill>
              <a:latin typeface="나눔고딕"/>
              <a:ea typeface="나눔고딕"/>
            </a:endParaRPr>
          </a:p>
          <a:p>
            <a:pPr marL="0" marR="0" lvl="0" indent="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고딕"/>
                <a:ea typeface="나눔고딕"/>
              </a:rPr>
              <a:t>3.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고딕"/>
                <a:ea typeface="나눔고딕"/>
              </a:rPr>
              <a:t> 최적의 가중치를 찾는 것에 대한 어려움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<a:solidFill>
                <a:srgbClr val="000000"/>
              </a:solidFill>
              <a:latin typeface="나눔고딕"/>
              <a:ea typeface="나눔고딕"/>
            </a:endParaRPr>
          </a:p>
          <a:p>
            <a:pPr marL="0" marR="0" lvl="0" indent="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<a:solidFill>
                <a:srgbClr val="000000"/>
              </a:solidFill>
              <a:latin typeface="나눔고딕"/>
              <a:ea typeface="나눔고딕"/>
            </a:endParaRPr>
          </a:p>
          <a:p>
            <a:pPr marL="0" marR="0" lvl="0" indent="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고딕"/>
                <a:ea typeface="나눔고딕"/>
              </a:rPr>
              <a:t>4.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고딕"/>
                <a:ea typeface="나눔고딕"/>
              </a:rPr>
              <a:t> 경기 중 발생하는 여러 변수가 존재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<a:solidFill>
                <a:srgbClr val="000000"/>
              </a:solidFill>
              <a:latin typeface="나눔고딕"/>
              <a:ea typeface="나눔고딕"/>
            </a:endParaRPr>
          </a:p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6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6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" name="bandicam_2021-06-26_18-15-01-157.avi_000000900.mp4">
            <a:hlinkClick r:id="" action="ppaction://media"/>
          </p:cNvPr>
          <p:cNvPicPr>
            <a:picLocks noRot="1"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link="rId5"/>
              </p:ext>
            </p:extLst>
          </p:nvPr>
        </p:nvPicPr>
        <p:blipFill rotWithShape="1">
          <a:blip r:embed="rId6"/>
          <a:stretch>
            <a:fillRect/>
          </a:stretch>
        </p:blipFill>
        <p:spPr>
          <a:xfrm>
            <a:off x="2801155" y="1144065"/>
            <a:ext cx="4767598" cy="27088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50000" mute="1">
                <p:cTn id="18" fill="hold" display="0">
                  <p:stCondLst>
                    <p:cond delay="indefinite"/>
                  </p:stCondLst>
                </p:cTn>
                <p:tgtEl>
                  <p:spTgt spid="79"/>
                </p:tgtEl>
              </p:cMediaNode>
            </p:video>
          </p:childTnLst>
        </p:cTn>
      </p:par>
    </p:tnLst>
    <p:bldLst>
      <p:bldP spid="82" grpId="0" animBg="1"/>
    </p:bldLst>
  </p:timing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55;p13"/>
          <p:cNvSpPr txBox="1"/>
          <p:nvPr/>
        </p:nvSpPr>
        <p:spPr>
          <a:xfrm>
            <a:off x="2422513" y="2043433"/>
            <a:ext cx="6654180" cy="1057891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sz="2500" b="1" i="0" u="none" strike="noStrike" kern="0" cap="none" spc="0" normalizeH="0" baseline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이상으로 발표를 마치겠습니다</a:t>
            </a:r>
            <a:r>
              <a:rPr kumimoji="0" lang="en-US" altLang="ko-KR" sz="2500" b="1" i="0" u="none" strike="noStrike" kern="0" cap="none" spc="0" normalizeH="0" baseline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kumimoji="0" lang="en-US" altLang="ko-KR" sz="2500" b="1" i="0" u="none" strike="noStrike" kern="0" cap="none" spc="0" normalizeH="0" baseline="0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sz="2500" b="1" i="0" u="none" strike="noStrike" kern="0" cap="none" spc="0" normalizeH="0" baseline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감사합니다</a:t>
            </a:r>
            <a:r>
              <a:rPr kumimoji="0" lang="en-US" altLang="ko-KR" sz="2500" b="1" i="0" u="none" strike="noStrike" kern="0" cap="none" spc="0" normalizeH="0" baseline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kumimoji="0" lang="en-US" altLang="ko-KR" sz="2500" b="1" i="0" u="none" strike="noStrike" kern="0" cap="none" spc="0" normalizeH="0" baseline="0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1017</ep:Words>
  <ep:PresentationFormat>화면 슬라이드 쇼(16:9)</ep:PresentationFormat>
  <ep:Paragraphs>135</ep:Paragraphs>
  <ep:Slides>29</ep:Slides>
  <ep:Notes>29</ep:Notes>
  <ep:TotalTime>0</ep:TotalTime>
  <ep:HiddenSlides>0</ep:HiddenSlides>
  <ep:MMClips>1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ep:HeadingPairs>
  <ep:TitlesOfParts>
    <vt:vector size="30" baseType="lpstr">
      <vt:lpstr>Simple Light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</cp:lastModifiedBy>
  <dcterms:modified xsi:type="dcterms:W3CDTF">2025-05-27T06:57:49.429</dcterms:modified>
  <cp:revision>71</cp:revision>
  <dc:title>PowerPoint 프레젠테이션</dc:title>
  <cp:version/>
</cp:coreProperties>
</file>