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60" r:id="rId4"/>
    <p:sldId id="261" r:id="rId5"/>
    <p:sldId id="262" r:id="rId6"/>
    <p:sldId id="267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173" autoAdjust="0"/>
  </p:normalViewPr>
  <p:slideViewPr>
    <p:cSldViewPr snapToGrid="0">
      <p:cViewPr varScale="1">
        <p:scale>
          <a:sx n="183" d="100"/>
          <a:sy n="183" d="100"/>
        </p:scale>
        <p:origin x="1164" y="150"/>
      </p:cViewPr>
      <p:guideLst>
        <p:guide orient="horz" pos="1620"/>
        <p:guide pos="2880"/>
      </p:guideLst>
    </p:cSldViewPr>
  </p:slideViewPr>
  <p:notesTextViewPr>
    <p:cViewPr>
      <p:scale>
        <a:sx n="98" d="100"/>
        <a:sy n="98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거의 모든 날짜에서 </a:t>
            </a:r>
            <a:r>
              <a:rPr lang="en-US" altLang="ko-KR" dirty="0" err="1"/>
              <a:t>Y_Class</a:t>
            </a:r>
            <a:r>
              <a:rPr lang="en-US" altLang="ko-KR" dirty="0"/>
              <a:t> == 1</a:t>
            </a:r>
            <a:r>
              <a:rPr lang="ko-KR" altLang="en-US" dirty="0"/>
              <a:t>이 높은 빈도를 보임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/>
              <a:t>Y_Class</a:t>
            </a:r>
            <a:r>
              <a:rPr lang="en-US" altLang="ko-KR" dirty="0"/>
              <a:t> == 0</a:t>
            </a:r>
            <a:r>
              <a:rPr lang="ko-KR" altLang="en-US" dirty="0"/>
              <a:t>은 </a:t>
            </a:r>
            <a:r>
              <a:rPr lang="en-US" altLang="ko-KR" dirty="0"/>
              <a:t>5, 25</a:t>
            </a:r>
            <a:r>
              <a:rPr lang="ko-KR" altLang="en-US" dirty="0"/>
              <a:t>일에 </a:t>
            </a:r>
            <a:r>
              <a:rPr lang="en-US" altLang="ko-KR" dirty="0"/>
              <a:t>20</a:t>
            </a:r>
            <a:r>
              <a:rPr lang="ko-KR" altLang="en-US" dirty="0"/>
              <a:t>일 간격을 두고 높은 빈도를 보임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/>
              <a:t>Y_Class</a:t>
            </a:r>
            <a:r>
              <a:rPr lang="en-US" altLang="ko-KR" dirty="0"/>
              <a:t> == 2</a:t>
            </a:r>
            <a:r>
              <a:rPr lang="ko-KR" altLang="en-US" dirty="0"/>
              <a:t>는 </a:t>
            </a:r>
            <a:r>
              <a:rPr lang="en-US" altLang="ko-KR" dirty="0"/>
              <a:t>3, 13, 24</a:t>
            </a:r>
            <a:r>
              <a:rPr lang="ko-KR" altLang="en-US" dirty="0"/>
              <a:t>일에 </a:t>
            </a:r>
            <a:r>
              <a:rPr lang="en-US" altLang="ko-KR" dirty="0"/>
              <a:t>10</a:t>
            </a:r>
            <a:r>
              <a:rPr lang="ko-KR" altLang="en-US" dirty="0"/>
              <a:t>일 간격으로 높은 빈도를 보임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7, 8, 9, 15, 27</a:t>
            </a:r>
            <a:r>
              <a:rPr lang="ko-KR" altLang="en-US" dirty="0"/>
              <a:t>일에는 </a:t>
            </a:r>
            <a:r>
              <a:rPr lang="en-US" altLang="ko-KR" dirty="0" err="1"/>
              <a:t>Y_Class</a:t>
            </a:r>
            <a:r>
              <a:rPr lang="en-US" altLang="ko-KR" dirty="0"/>
              <a:t> == 2</a:t>
            </a:r>
            <a:r>
              <a:rPr lang="ko-KR" altLang="en-US" dirty="0"/>
              <a:t>가 존재하지 않음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18, 27</a:t>
            </a:r>
            <a:r>
              <a:rPr lang="ko-KR" altLang="en-US" dirty="0"/>
              <a:t>일에는 </a:t>
            </a:r>
            <a:r>
              <a:rPr lang="en-US" altLang="ko-KR" dirty="0" err="1"/>
              <a:t>Y_Class</a:t>
            </a:r>
            <a:r>
              <a:rPr lang="en-US" altLang="ko-KR" dirty="0"/>
              <a:t> == 0</a:t>
            </a:r>
            <a:r>
              <a:rPr lang="ko-KR" altLang="en-US" dirty="0"/>
              <a:t>이 존재하지 않음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3645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이상치가 존재하지 않는 경우 존재</a:t>
            </a:r>
          </a:p>
        </p:txBody>
      </p:sp>
    </p:spTree>
    <p:extLst>
      <p:ext uri="{BB962C8B-B14F-4D97-AF65-F5344CB8AC3E}">
        <p14:creationId xmlns:p14="http://schemas.microsoft.com/office/powerpoint/2010/main" val="2109591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유의수준 </a:t>
            </a:r>
            <a:r>
              <a:rPr lang="en-US" altLang="ko-KR" dirty="0"/>
              <a:t>: 0.05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1526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8631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994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71600" y="744575"/>
            <a:ext cx="7460708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371592" y="2834125"/>
            <a:ext cx="7460708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238250" y="2150850"/>
            <a:ext cx="759405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262063" y="211662"/>
            <a:ext cx="757023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262063" y="952449"/>
            <a:ext cx="3629025" cy="35576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86400" y="952450"/>
            <a:ext cx="3345902" cy="35576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257300" y="115249"/>
            <a:ext cx="776385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" name="Google Shape;7;p1">
            <a:extLst>
              <a:ext uri="{FF2B5EF4-FFF2-40B4-BE49-F238E27FC236}">
                <a16:creationId xmlns:a16="http://schemas.microsoft.com/office/drawing/2014/main" id="{33A3282C-C3FB-751F-D142-758647AB5E86}"/>
              </a:ext>
            </a:extLst>
          </p:cNvPr>
          <p:cNvSpPr txBox="1">
            <a:spLocks noGrp="1"/>
          </p:cNvSpPr>
          <p:nvPr>
            <p:ph idx="1" hasCustomPrompt="1"/>
          </p:nvPr>
        </p:nvSpPr>
        <p:spPr>
          <a:xfrm>
            <a:off x="1257300" y="801232"/>
            <a:ext cx="7763858" cy="4255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  <a:defRPr sz="2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Char char="○"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 panose="020B0604020202020204" pitchFamily="34" charset="0"/>
              <a:buChar char="•"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r>
              <a:rPr lang="en-US" dirty="0"/>
              <a:t>Level-1</a:t>
            </a:r>
          </a:p>
          <a:p>
            <a:pPr lvl="1"/>
            <a:r>
              <a:rPr lang="en-US" dirty="0"/>
              <a:t>Level-2</a:t>
            </a:r>
          </a:p>
          <a:p>
            <a:pPr lvl="2"/>
            <a:r>
              <a:rPr lang="en-US" dirty="0"/>
              <a:t>Level-3</a:t>
            </a:r>
          </a:p>
          <a:p>
            <a:pPr lvl="3"/>
            <a:r>
              <a:rPr lang="en-US" dirty="0"/>
              <a:t>Level-4</a:t>
            </a:r>
          </a:p>
          <a:p>
            <a:pPr lvl="1"/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00150" y="445025"/>
            <a:ext cx="763215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00150" y="1152475"/>
            <a:ext cx="763215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2CC5E03-54BD-8E99-88DD-4FC9E3F2AE4C}"/>
              </a:ext>
            </a:extLst>
          </p:cNvPr>
          <p:cNvGrpSpPr/>
          <p:nvPr userDrawn="1"/>
        </p:nvGrpSpPr>
        <p:grpSpPr>
          <a:xfrm>
            <a:off x="-12" y="-37950"/>
            <a:ext cx="1181112" cy="5219400"/>
            <a:chOff x="-12" y="-37950"/>
            <a:chExt cx="1181112" cy="5219400"/>
          </a:xfrm>
        </p:grpSpPr>
        <p:sp>
          <p:nvSpPr>
            <p:cNvPr id="3" name="Google Shape;80;p16">
              <a:extLst>
                <a:ext uri="{FF2B5EF4-FFF2-40B4-BE49-F238E27FC236}">
                  <a16:creationId xmlns:a16="http://schemas.microsoft.com/office/drawing/2014/main" id="{2ADFFD45-79DA-76DD-10F5-D2EB21E37508}"/>
                </a:ext>
              </a:extLst>
            </p:cNvPr>
            <p:cNvSpPr/>
            <p:nvPr/>
          </p:nvSpPr>
          <p:spPr>
            <a:xfrm>
              <a:off x="0" y="-37950"/>
              <a:ext cx="1181100" cy="5219400"/>
            </a:xfrm>
            <a:prstGeom prst="rect">
              <a:avLst/>
            </a:prstGeom>
            <a:solidFill>
              <a:srgbClr val="192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" name="Google Shape;81;p16">
              <a:extLst>
                <a:ext uri="{FF2B5EF4-FFF2-40B4-BE49-F238E27FC236}">
                  <a16:creationId xmlns:a16="http://schemas.microsoft.com/office/drawing/2014/main" id="{EB63AC1F-9D76-4027-E636-9928807B04B9}"/>
                </a:ext>
              </a:extLst>
            </p:cNvPr>
            <p:cNvCxnSpPr/>
            <p:nvPr/>
          </p:nvCxnSpPr>
          <p:spPr>
            <a:xfrm>
              <a:off x="172875" y="-37950"/>
              <a:ext cx="0" cy="21870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" name="Google Shape;82;p16">
              <a:extLst>
                <a:ext uri="{FF2B5EF4-FFF2-40B4-BE49-F238E27FC236}">
                  <a16:creationId xmlns:a16="http://schemas.microsoft.com/office/drawing/2014/main" id="{7B4C0736-C94F-8AC8-0CF0-982850DB89DC}"/>
                </a:ext>
              </a:extLst>
            </p:cNvPr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 rot="5400000">
              <a:off x="-928700" y="3071650"/>
              <a:ext cx="3038475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Basic </a:t>
            </a:r>
            <a:r>
              <a:rPr lang="ko-KR" altLang="en-US" sz="2500" b="1" dirty="0">
                <a:solidFill>
                  <a:srgbClr val="19264B"/>
                </a:solidFill>
              </a:rPr>
              <a:t>필수 </a:t>
            </a:r>
            <a:r>
              <a:rPr lang="ko" sz="2500" b="1" dirty="0">
                <a:solidFill>
                  <a:srgbClr val="19264B"/>
                </a:solidFill>
              </a:rPr>
              <a:t>스터디 </a:t>
            </a:r>
            <a:r>
              <a:rPr lang="en-US" altLang="ko" sz="2500" b="1" dirty="0">
                <a:solidFill>
                  <a:srgbClr val="19264B"/>
                </a:solidFill>
              </a:rPr>
              <a:t>2</a:t>
            </a:r>
            <a:r>
              <a:rPr lang="ko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5.05.27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정인혁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이곳에 만나서 찍은 사진을 넣어주세요.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(비대면일 경우엔 화면 캡쳐 이용)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얼굴이 나오게 찍어주셔야 합니다:D</a:t>
            </a:r>
            <a:endParaRPr sz="1200"/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137600" y="1820125"/>
            <a:ext cx="22821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1 : </a:t>
            </a:r>
            <a:r>
              <a:rPr lang="ko-KR" altLang="en-US" dirty="0"/>
              <a:t>신승현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 이</a:t>
            </a:r>
            <a:r>
              <a:rPr lang="ko-KR" altLang="en-US" dirty="0"/>
              <a:t>가연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3 : </a:t>
            </a:r>
            <a:r>
              <a:rPr lang="ko-KR" altLang="en-US" dirty="0" err="1"/>
              <a:t>이채린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스터디원</a:t>
            </a:r>
            <a:r>
              <a:rPr lang="ko-KR" altLang="en-US" dirty="0"/>
              <a:t> </a:t>
            </a:r>
            <a:r>
              <a:rPr lang="en-US" altLang="ko-KR" dirty="0"/>
              <a:t>4 : </a:t>
            </a:r>
            <a:r>
              <a:rPr lang="ko-KR" altLang="en-US" dirty="0"/>
              <a:t>이해찬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스터디원</a:t>
            </a:r>
            <a:r>
              <a:rPr lang="ko-KR" altLang="en-US" dirty="0"/>
              <a:t> </a:t>
            </a:r>
            <a:r>
              <a:rPr lang="en-US" altLang="ko-KR" dirty="0"/>
              <a:t>5 : </a:t>
            </a:r>
            <a:r>
              <a:rPr lang="ko-KR" altLang="en-US" dirty="0"/>
              <a:t>정인혁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680BA0-7A44-2525-BF06-C923E6F15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250" y="1262099"/>
            <a:ext cx="4287600" cy="34145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B2374-E35F-0E26-38A0-BE8AF78F8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CB452-8541-CB49-FC79-3CC66DAA4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주제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분석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훈련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35945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8992E8-210A-3551-EE05-83F9692F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7088E2-A439-2F55-2B8E-C6FD57393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DACON </a:t>
            </a:r>
            <a:r>
              <a:rPr lang="ko-KR" altLang="en-US" dirty="0"/>
              <a:t>대회</a:t>
            </a:r>
            <a:endParaRPr lang="en-US" altLang="ko-KR" dirty="0"/>
          </a:p>
          <a:p>
            <a:pPr lvl="1"/>
            <a:r>
              <a:rPr lang="ko-KR" altLang="en-US" dirty="0"/>
              <a:t>스마트 공장의 제어 시스템 구축을 위한 제품 품질 분류 </a:t>
            </a:r>
            <a:r>
              <a:rPr lang="en-US" altLang="ko-KR" dirty="0"/>
              <a:t>AI </a:t>
            </a:r>
            <a:r>
              <a:rPr lang="ko-KR" altLang="en-US" dirty="0"/>
              <a:t>모델 개발</a:t>
            </a:r>
            <a:endParaRPr lang="en-US" altLang="ko-KR" dirty="0"/>
          </a:p>
          <a:p>
            <a:pPr lvl="1"/>
            <a:r>
              <a:rPr lang="ko-KR" altLang="en-US" dirty="0"/>
              <a:t>평가 기준 </a:t>
            </a:r>
            <a:r>
              <a:rPr lang="en-US" altLang="ko-KR" dirty="0"/>
              <a:t>: Macro F1 Score</a:t>
            </a:r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934FAF6-43BA-83CA-9444-8350B8199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278" y="2493609"/>
            <a:ext cx="6845901" cy="125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73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52789-A802-5CE8-B237-BFAF57F67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4BB68-31D1-B75B-83C7-3BBEB6F66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Dataset Info</a:t>
            </a:r>
          </a:p>
          <a:p>
            <a:pPr lvl="1"/>
            <a:r>
              <a:rPr lang="en-US" altLang="ko-KR" dirty="0">
                <a:solidFill>
                  <a:srgbClr val="0070C0"/>
                </a:solidFill>
              </a:rPr>
              <a:t>PRODUCT_ID : </a:t>
            </a:r>
            <a:r>
              <a:rPr lang="ko-KR" altLang="en-US" dirty="0">
                <a:solidFill>
                  <a:srgbClr val="0070C0"/>
                </a:solidFill>
              </a:rPr>
              <a:t>제품의 고유 </a:t>
            </a:r>
            <a:r>
              <a:rPr lang="en-US" altLang="ko-KR" dirty="0">
                <a:solidFill>
                  <a:srgbClr val="0070C0"/>
                </a:solidFill>
              </a:rPr>
              <a:t>ID</a:t>
            </a:r>
          </a:p>
          <a:p>
            <a:pPr lvl="1">
              <a:buClr>
                <a:srgbClr val="002060"/>
              </a:buClr>
            </a:pPr>
            <a:r>
              <a:rPr lang="en-US" altLang="ko-KR" dirty="0" err="1">
                <a:solidFill>
                  <a:srgbClr val="0070C0"/>
                </a:solidFill>
              </a:rPr>
              <a:t>Y_Class</a:t>
            </a:r>
            <a:r>
              <a:rPr lang="en-US" altLang="ko-KR" dirty="0">
                <a:solidFill>
                  <a:srgbClr val="0070C0"/>
                </a:solidFill>
              </a:rPr>
              <a:t> : </a:t>
            </a:r>
            <a:r>
              <a:rPr lang="ko-KR" altLang="en-US" dirty="0">
                <a:solidFill>
                  <a:srgbClr val="0070C0"/>
                </a:solidFill>
              </a:rPr>
              <a:t>제품 품질 상태</a:t>
            </a:r>
            <a:r>
              <a:rPr lang="en-US" altLang="ko-KR" dirty="0">
                <a:solidFill>
                  <a:srgbClr val="0070C0"/>
                </a:solidFill>
              </a:rPr>
              <a:t>(Target)</a:t>
            </a:r>
          </a:p>
          <a:p>
            <a:pPr lvl="2"/>
            <a:r>
              <a:rPr lang="en-US" altLang="ko-KR" dirty="0">
                <a:solidFill>
                  <a:srgbClr val="0070C0"/>
                </a:solidFill>
              </a:rPr>
              <a:t>0 : </a:t>
            </a:r>
            <a:r>
              <a:rPr lang="ko-KR" altLang="en-US" dirty="0">
                <a:solidFill>
                  <a:srgbClr val="0070C0"/>
                </a:solidFill>
              </a:rPr>
              <a:t>적정 기준 미달 </a:t>
            </a:r>
            <a:r>
              <a:rPr lang="en-US" altLang="ko-KR" dirty="0">
                <a:solidFill>
                  <a:srgbClr val="0070C0"/>
                </a:solidFill>
              </a:rPr>
              <a:t>(</a:t>
            </a:r>
            <a:r>
              <a:rPr lang="ko-KR" altLang="en-US" dirty="0">
                <a:solidFill>
                  <a:srgbClr val="0070C0"/>
                </a:solidFill>
              </a:rPr>
              <a:t>부적합</a:t>
            </a:r>
            <a:r>
              <a:rPr lang="en-US" altLang="ko-KR" dirty="0">
                <a:solidFill>
                  <a:srgbClr val="0070C0"/>
                </a:solidFill>
              </a:rPr>
              <a:t>)</a:t>
            </a:r>
          </a:p>
          <a:p>
            <a:pPr lvl="2"/>
            <a:r>
              <a:rPr lang="en-US" altLang="ko-KR" dirty="0">
                <a:solidFill>
                  <a:srgbClr val="0070C0"/>
                </a:solidFill>
              </a:rPr>
              <a:t>1 : </a:t>
            </a:r>
            <a:r>
              <a:rPr lang="ko-KR" altLang="en-US" dirty="0">
                <a:solidFill>
                  <a:srgbClr val="0070C0"/>
                </a:solidFill>
              </a:rPr>
              <a:t>적합</a:t>
            </a:r>
            <a:endParaRPr lang="en-US" altLang="ko-KR" dirty="0">
              <a:solidFill>
                <a:srgbClr val="0070C0"/>
              </a:solidFill>
            </a:endParaRPr>
          </a:p>
          <a:p>
            <a:pPr lvl="2"/>
            <a:r>
              <a:rPr lang="en-US" altLang="ko-KR" dirty="0">
                <a:solidFill>
                  <a:srgbClr val="0070C0"/>
                </a:solidFill>
              </a:rPr>
              <a:t>2 : </a:t>
            </a:r>
            <a:r>
              <a:rPr lang="ko-KR" altLang="en-US" dirty="0">
                <a:solidFill>
                  <a:srgbClr val="0070C0"/>
                </a:solidFill>
              </a:rPr>
              <a:t>적정 기준 초과 </a:t>
            </a:r>
            <a:r>
              <a:rPr lang="en-US" altLang="ko-KR" dirty="0">
                <a:solidFill>
                  <a:srgbClr val="0070C0"/>
                </a:solidFill>
              </a:rPr>
              <a:t>(</a:t>
            </a:r>
            <a:r>
              <a:rPr lang="ko-KR" altLang="en-US" dirty="0">
                <a:solidFill>
                  <a:srgbClr val="0070C0"/>
                </a:solidFill>
              </a:rPr>
              <a:t>부적합</a:t>
            </a:r>
            <a:r>
              <a:rPr lang="en-US" altLang="ko-KR" dirty="0">
                <a:solidFill>
                  <a:srgbClr val="0070C0"/>
                </a:solidFill>
              </a:rPr>
              <a:t>)</a:t>
            </a:r>
          </a:p>
          <a:p>
            <a:pPr lvl="1"/>
            <a:r>
              <a:rPr lang="en-US" altLang="ko-KR" dirty="0" err="1">
                <a:solidFill>
                  <a:srgbClr val="0070C0"/>
                </a:solidFill>
              </a:rPr>
              <a:t>Y_Quality</a:t>
            </a:r>
            <a:r>
              <a:rPr lang="en-US" altLang="ko-KR" dirty="0">
                <a:solidFill>
                  <a:srgbClr val="0070C0"/>
                </a:solidFill>
              </a:rPr>
              <a:t> : </a:t>
            </a:r>
            <a:r>
              <a:rPr lang="ko-KR" altLang="en-US" dirty="0">
                <a:solidFill>
                  <a:srgbClr val="0070C0"/>
                </a:solidFill>
              </a:rPr>
              <a:t>제품 품질 관련 정량적 수치</a:t>
            </a:r>
            <a:endParaRPr lang="en-US" altLang="ko-KR" dirty="0">
              <a:solidFill>
                <a:srgbClr val="0070C0"/>
              </a:solidFill>
            </a:endParaRPr>
          </a:p>
          <a:p>
            <a:pPr lvl="1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TIMESTAMP :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제품이 공정에 들어간 시각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LINE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제품이 들어간 공정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LINE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종류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PRODUCT_CODE :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제품의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CODE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번호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X_1 ~ X_2875 :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공정 과정에서 추출되어 </a:t>
            </a:r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비식별화된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변수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220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CD199-B8E2-9896-F1F2-0D3AD938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B8409C-6CFB-D097-46D1-54734FD29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Dataset Info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F9A0F9-4A89-B26E-A96C-AEE1A46D5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126" y="2481280"/>
            <a:ext cx="7524206" cy="89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55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13833-AD6B-F7AA-83BA-0060A8815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5F39D9-3A82-797C-91C6-D96F3ABB1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Correlation with </a:t>
            </a:r>
            <a:r>
              <a:rPr lang="en-US" altLang="ko-KR" dirty="0" err="1"/>
              <a:t>Y_Class</a:t>
            </a:r>
            <a:r>
              <a:rPr lang="en-US" altLang="ko-KR" dirty="0"/>
              <a:t> and </a:t>
            </a:r>
            <a:r>
              <a:rPr lang="en-US" altLang="ko-KR" dirty="0" err="1"/>
              <a:t>Y_Quality</a:t>
            </a:r>
            <a:endParaRPr lang="en-US" altLang="ko-KR" dirty="0"/>
          </a:p>
          <a:p>
            <a:pPr marL="596900" lvl="1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71668E-F744-AA4E-7CD7-1686D8624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99" y="1591458"/>
            <a:ext cx="6955025" cy="286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6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72057-E977-9989-F40D-D3932F80A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D49F3A-B872-073E-F6FE-2DFEAAA7D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Distribution of </a:t>
            </a:r>
            <a:r>
              <a:rPr lang="en-US" altLang="ko-KR" dirty="0" err="1"/>
              <a:t>Y_Class</a:t>
            </a:r>
            <a:r>
              <a:rPr lang="en-US" altLang="ko-KR" dirty="0"/>
              <a:t> over Month</a:t>
            </a:r>
          </a:p>
          <a:p>
            <a:pPr lvl="1"/>
            <a:r>
              <a:rPr lang="ko-KR" altLang="en-US" dirty="0"/>
              <a:t>약간의 분포 차이는 보이나</a:t>
            </a:r>
            <a:r>
              <a:rPr lang="en-US" altLang="ko-KR" dirty="0"/>
              <a:t>, </a:t>
            </a:r>
            <a:r>
              <a:rPr lang="ko-KR" altLang="en-US" dirty="0"/>
              <a:t>크게 의미가 있다고 판단하기 어려움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F4897C-880D-D0EA-12AB-42CFFAC8C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381" y="1617686"/>
            <a:ext cx="5253038" cy="355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98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EF115-B00E-4EDD-6981-7876DAF88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3EF3102-ACBF-C1D1-3DEE-6701E85C6C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Distribution of </a:t>
                </a:r>
                <a:r>
                  <a:rPr lang="en-US" altLang="ko-KR" dirty="0" err="1"/>
                  <a:t>Y_Class</a:t>
                </a:r>
                <a:r>
                  <a:rPr lang="en-US" altLang="ko-KR" dirty="0"/>
                  <a:t> over Day</a:t>
                </a:r>
              </a:p>
              <a:p>
                <a:pPr lvl="1"/>
                <a:r>
                  <a:rPr lang="ko-KR" altLang="en-US" dirty="0"/>
                  <a:t>날짜에 따라 다른 분포를 보임</a:t>
                </a:r>
                <a:endParaRPr lang="en-US" altLang="ko-KR" dirty="0"/>
              </a:p>
              <a:p>
                <a:pPr marL="596900" lvl="1" indent="0">
                  <a:buNone/>
                </a:pPr>
                <a:r>
                  <a:rPr lang="en-US" altLang="ko-KR" dirty="0"/>
                  <a:t>	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클</m:t>
                    </m:r>
                  </m:oMath>
                </a14:m>
                <a:r>
                  <a:rPr lang="ko-KR" altLang="en-US" dirty="0"/>
                  <a:t>래스 분포와 날짜 간 연관성이 있을 수 있음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3EF3102-ACBF-C1D1-3DEE-6701E85C6C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9BB9FB2E-E872-7570-6C90-933D374BA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720" y="1852007"/>
            <a:ext cx="4731281" cy="329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0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AC79A-9B99-0CAE-EE75-ADF751CD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62EA4A-1EEA-8900-D700-A7151D767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Distribution of </a:t>
            </a:r>
            <a:r>
              <a:rPr lang="en-US" altLang="ko-KR" dirty="0" err="1"/>
              <a:t>Y_Class</a:t>
            </a:r>
            <a:r>
              <a:rPr lang="en-US" altLang="ko-KR" dirty="0"/>
              <a:t> over Minute</a:t>
            </a:r>
          </a:p>
          <a:p>
            <a:pPr lvl="1"/>
            <a:r>
              <a:rPr lang="ko-KR" altLang="en-US" dirty="0"/>
              <a:t>분에 따라 다른 분포를 보임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1E2E1B-E8ED-BF94-4BB8-20E4B9ED9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385" y="1952364"/>
            <a:ext cx="7435688" cy="195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63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90384-5121-C88C-D048-718799D03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54C2D8-A17B-9DDD-9FF1-F34AA47FB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Distribution of </a:t>
            </a:r>
            <a:r>
              <a:rPr lang="en-US" altLang="ko-KR" dirty="0" err="1"/>
              <a:t>Y_Class</a:t>
            </a:r>
            <a:r>
              <a:rPr lang="en-US" altLang="ko-KR" dirty="0"/>
              <a:t> over Hour</a:t>
            </a:r>
          </a:p>
          <a:p>
            <a:pPr lvl="1"/>
            <a:r>
              <a:rPr lang="ko-KR" altLang="en-US" dirty="0"/>
              <a:t>약간의 분포 차이가 존재하나</a:t>
            </a:r>
            <a:r>
              <a:rPr lang="en-US" altLang="ko-KR" dirty="0"/>
              <a:t>, </a:t>
            </a:r>
            <a:r>
              <a:rPr lang="ko-KR" altLang="en-US" dirty="0"/>
              <a:t>특정 시간대에 이상치</a:t>
            </a:r>
            <a:r>
              <a:rPr lang="en-US" altLang="ko-KR" dirty="0"/>
              <a:t>’</a:t>
            </a:r>
            <a:r>
              <a:rPr lang="ko-KR" altLang="en-US" dirty="0"/>
              <a:t>만</a:t>
            </a:r>
            <a:r>
              <a:rPr lang="en-US" altLang="ko-KR" dirty="0"/>
              <a:t>’ </a:t>
            </a:r>
            <a:r>
              <a:rPr lang="ko-KR" altLang="en-US" dirty="0"/>
              <a:t>발생한다고 보기 어려움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AA9122-82A2-A959-D630-D791D6C68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488" y="2101697"/>
            <a:ext cx="6625481" cy="273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0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06EAE7-840E-8053-50F8-197D851E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15DD6-B6C2-6F7D-930F-9E838A6E7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Distribution of</a:t>
            </a:r>
            <a:r>
              <a:rPr lang="ko-KR" altLang="en-US" dirty="0"/>
              <a:t> </a:t>
            </a:r>
            <a:r>
              <a:rPr lang="en-US" altLang="ko-KR" dirty="0" err="1"/>
              <a:t>Y_Class</a:t>
            </a:r>
            <a:r>
              <a:rPr lang="en-US" altLang="ko-KR" dirty="0"/>
              <a:t> in AM vs PM</a:t>
            </a:r>
          </a:p>
          <a:p>
            <a:pPr lvl="1"/>
            <a:r>
              <a:rPr lang="ko-KR" altLang="en-US" dirty="0"/>
              <a:t>오전과 오후의 분포가 거의 동일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4EA90D-663F-858E-B787-CE5CF3632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325" y="1664057"/>
            <a:ext cx="4661807" cy="339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5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9DF09-7AC3-943D-6F70-1ACF0C1B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7366830-1109-44F9-D4C9-D84FC55E1B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TIMESTAMP</a:t>
                </a:r>
                <a:r>
                  <a:rPr lang="ko-KR" altLang="en-US" dirty="0"/>
                  <a:t>에 대한 </a:t>
                </a:r>
                <a:r>
                  <a:rPr lang="ko-KR" altLang="en-US" dirty="0" err="1"/>
                  <a:t>카이제곱</a:t>
                </a:r>
                <a:r>
                  <a:rPr lang="ko-KR" altLang="en-US" dirty="0"/>
                  <a:t> 독립성 검정 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귀무가설</a:t>
                </a:r>
                <a:r>
                  <a:rPr lang="en-US" altLang="ko-K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/>
                  <a:t>) : </a:t>
                </a:r>
                <a:r>
                  <a:rPr lang="ko-KR" altLang="en-US" dirty="0"/>
                  <a:t>시간 변수와 </a:t>
                </a:r>
                <a:r>
                  <a:rPr lang="en-US" altLang="ko-KR" dirty="0" err="1"/>
                  <a:t>Y_Class</a:t>
                </a:r>
                <a:r>
                  <a:rPr lang="ko-KR" altLang="en-US" dirty="0"/>
                  <a:t>는 독립이다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관계 </a:t>
                </a:r>
                <a:r>
                  <a:rPr lang="en-US" altLang="ko-KR" dirty="0"/>
                  <a:t>X)</a:t>
                </a:r>
              </a:p>
              <a:p>
                <a:pPr lvl="1"/>
                <a:r>
                  <a:rPr lang="ko-KR" altLang="en-US" dirty="0"/>
                  <a:t>대립가설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) : </a:t>
                </a:r>
                <a:r>
                  <a:rPr lang="ko-KR" altLang="en-US" dirty="0"/>
                  <a:t>시간 변수와 </a:t>
                </a:r>
                <a:r>
                  <a:rPr lang="en-US" altLang="ko-KR" dirty="0" err="1"/>
                  <a:t>Y_Class</a:t>
                </a:r>
                <a:r>
                  <a:rPr lang="ko-KR" altLang="en-US" dirty="0"/>
                  <a:t>는 독립이 아니다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관계 </a:t>
                </a:r>
                <a:r>
                  <a:rPr lang="en-US" altLang="ko-KR" dirty="0"/>
                  <a:t>O)</a:t>
                </a:r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7366830-1109-44F9-D4C9-D84FC55E1B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4EC3099F-BA5D-A83D-088E-28D0B7AA2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3129" y="1980655"/>
            <a:ext cx="6172200" cy="1600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69C771-4490-A70B-E278-63D3FFEFAAEA}"/>
                  </a:ext>
                </a:extLst>
              </p:cNvPr>
              <p:cNvSpPr txBox="1"/>
              <p:nvPr/>
            </p:nvSpPr>
            <p:spPr>
              <a:xfrm>
                <a:off x="2952506" y="3782965"/>
                <a:ext cx="437344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Month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와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Day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는 </a:t>
                </a:r>
                <a:r>
                  <a:rPr lang="en-US" altLang="ko-KR" dirty="0" err="1">
                    <a:solidFill>
                      <a:srgbClr val="FF0000"/>
                    </a:solidFill>
                  </a:rPr>
                  <a:t>Y_Class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와 유의미한 관계가 있음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!</a:t>
                </a:r>
              </a:p>
              <a:p>
                <a:endParaRPr lang="en-US" altLang="ko-KR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Hour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와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Minute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은 </a:t>
                </a:r>
                <a:r>
                  <a:rPr lang="en-US" altLang="ko-KR" dirty="0" err="1">
                    <a:solidFill>
                      <a:srgbClr val="FF0000"/>
                    </a:solidFill>
                  </a:rPr>
                  <a:t>Y_Class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와 유의미한 관계가 없음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!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69C771-4490-A70B-E278-63D3FFEFA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506" y="3782965"/>
                <a:ext cx="4373445" cy="738664"/>
              </a:xfrm>
              <a:prstGeom prst="rect">
                <a:avLst/>
              </a:prstGeom>
              <a:blipFill>
                <a:blip r:embed="rId5"/>
                <a:stretch>
                  <a:fillRect t="-2479" r="-1532" b="-7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765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982ED-9F00-A500-67AA-FF20F5A6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3124B8-8EF9-3587-5710-0037F0AEA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Distribution of </a:t>
            </a:r>
            <a:r>
              <a:rPr lang="en-US" altLang="ko-KR" dirty="0" err="1"/>
              <a:t>Y_Class</a:t>
            </a:r>
            <a:r>
              <a:rPr lang="en-US" altLang="ko-KR" dirty="0"/>
              <a:t> over PRODUCT_CODE</a:t>
            </a:r>
          </a:p>
          <a:p>
            <a:pPr lvl="1"/>
            <a:r>
              <a:rPr lang="en-US" altLang="ko-KR" dirty="0"/>
              <a:t>PRODUCT_CODE</a:t>
            </a:r>
            <a:r>
              <a:rPr lang="ko-KR" altLang="en-US" dirty="0"/>
              <a:t>에 따라 </a:t>
            </a:r>
            <a:r>
              <a:rPr lang="en-US" altLang="ko-KR" dirty="0" err="1"/>
              <a:t>Y_Class</a:t>
            </a:r>
            <a:r>
              <a:rPr lang="en-US" altLang="ko-KR" dirty="0"/>
              <a:t> </a:t>
            </a:r>
            <a:r>
              <a:rPr lang="ko-KR" altLang="en-US" dirty="0"/>
              <a:t>분포에 차이가 있음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2AA874-4751-EFD6-9D70-4C6C108FC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813" y="1589475"/>
            <a:ext cx="6656832" cy="330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16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A9F4F-A32F-CEBB-D4FB-586F20333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DFE862B-8B8E-A377-52A2-042E0D08E3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LINE, PRODUCT_CODE</a:t>
                </a:r>
                <a:r>
                  <a:rPr lang="ko-KR" altLang="en-US" dirty="0"/>
                  <a:t>에 대한 </a:t>
                </a:r>
                <a:r>
                  <a:rPr lang="ko-KR" altLang="en-US" dirty="0" err="1"/>
                  <a:t>카이제곱</a:t>
                </a:r>
                <a:r>
                  <a:rPr lang="ko-KR" altLang="en-US" dirty="0"/>
                  <a:t> 독립성 검정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귀무가설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/>
                  <a:t>) : </a:t>
                </a:r>
                <a:r>
                  <a:rPr lang="ko-KR" altLang="en-US" dirty="0"/>
                  <a:t>대상 변수와 </a:t>
                </a:r>
                <a:r>
                  <a:rPr lang="en-US" altLang="ko-KR" dirty="0" err="1"/>
                  <a:t>Y_Class</a:t>
                </a:r>
                <a:r>
                  <a:rPr lang="ko-KR" altLang="en-US" dirty="0"/>
                  <a:t>는 독립이다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관계 </a:t>
                </a:r>
                <a:r>
                  <a:rPr lang="en-US" altLang="ko-KR" dirty="0"/>
                  <a:t>X)</a:t>
                </a:r>
              </a:p>
              <a:p>
                <a:pPr lvl="1"/>
                <a:r>
                  <a:rPr lang="ko-KR" altLang="en-US" dirty="0"/>
                  <a:t>대립가설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) : </a:t>
                </a:r>
                <a:r>
                  <a:rPr lang="ko-KR" altLang="en-US" dirty="0"/>
                  <a:t>대상 변수와 </a:t>
                </a:r>
                <a:r>
                  <a:rPr lang="en-US" altLang="ko-KR" dirty="0" err="1"/>
                  <a:t>Y_Class</a:t>
                </a:r>
                <a:r>
                  <a:rPr lang="ko-KR" altLang="en-US" dirty="0"/>
                  <a:t>는 독립이 아니다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관계 </a:t>
                </a:r>
                <a:r>
                  <a:rPr lang="en-US" altLang="ko-KR" dirty="0"/>
                  <a:t>O)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DFE862B-8B8E-A377-52A2-042E0D08E3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2DC8B466-2B88-4912-B4CA-B2550E19F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540" y="1922798"/>
            <a:ext cx="3426590" cy="22996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6CAF6B-6B64-3606-EC30-03775907DED5}"/>
                  </a:ext>
                </a:extLst>
              </p:cNvPr>
              <p:cNvSpPr txBox="1"/>
              <p:nvPr/>
            </p:nvSpPr>
            <p:spPr>
              <a:xfrm>
                <a:off x="2500531" y="4342268"/>
                <a:ext cx="52773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LINE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과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PRODUCT_CODE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모두 유의한 영향을 미치는 변수임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!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6CAF6B-6B64-3606-EC30-03775907D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531" y="4342268"/>
                <a:ext cx="5277395" cy="307777"/>
              </a:xfrm>
              <a:prstGeom prst="rect">
                <a:avLst/>
              </a:prstGeom>
              <a:blipFill>
                <a:blip r:embed="rId5"/>
                <a:stretch>
                  <a:fillRect t="-3922" r="-1386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051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2F4E2D-1F71-75C8-8340-9DDABDC1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9EF13-F911-68DB-9A8F-DE366B5BB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Distribution of </a:t>
            </a:r>
            <a:r>
              <a:rPr lang="en-US" altLang="ko-KR" dirty="0" err="1"/>
              <a:t>Y_Class</a:t>
            </a:r>
            <a:r>
              <a:rPr lang="en-US" altLang="ko-KR" dirty="0"/>
              <a:t> over LINE_PRODUCT_LABEL</a:t>
            </a:r>
          </a:p>
          <a:p>
            <a:pPr lvl="1"/>
            <a:r>
              <a:rPr lang="ko-KR" altLang="en-US" dirty="0"/>
              <a:t>특정 </a:t>
            </a:r>
            <a:r>
              <a:rPr lang="en-US" altLang="ko-KR" dirty="0"/>
              <a:t>LINE</a:t>
            </a:r>
            <a:r>
              <a:rPr lang="ko-KR" altLang="en-US" dirty="0"/>
              <a:t>과 </a:t>
            </a:r>
            <a:r>
              <a:rPr lang="en-US" altLang="ko-KR" dirty="0"/>
              <a:t>PRODUCT_CODE </a:t>
            </a:r>
            <a:r>
              <a:rPr lang="ko-KR" altLang="en-US" dirty="0"/>
              <a:t>조합에 따라 분포가 큰 차이를 보임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E994232-1492-C7E1-999F-3B8CBD730F55}"/>
              </a:ext>
            </a:extLst>
          </p:cNvPr>
          <p:cNvGrpSpPr/>
          <p:nvPr/>
        </p:nvGrpSpPr>
        <p:grpSpPr>
          <a:xfrm>
            <a:off x="3137565" y="1677272"/>
            <a:ext cx="4003327" cy="3291839"/>
            <a:chOff x="3033471" y="1494391"/>
            <a:chExt cx="4334778" cy="364910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E88E4FB-AD03-83D8-9DDD-68A470968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33471" y="1494391"/>
              <a:ext cx="2105758" cy="364910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E4E8C11-7855-1DC3-653F-241B1A2DA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30276" y="1494391"/>
              <a:ext cx="2137973" cy="35949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4484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A086CB-20B9-89F4-622F-BFE20E6F8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E185791-D67C-58E2-E714-3D4E3EFAA1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LINE_PRODUCT_CODE</a:t>
                </a:r>
                <a:r>
                  <a:rPr lang="ko-KR" altLang="en-US" dirty="0"/>
                  <a:t>와 </a:t>
                </a:r>
                <a:r>
                  <a:rPr lang="en-US" altLang="ko-KR" dirty="0" err="1"/>
                  <a:t>Y_Class</a:t>
                </a:r>
                <a:r>
                  <a:rPr lang="ko-KR" altLang="en-US" dirty="0"/>
                  <a:t>의 </a:t>
                </a:r>
                <a:r>
                  <a:rPr lang="ko-KR" altLang="en-US" dirty="0" err="1"/>
                  <a:t>카이제곱</a:t>
                </a:r>
                <a:r>
                  <a:rPr lang="ko-KR" altLang="en-US" dirty="0"/>
                  <a:t> 독립성 검정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귀무가설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/>
                  <a:t>) : </a:t>
                </a:r>
                <a:r>
                  <a:rPr lang="ko-KR" altLang="en-US" dirty="0"/>
                  <a:t>대상 변수와 </a:t>
                </a:r>
                <a:r>
                  <a:rPr lang="en-US" altLang="ko-KR" dirty="0" err="1"/>
                  <a:t>Y_Class</a:t>
                </a:r>
                <a:r>
                  <a:rPr lang="ko-KR" altLang="en-US" dirty="0"/>
                  <a:t>는 독립이다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관계 </a:t>
                </a:r>
                <a:r>
                  <a:rPr lang="en-US" altLang="ko-KR" dirty="0"/>
                  <a:t>X)</a:t>
                </a:r>
              </a:p>
              <a:p>
                <a:pPr lvl="1"/>
                <a:r>
                  <a:rPr lang="ko-KR" altLang="en-US" dirty="0"/>
                  <a:t>대립가설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) : </a:t>
                </a:r>
                <a:r>
                  <a:rPr lang="ko-KR" altLang="en-US" dirty="0"/>
                  <a:t>대상 변수와 </a:t>
                </a:r>
                <a:r>
                  <a:rPr lang="en-US" altLang="ko-KR" dirty="0" err="1"/>
                  <a:t>Y_Class</a:t>
                </a:r>
                <a:r>
                  <a:rPr lang="ko-KR" altLang="en-US" dirty="0"/>
                  <a:t>는 독립이 아니다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관계 </a:t>
                </a:r>
                <a:r>
                  <a:rPr lang="en-US" altLang="ko-KR" dirty="0"/>
                  <a:t>O)</a:t>
                </a:r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E185791-D67C-58E2-E714-3D4E3EFAA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F1CBD74E-A127-A232-B482-DB7B351DB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741" y="2043493"/>
            <a:ext cx="5514975" cy="1495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0F1FD5-5E09-C1B6-C55F-09ED75810669}"/>
                  </a:ext>
                </a:extLst>
              </p:cNvPr>
              <p:cNvSpPr txBox="1"/>
              <p:nvPr/>
            </p:nvSpPr>
            <p:spPr>
              <a:xfrm>
                <a:off x="2654672" y="4107135"/>
                <a:ext cx="496911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LINE_PRODUCT_LABEL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이 유의한 영향을 미치는 변수임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!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0F1FD5-5E09-C1B6-C55F-09ED75810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672" y="4107135"/>
                <a:ext cx="4969111" cy="307777"/>
              </a:xfrm>
              <a:prstGeom prst="rect">
                <a:avLst/>
              </a:prstGeom>
              <a:blipFill>
                <a:blip r:embed="rId4"/>
                <a:stretch>
                  <a:fillRect t="-6000" r="-123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3249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76222-7363-5C63-8117-139A12BB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048C7C1-499F-3BE5-4F9B-B6EFBCCDE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007" y="827390"/>
            <a:ext cx="7212657" cy="305982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8BAC75-D43B-D491-19C4-D10FC0686CDB}"/>
              </a:ext>
            </a:extLst>
          </p:cNvPr>
          <p:cNvSpPr txBox="1"/>
          <p:nvPr/>
        </p:nvSpPr>
        <p:spPr>
          <a:xfrm>
            <a:off x="3384912" y="4246115"/>
            <a:ext cx="3500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결측치에</a:t>
            </a:r>
            <a:r>
              <a:rPr lang="ko-KR" altLang="en-US" dirty="0">
                <a:solidFill>
                  <a:srgbClr val="FF0000"/>
                </a:solidFill>
              </a:rPr>
              <a:t> 일정한 패턴이 존재한다고 판단</a:t>
            </a:r>
            <a:r>
              <a:rPr lang="en-US" altLang="ko-KR" dirty="0">
                <a:solidFill>
                  <a:srgbClr val="FF0000"/>
                </a:solidFill>
              </a:rPr>
              <a:t>!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428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D35CBB-D895-0A0C-6FF0-3AC4FBE1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EA7D87-F42C-9806-D4D8-2423FEEA0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LINE_PRODUCT </a:t>
            </a:r>
            <a:r>
              <a:rPr lang="ko-KR" altLang="en-US" dirty="0"/>
              <a:t>조합별 </a:t>
            </a:r>
            <a:r>
              <a:rPr lang="ko-KR" altLang="en-US" dirty="0" err="1"/>
              <a:t>결측치</a:t>
            </a:r>
            <a:r>
              <a:rPr lang="ko-KR" altLang="en-US" dirty="0"/>
              <a:t> 시각화</a:t>
            </a:r>
            <a:endParaRPr lang="en-US" altLang="ko-KR" dirty="0"/>
          </a:p>
          <a:p>
            <a:pPr lvl="1"/>
            <a:r>
              <a:rPr lang="en-US" altLang="ko-KR" dirty="0"/>
              <a:t>LINE_PRODUCT_LABEL</a:t>
            </a:r>
            <a:r>
              <a:rPr lang="ko-KR" altLang="en-US" dirty="0"/>
              <a:t>에 따라 유사한 </a:t>
            </a:r>
            <a:r>
              <a:rPr lang="ko-KR" altLang="en-US" dirty="0" err="1"/>
              <a:t>결측치</a:t>
            </a:r>
            <a:r>
              <a:rPr lang="ko-KR" altLang="en-US" dirty="0"/>
              <a:t> 패턴을 보임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99CB8F-C0B2-4F7C-35A5-541576ABE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527" y="1999331"/>
            <a:ext cx="7646631" cy="185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42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10BF8-5442-9E00-69B7-2923697D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CD64DB-0ADE-41DB-6ABD-0F44810A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Correlation with </a:t>
            </a:r>
            <a:r>
              <a:rPr lang="en-US" altLang="ko-KR" dirty="0" err="1"/>
              <a:t>Y_Class</a:t>
            </a:r>
            <a:r>
              <a:rPr lang="en-US" altLang="ko-KR" dirty="0"/>
              <a:t> and X</a:t>
            </a:r>
          </a:p>
          <a:p>
            <a:pPr lvl="1"/>
            <a:r>
              <a:rPr lang="en-US" altLang="ko-KR" dirty="0"/>
              <a:t>Correlation </a:t>
            </a:r>
            <a:r>
              <a:rPr lang="ko-KR" altLang="en-US" dirty="0"/>
              <a:t>절댓값 시각화</a:t>
            </a:r>
            <a:endParaRPr lang="en-US" altLang="ko-KR" dirty="0"/>
          </a:p>
          <a:p>
            <a:pPr lvl="1"/>
            <a:r>
              <a:rPr lang="en-US" altLang="ko-KR" dirty="0"/>
              <a:t>Column</a:t>
            </a:r>
            <a:r>
              <a:rPr lang="ko-KR" altLang="en-US" dirty="0"/>
              <a:t>에 따라 </a:t>
            </a:r>
            <a:r>
              <a:rPr lang="en-US" altLang="ko-KR" dirty="0"/>
              <a:t>Correlation Coefficient </a:t>
            </a:r>
            <a:r>
              <a:rPr lang="ko-KR" altLang="en-US" dirty="0"/>
              <a:t>상이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69EF94-4A37-C6A2-233F-03646E770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967" y="86683"/>
            <a:ext cx="2711648" cy="494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88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C57F9-11F9-C566-F7E7-8B3D10DA0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6D09FD-AC27-CF49-85FB-B2D53E74CA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TIMESTAMP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ko-KR" dirty="0"/>
                  <a:t>Month, Day, Hour, Minute</a:t>
                </a:r>
                <a:endParaRPr lang="ko-KR" altLang="en-US" dirty="0"/>
              </a:p>
              <a:p>
                <a:r>
                  <a:rPr lang="en-US" altLang="ko-KR" dirty="0"/>
                  <a:t>LINE</a:t>
                </a:r>
                <a:r>
                  <a:rPr lang="ko-KR" altLang="en-US" dirty="0"/>
                  <a:t>과 </a:t>
                </a:r>
                <a:r>
                  <a:rPr lang="en-US" altLang="ko-KR" dirty="0"/>
                  <a:t>PRODUCT_CODE</a:t>
                </a:r>
                <a:r>
                  <a:rPr lang="ko-KR" altLang="en-US" dirty="0"/>
                  <a:t>의 조합에 고유한 숫자 </a:t>
                </a:r>
                <a:r>
                  <a:rPr lang="en-US" altLang="ko-KR" dirty="0"/>
                  <a:t>Label (LINE_PRODUCT_LABEL) </a:t>
                </a:r>
                <a:r>
                  <a:rPr lang="ko-KR" altLang="en-US" dirty="0"/>
                  <a:t>부여</a:t>
                </a:r>
              </a:p>
              <a:p>
                <a:r>
                  <a:rPr lang="ko-KR" altLang="en-US" dirty="0" err="1"/>
                  <a:t>결측치</a:t>
                </a:r>
                <a:r>
                  <a:rPr lang="ko-KR" altLang="en-US" dirty="0"/>
                  <a:t> 패턴이 비슷한 </a:t>
                </a:r>
                <a:r>
                  <a:rPr lang="en-US" altLang="ko-KR" dirty="0"/>
                  <a:t>LINE_PRODUCT_LABEL</a:t>
                </a:r>
                <a:r>
                  <a:rPr lang="ko-KR" altLang="en-US" dirty="0"/>
                  <a:t>별로 정규화 진행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MinMaxScaler</a:t>
                </a:r>
                <a:r>
                  <a:rPr lang="en-US" altLang="ko-KR" dirty="0"/>
                  <a:t>)</a:t>
                </a:r>
              </a:p>
              <a:p>
                <a:r>
                  <a:rPr lang="ko-KR" altLang="en-US" dirty="0"/>
                  <a:t>빈 </a:t>
                </a:r>
                <a:r>
                  <a:rPr lang="en-US" altLang="ko-KR" dirty="0"/>
                  <a:t>slot</a:t>
                </a:r>
                <a:r>
                  <a:rPr lang="ko-KR" altLang="en-US" dirty="0"/>
                  <a:t>을 모두 평균으로 채우고 모든 </a:t>
                </a:r>
                <a:r>
                  <a:rPr lang="en-US" altLang="ko-KR" dirty="0"/>
                  <a:t>slot</a:t>
                </a:r>
                <a:r>
                  <a:rPr lang="ko-KR" altLang="en-US" dirty="0"/>
                  <a:t>이 </a:t>
                </a:r>
                <a:r>
                  <a:rPr lang="ko-KR" altLang="en-US" dirty="0" err="1"/>
                  <a:t>결측치인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column drop</a:t>
                </a:r>
              </a:p>
              <a:p>
                <a:r>
                  <a:rPr lang="ko-KR" altLang="en-US" dirty="0"/>
                  <a:t>비식별화 변수</a:t>
                </a:r>
                <a:r>
                  <a:rPr lang="en-US" altLang="ko-KR" dirty="0"/>
                  <a:t>(X_1~X_2875)</a:t>
                </a:r>
                <a:r>
                  <a:rPr lang="ko-KR" altLang="en-US" dirty="0"/>
                  <a:t>와 </a:t>
                </a:r>
                <a:r>
                  <a:rPr lang="en-US" altLang="ko-KR" dirty="0" err="1"/>
                  <a:t>Y_Class</a:t>
                </a:r>
                <a:r>
                  <a:rPr lang="ko-KR" altLang="en-US" dirty="0"/>
                  <a:t>의 상관관계를 분석하고 절댓값이 </a:t>
                </a:r>
                <a:r>
                  <a:rPr lang="en-US" altLang="ko-KR" dirty="0"/>
                  <a:t>0.05 </a:t>
                </a:r>
                <a:r>
                  <a:rPr lang="ko-KR" altLang="en-US" dirty="0"/>
                  <a:t>미만인 </a:t>
                </a:r>
                <a:r>
                  <a:rPr lang="en-US" altLang="ko-KR" dirty="0"/>
                  <a:t>column drop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6D09FD-AC27-CF49-85FB-B2D53E74CA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7038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E4DC5-9D99-D913-4A01-A656A709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7F6641-2D34-2506-1B28-6AF068B4F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모델 학습에 이용하는 최종 </a:t>
            </a:r>
            <a:r>
              <a:rPr lang="en-US" altLang="ko-KR" dirty="0" err="1"/>
              <a:t>DateFrame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EF5732-A2C7-0C19-D7F4-7DB89EFD7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649" y="1863962"/>
            <a:ext cx="7639159" cy="180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93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C4B4D-F973-830C-F98C-58E2542F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훈련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A44126-B2A3-7596-452A-AB1CE614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327" y="811683"/>
            <a:ext cx="7763858" cy="4255585"/>
          </a:xfrm>
        </p:spPr>
        <p:txBody>
          <a:bodyPr/>
          <a:lstStyle/>
          <a:p>
            <a:r>
              <a:rPr lang="ko-KR" altLang="en-US" dirty="0"/>
              <a:t>앙상블 모델</a:t>
            </a:r>
            <a:r>
              <a:rPr lang="en-US" altLang="ko-KR" dirty="0"/>
              <a:t>(</a:t>
            </a:r>
            <a:r>
              <a:rPr lang="en-US" altLang="ko-KR" dirty="0" err="1"/>
              <a:t>VotingClassifier</a:t>
            </a:r>
            <a:r>
              <a:rPr lang="en-US" altLang="ko-KR" dirty="0"/>
              <a:t>)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활용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936528-9D8A-4AF7-17EF-A9F92AEF1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93" y="3596571"/>
            <a:ext cx="7205472" cy="4718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F85AE6B-A4D2-7F2D-FC69-D08C37CFB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367" y="2064871"/>
            <a:ext cx="7257723" cy="101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4733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740</Words>
  <Application>Microsoft Office PowerPoint</Application>
  <PresentationFormat>화면 슬라이드 쇼(16:9)</PresentationFormat>
  <Paragraphs>114</Paragraphs>
  <Slides>23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NanumGothic ExtraBold</vt:lpstr>
      <vt:lpstr>Arial</vt:lpstr>
      <vt:lpstr>Cambria Math</vt:lpstr>
      <vt:lpstr>Simple Light</vt:lpstr>
      <vt:lpstr>PowerPoint 프레젠테이션</vt:lpstr>
      <vt:lpstr>PowerPoint 프레젠테이션</vt:lpstr>
      <vt:lpstr>Content</vt:lpstr>
      <vt:lpstr>프로젝트 주제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전처리</vt:lpstr>
      <vt:lpstr>데이터 전처리</vt:lpstr>
      <vt:lpstr>훈련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인혁 정</cp:lastModifiedBy>
  <cp:revision>16</cp:revision>
  <dcterms:modified xsi:type="dcterms:W3CDTF">2025-05-26T14:44:03Z</dcterms:modified>
</cp:coreProperties>
</file>