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d41cbcfe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d41cbcfe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1cbcfe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d41cbcfe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d41cbcfe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d41cbcfe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d41cbcfe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d41cbcfe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d92b91cd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d92b91cd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우선, 데이터 전처리를 진행하기 전에 간단한 EDA를 수행하였습니다. 데이터는 총 14개 칼럼으로 구성되어 있었고, 그 내용은 보시는 바와 같습니다. 분석 결과, 범주형 데이터인 국가, 분야, 투자단계, 인수여부, 상장여부 이렇게 5개 칼럼과 결측치가 존재하는 분야, 직원 수, 고객수, 기업가치 이렇게 총 4개의 칼럼에 대한 기초 전처리가 필요함을 알 수 있었습니다.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d92b91cd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d92b91cd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타겟 변수인 ‘성공확률’ 칼럼을 대상으로 데이터의 분포를 시각화하여 데이터에 불균형성이 없는지 확인하였으며, 유의미한 변수 간 상관관계가 있는지 확인하기 위해 수치형 변수의 상관관계도 분석하여 시각화하였습니다.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d92b91cd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d92b91cd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다음으로, 기초 전처리를 진행하였습니다. 먼저 의미 없는 ‘ID’ 칼럼을 삭제하고, ‘분야’ 칼럼의 결측치는 ‘Unknown’으로, ‘직원 수’, ‘고객 수 ‘ 칼럼의 결측치는 ‘median’으로 대체하였습니다. ‘기업가치’ 칼럼의 경우 convert_to_lower_limit 함수를 정의하여 문자열 형태의 값들을 숫자형으로 변환하였는데, ‘2500-3500’ 이런 식으로 나와 있었기 때문에 대체값은 ‘하한값’으로 설정하였습니다. 혼자 형태가 달랐던 값 ‘6000이하’는 ‘6000.0’으로, 하이픈 없이 숫자만 문자열 형태로 있는 경우 float로의 변환을 진행하였습니다. 그리고 남은 결측치들은 ‘median’으로 대체하였습니다. 범주형 데이터의 경우, O/X로 표현 가능한 ‘인수여부’, ‘상장여부’는 Label Encoding, 나머지 ‘국가’, ‘분야’, ‘투자단계’는 One-Hot Encoding을 진행하였습니다.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d9ab21b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d9ab21b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전처리 이후 이상치를 확인해봤습니다.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이상치를 확인해본 결과 특이사항이 없어 그냥 넘어갔습니다.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이후에 변수별 음수값이 있는거 같아 확인을 해보았지만 역시 모든 변수에 음수값은 없는 것으로 확인되었습니다.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d9ab21b0c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d9ab21b0c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다음으로 파생변수 설정했습니다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첫번째 파생변수는 ‘업력’입니다.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‘설립연도’ 변수와 타깃값 간의 상관관계를 확인해보았을 때 -값이 나와서, 기준년도(현재) = 2025년에서 ‘설립연도’ 변수를 뺀값에 1을 더한 값으로 ‘업력’이라는 파생변수를 설정했습니다.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두번째 파생변수는  ‘매출대비 투자 비율’ 입니다.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일단 기본 오류값을 설정해주고, ‘연매출’ 변수를 ‘총 투자금’ 변수로 나눈 값으로 ‘매출대비 투자 비율’이라는 파생변수를 설정했습니다.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이로써 투자대비 매출이 얼마나 나왔는지 확인할 수 있어 이 값이 높을 경우 기업이 성공할 확률이 높다고 생각하여 해당 파생변수를 생성하였습니다.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세번째 파생변수는 ‘기업가치 성장 속도’ 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마찬가지로 기본 오류값을 설정해주고, ‘기업가치’의 변수를 아까 만들었던 ‘업력’이라는 파생변수로 나누어준 값입니다.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이로써 업력에 따라 기업가치가 얼마나 되나 확인할 수 있으며, 그럴수록 기업이 성공할 확률이 높다고 생각하여 해당 파생변수를 생성하였습니다.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d92b91cd1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d92b91cd1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랜덤포레스트 회귀의 경우 모델 학습 전 GridSearchCV를 통해 하이퍼파라미터를 탐색했습니다.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 결과 n_estimators는 1000, max_depth는 8, min_samples_leaf는 1, min_samples_split은 2의 값이 나와 이를 이용해 모델을 돌렸습니다.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파생변수가 없는 경우, 기업가치성장속도만 있는 경우, 매출대비투자비율만 있는 경우 그리고 두 파생변수 모두 있는 경우 총 4번의 학습을 진행하였고 앞에 보이시는 것은 기업가치 성장속도만 추가하였을 때의 코드입니다.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d9702c60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d9702c60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위의 결과값을 dacon에 제출한 결과 큰 차이는 없지만 매출대비투자비율만을 파생변수로 추가하였을 때 성능이 제일 좋게 나왔습니다.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d49e432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d49e432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다음은 XGBoost 회귀 모델을 학습시키는 코드입니다.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먼저 train_test_split을 이용해 학습과 검증 데이터를 8:2 비율로 나누었습니다.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XGBoost 모델을 통해 학습을 진행하면서 sklearn wrapper를 사용하지 않고 XGBoost의 DMatrix 객체를 직접 생성해 학습을 진행했습니다.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하이퍼파라미터 설정에서 학습률은 0.01, 트리의 최대 깊이는 6으로 설정했습니다.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early_stopping_rounds 파라미터를 통해 부스팅은 최대 5000회까지 수행 가능하지만 200번 동안 검증 성능이 개선되지 않으면 조기 종료되도록 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마지막으로 해당 대회의 평가 기준이 weighted mae이었기 때문에 검증셋에 대해 예측값을 구한 뒤 compute_weights() 함수를 통해 샘플별 가중치를 계산하고 이를 이용한 weighted_mae() 함수로 최종 성능을 평가하도록 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d49e4323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d49e4323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맨 아래에 제출한 것이 파생 변수를 적용하지 않은 예측 결과이고 위에 세 개의 제출물들이 파일 이름대로 파생 변수를 적용한 것입니다.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XGBoost에서는 파생변수를 적용하는 것이 오히려 적용하지 않은 것보다 성능을 낮추는 결과를 보였습니다.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d95e294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d95e294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LightGBM 회귀 모델의 경우 하이퍼 파라미터 설정부터 진행하였습니다.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먼저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param_grid</a:t>
            </a:r>
            <a:r>
              <a:rPr lang="ko">
                <a:solidFill>
                  <a:schemeClr val="dk1"/>
                </a:solidFill>
              </a:rPr>
              <a:t>에 네 가지 주요 파라미터—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n_estimators</a:t>
            </a:r>
            <a:r>
              <a:rPr lang="ko">
                <a:solidFill>
                  <a:schemeClr val="dk1"/>
                </a:solidFill>
              </a:rPr>
              <a:t>,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learning_rate</a:t>
            </a:r>
            <a:r>
              <a:rPr lang="ko">
                <a:solidFill>
                  <a:schemeClr val="dk1"/>
                </a:solidFill>
              </a:rPr>
              <a:t>,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num_leaves</a:t>
            </a:r>
            <a:r>
              <a:rPr lang="ko">
                <a:solidFill>
                  <a:schemeClr val="dk1"/>
                </a:solidFill>
              </a:rPr>
              <a:t>,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max_depth</a:t>
            </a:r>
            <a:r>
              <a:rPr lang="ko">
                <a:solidFill>
                  <a:schemeClr val="dk1"/>
                </a:solidFill>
              </a:rPr>
              <a:t>—의 후보값을 정의했습니다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GridSearchCV</a:t>
            </a:r>
            <a:r>
              <a:rPr lang="ko">
                <a:solidFill>
                  <a:schemeClr val="dk1"/>
                </a:solidFill>
              </a:rPr>
              <a:t>를 사용해 **3겹 cross validation*으로 각 조합을 시험하고,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평가 지표로는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neg_mean_absolute_error</a:t>
            </a:r>
            <a:r>
              <a:rPr lang="ko">
                <a:solidFill>
                  <a:schemeClr val="dk1"/>
                </a:solidFill>
              </a:rPr>
              <a:t>(MAE)를 선택해 ‘작을수록 좋음’ 기준으로 튜닝했습니다.</a:t>
            </a:r>
            <a:br>
              <a:rPr lang="ko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총 3×4×3×3 조합을 병렬로 학습한 뒤,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 가장 MAE가 낮았던(음수 값으로 반환된) 최적 파라미터를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Best params</a:t>
            </a:r>
            <a:r>
              <a:rPr lang="ko">
                <a:solidFill>
                  <a:schemeClr val="dk1"/>
                </a:solidFill>
              </a:rPr>
              <a:t>로 확인했습니다.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d92b91cd1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d92b91cd1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다음으로 최적의 hyper parameter 값들을 활용해서 lgbmregressor 모델 학습 및 이의 학습률과 정확도를 평가하는 함수를 생성했습니다.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 학습을 위해 평가용 데이터 리스트를 lgb.dataset로 모두 변환하였고, 학습 중간에 자동으로 멈추고, 학습 진행 상황을 주기적으로 출력하여 과적합을 방지하여주는 콜백함수를 만들어 얼리스톱핑과 로그를 지정해주었습니다. best_iteration method를 통해 얼리스토핑으로 찾은 최적 반복수를 활용하였고, 이를 submission 파일 형식에 맞추어 성공확률을 계산해 넣었습니다.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세번째로, 전처리에서 발생한 파생변수 매출투자비율과 기업가치 성장속도를 각각 모델에 넣어보고 해당하는 Weighted MAE 값을 도출해보았습니다.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파생변수 하나만 넣었을 때는 오히려 효과가 없었지만, 두 가지를 동시에 적용하니 Weighted MAE가 약간(0.0005) 개선된 것을 볼 수 있습니다. 이를 통해 개별 지표보다는 서로 보완적인 파생변수 조합이 핵심 신호를 더 잘 포착한다는 인사이트를 얻을 수 있었습니다.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d92b91cd1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d92b91cd1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Dacon </a:t>
            </a:r>
            <a:r>
              <a:rPr lang="ko"/>
              <a:t>제출 후 결과 점수에도 파생변수 2개의 submission이 가장 점수가 높은 것을 볼 수 있습니다.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dbbb29bd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dbbb29bd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XGBoost</a:t>
            </a:r>
            <a:r>
              <a:rPr lang="ko"/>
              <a:t>로 학습 및 예측을 진행했을 때 dacon에 제출 시 weighted MAE는 약 0.2245였습니다.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최종적으로 세 개의 모델 중 가장 정확도가 높았던 것은 00이었습니다.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1476825" y="878625"/>
            <a:ext cx="46146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ko" sz="1800">
                <a:solidFill>
                  <a:schemeClr val="dk2"/>
                </a:solidFill>
              </a:rPr>
              <a:t>프로젝트 소개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ko" sz="1800">
                <a:solidFill>
                  <a:schemeClr val="dk2"/>
                </a:solidFill>
              </a:rPr>
              <a:t>데이터 전처리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ko" sz="1800">
                <a:solidFill>
                  <a:schemeClr val="dk2"/>
                </a:solidFill>
              </a:rPr>
              <a:t>모델링</a:t>
            </a:r>
            <a:endParaRPr b="1" sz="18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eriod"/>
            </a:pPr>
            <a:r>
              <a:rPr lang="ko" sz="1500">
                <a:solidFill>
                  <a:schemeClr val="dk2"/>
                </a:solidFill>
              </a:rPr>
              <a:t>RandonForestRegressor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eriod"/>
            </a:pPr>
            <a:r>
              <a:rPr lang="ko" sz="1500">
                <a:solidFill>
                  <a:schemeClr val="dk2"/>
                </a:solidFill>
              </a:rPr>
              <a:t>XGB</a:t>
            </a:r>
            <a:r>
              <a:rPr lang="ko" sz="1500">
                <a:solidFill>
                  <a:schemeClr val="dk2"/>
                </a:solidFill>
              </a:rPr>
              <a:t>Regressor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eriod"/>
            </a:pPr>
            <a:r>
              <a:rPr lang="ko" sz="1500">
                <a:solidFill>
                  <a:schemeClr val="dk2"/>
                </a:solidFill>
              </a:rPr>
              <a:t>LGBM</a:t>
            </a:r>
            <a:r>
              <a:rPr lang="ko" sz="1500">
                <a:solidFill>
                  <a:schemeClr val="dk2"/>
                </a:solidFill>
              </a:rPr>
              <a:t>Regressor</a:t>
            </a:r>
            <a:endParaRPr sz="15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ko" sz="1800">
                <a:solidFill>
                  <a:schemeClr val="dk2"/>
                </a:solidFill>
              </a:rPr>
              <a:t>결과 비교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1412725" y="300800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프로젝트 소개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412725" y="808700"/>
            <a:ext cx="76413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rgbClr val="FFD966"/>
                </a:highlight>
              </a:rPr>
              <a:t>[기업 성공 확률 예측 해커톤: 미래의 성공기업을 발굴하라!]</a:t>
            </a:r>
            <a:endParaRPr sz="180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b="1" lang="ko" sz="1500">
                <a:solidFill>
                  <a:schemeClr val="dk2"/>
                </a:solidFill>
              </a:rPr>
              <a:t>DACON 해커톤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b="1" lang="ko" sz="1500">
                <a:solidFill>
                  <a:schemeClr val="dk2"/>
                </a:solidFill>
              </a:rPr>
              <a:t>주제</a:t>
            </a:r>
            <a:endParaRPr b="1" sz="15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: 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기업의 성공 확률 예측 AI 알고리즘 개발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b="1" lang="ko" sz="1500">
                <a:solidFill>
                  <a:schemeClr val="dk2"/>
                </a:solidFill>
              </a:rPr>
              <a:t>목표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	: 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다양한 기업 데이터를 기반으로 AI 알고리즘을 개발하여, 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  기업의 성공 가능성을 예측하는 것.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ko" sz="1500">
                <a:solidFill>
                  <a:schemeClr val="dk1"/>
                </a:solidFill>
                <a:highlight>
                  <a:srgbClr val="FFFFFF"/>
                </a:highlight>
              </a:rPr>
              <a:t>데이터</a:t>
            </a:r>
            <a:endParaRPr b="1"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train.csv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test.csv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sample_submission.csv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1412725" y="300800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데이터 전처리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1412725" y="808700"/>
            <a:ext cx="76413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highlight>
                  <a:srgbClr val="FFD966"/>
                </a:highlight>
              </a:rPr>
              <a:t>[EDA]</a:t>
            </a:r>
            <a:endParaRPr b="1" sz="180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데이터 크기 확인</a:t>
            </a:r>
            <a:r>
              <a:rPr lang="ko" sz="1500">
                <a:solidFill>
                  <a:schemeClr val="dk2"/>
                </a:solidFill>
                <a:highlight>
                  <a:schemeClr val="lt1"/>
                </a:highlight>
              </a:rPr>
              <a:t> 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  <a:highlight>
                  <a:schemeClr val="lt1"/>
                </a:highlight>
              </a:rPr>
              <a:t>: 14개 칼럼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기본 정보 확인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칼럼 구성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  <a:highlight>
                  <a:schemeClr val="lt1"/>
                </a:highlight>
              </a:rPr>
              <a:t>: ID, 설립연도, 국가, 분야, 투자단계, 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  <a:highlight>
                  <a:schemeClr val="lt1"/>
                </a:highlight>
              </a:rPr>
              <a:t>직원 수, 인수여부, 상장여부, 고객수(백만명), 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  <a:highlight>
                  <a:schemeClr val="lt1"/>
                </a:highlight>
              </a:rPr>
              <a:t>총 투자금(억원), 연매출(억원), SNS 팔로워 수(백만명), 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  <a:highlight>
                  <a:schemeClr val="lt1"/>
                </a:highlight>
              </a:rPr>
              <a:t>기업가치(백억원), 성공확률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범주형 데이터 존재 확인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  <a:highlight>
                  <a:schemeClr val="lt1"/>
                </a:highlight>
              </a:rPr>
              <a:t>: 국가, 분야, 투자단계, 인수여부 , 상장여부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결측치 존재 칼럼 확인 : 4개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  <a:highlight>
                  <a:schemeClr val="lt1"/>
                </a:highlight>
              </a:rPr>
              <a:t>: 분야(857개), 직원 수(174개), 고객수(백만명)(1320개), 기업가치(백억원)(1220개)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100" y="1810499"/>
            <a:ext cx="1654525" cy="22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1412725" y="300800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데이터 전처리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1412725" y="423088"/>
            <a:ext cx="76413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accent2"/>
                </a:solidFill>
                <a:highlight>
                  <a:schemeClr val="lt1"/>
                </a:highlight>
              </a:rPr>
              <a:t>4. </a:t>
            </a:r>
            <a:r>
              <a:rPr b="1" lang="ko" sz="1500">
                <a:solidFill>
                  <a:schemeClr val="accent2"/>
                </a:solidFill>
                <a:highlight>
                  <a:schemeClr val="lt1"/>
                </a:highlight>
              </a:rPr>
              <a:t>타겟 변수 '성공확률'의 분포 시각화</a:t>
            </a:r>
            <a:endParaRPr b="1" sz="1500">
              <a:solidFill>
                <a:schemeClr val="accent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      </a:t>
            </a: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-&gt; </a:t>
            </a:r>
            <a:r>
              <a:rPr lang="ko" sz="1500">
                <a:solidFill>
                  <a:schemeClr val="dk1"/>
                </a:solidFill>
              </a:rPr>
              <a:t>데이터의 불균형성이 있는지 확인하기 위해 진행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accent2"/>
                </a:solidFill>
                <a:highlight>
                  <a:schemeClr val="lt1"/>
                </a:highlight>
              </a:rPr>
              <a:t>5. 수치형 변수 상관관계 분석</a:t>
            </a:r>
            <a:endParaRPr b="1" sz="1500">
              <a:solidFill>
                <a:schemeClr val="accent2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-"/>
            </a:pPr>
            <a:r>
              <a:rPr lang="ko" sz="1500">
                <a:solidFill>
                  <a:schemeClr val="accent2"/>
                </a:solidFill>
                <a:highlight>
                  <a:schemeClr val="lt1"/>
                </a:highlight>
              </a:rPr>
              <a:t>유의미한 변수 탐색</a:t>
            </a:r>
            <a:endParaRPr sz="1500">
              <a:solidFill>
                <a:schemeClr val="accent2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-"/>
            </a:pPr>
            <a:r>
              <a:rPr lang="ko" sz="1500">
                <a:solidFill>
                  <a:schemeClr val="accent2"/>
                </a:solidFill>
                <a:highlight>
                  <a:schemeClr val="lt1"/>
                </a:highlight>
              </a:rPr>
              <a:t>파생변수 형성 시 사용</a:t>
            </a:r>
            <a:endParaRPr sz="1500">
              <a:solidFill>
                <a:schemeClr val="accent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7575" y="1017728"/>
            <a:ext cx="2166725" cy="158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6287" y="2969425"/>
            <a:ext cx="2274176" cy="20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1412725" y="116525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데이터 전처리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1412725" y="520275"/>
            <a:ext cx="76413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highlight>
                  <a:srgbClr val="FFD966"/>
                </a:highlight>
              </a:rPr>
              <a:t>[</a:t>
            </a:r>
            <a:r>
              <a:rPr b="1" lang="ko" sz="1800">
                <a:solidFill>
                  <a:schemeClr val="dk2"/>
                </a:solidFill>
                <a:highlight>
                  <a:srgbClr val="FFD966"/>
                </a:highlight>
              </a:rPr>
              <a:t>기초 전처리</a:t>
            </a:r>
            <a:r>
              <a:rPr b="1" lang="ko" sz="1800">
                <a:solidFill>
                  <a:schemeClr val="dk2"/>
                </a:solidFill>
                <a:highlight>
                  <a:srgbClr val="FFD966"/>
                </a:highlight>
              </a:rPr>
              <a:t>]</a:t>
            </a:r>
            <a:endParaRPr b="1" sz="180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‘ID’ 칼럼 삭제</a:t>
            </a: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 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결측치 처리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eriod"/>
            </a:pPr>
            <a:r>
              <a:rPr lang="ko" sz="1500">
                <a:solidFill>
                  <a:schemeClr val="dk2"/>
                </a:solidFill>
                <a:highlight>
                  <a:schemeClr val="lt1"/>
                </a:highlight>
              </a:rPr>
              <a:t>‘</a:t>
            </a:r>
            <a:r>
              <a:rPr lang="ko" sz="1500">
                <a:solidFill>
                  <a:schemeClr val="dk2"/>
                </a:solidFill>
                <a:highlight>
                  <a:schemeClr val="lt1"/>
                </a:highlight>
              </a:rPr>
              <a:t>분야’ 칼럼 결측치 -&gt; ‘Unknown’ 처리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eriod"/>
            </a:pPr>
            <a:r>
              <a:rPr lang="ko" sz="1500">
                <a:solidFill>
                  <a:schemeClr val="dk2"/>
                </a:solidFill>
                <a:highlight>
                  <a:schemeClr val="lt1"/>
                </a:highlight>
              </a:rPr>
              <a:t>'직원 수', '고객수(백만명)' 칼럼 결측치 -&gt; 'median' 대체 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‘기업가치’ 칼럼 전처리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arenR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하한값으로 변환(함수 convert_to_lower_limit 형성하여 처리)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ko" sz="1300">
                <a:solidFill>
                  <a:schemeClr val="dk2"/>
                </a:solidFill>
                <a:highlight>
                  <a:schemeClr val="lt1"/>
                </a:highlight>
              </a:rPr>
              <a:t>값이 '6000이상' -&gt; '6000.0'으로 대체</a:t>
            </a:r>
            <a:endParaRPr sz="13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ko" sz="1300">
                <a:solidFill>
                  <a:schemeClr val="dk2"/>
                </a:solidFill>
                <a:highlight>
                  <a:schemeClr val="lt1"/>
                </a:highlight>
              </a:rPr>
              <a:t>값이 특수 문자 '-' 포함한 범주형 -&gt; 하한값('-' 앞의 값)만 추출</a:t>
            </a:r>
            <a:endParaRPr sz="13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1115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ko" sz="1300">
                <a:solidFill>
                  <a:schemeClr val="dk2"/>
                </a:solidFill>
                <a:highlight>
                  <a:schemeClr val="lt1"/>
                </a:highlight>
              </a:rPr>
              <a:t>값이 '-'없이 숫자만 문자열 형태로 있는 경우 -&gt; float 변환</a:t>
            </a:r>
            <a:endParaRPr sz="13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arenR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결측치 -&gt; median 대체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  <a:highlight>
                  <a:schemeClr val="lt1"/>
                </a:highlight>
              </a:rPr>
              <a:t>4. </a:t>
            </a: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범주형 데이터 처리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arenR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'인수여부', '상장여부' -&gt; Label Encoding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arenR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'국가', '분야', '투자단계' -&gt; One - Hot Encoding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ko" sz="1300">
                <a:solidFill>
                  <a:schemeClr val="dk2"/>
                </a:solidFill>
                <a:highlight>
                  <a:schemeClr val="lt1"/>
                </a:highlight>
              </a:rPr>
              <a:t>'국가' - CT001~CT010의 10개 칼럼으로 인코딩</a:t>
            </a:r>
            <a:endParaRPr sz="13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ko" sz="1300">
                <a:solidFill>
                  <a:schemeClr val="dk2"/>
                </a:solidFill>
                <a:highlight>
                  <a:schemeClr val="lt1"/>
                </a:highlight>
              </a:rPr>
              <a:t>'분야' - 게임, 기술, 물류, 에너지, 에듀테크, 이커머스, 푸드테크, 핀테크, 헬스케어로 인코딩</a:t>
            </a:r>
            <a:endParaRPr sz="13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ko" sz="1300">
                <a:solidFill>
                  <a:schemeClr val="dk2"/>
                </a:solidFill>
                <a:highlight>
                  <a:schemeClr val="lt1"/>
                </a:highlight>
              </a:rPr>
              <a:t>'투자단계' - IPO, Seed, Series A, Series B, Series C의 5개로 인코딩</a:t>
            </a:r>
            <a:endParaRPr sz="16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1412725" y="116525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데이터 전처리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1329925" y="624425"/>
            <a:ext cx="7641300" cy="52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highlight>
                  <a:srgbClr val="FFD966"/>
                </a:highlight>
              </a:rPr>
              <a:t>[</a:t>
            </a:r>
            <a:r>
              <a:rPr b="1" lang="ko" sz="1800">
                <a:solidFill>
                  <a:schemeClr val="dk2"/>
                </a:solidFill>
                <a:highlight>
                  <a:srgbClr val="FFD966"/>
                </a:highlight>
              </a:rPr>
              <a:t>이상치 확인</a:t>
            </a:r>
            <a:r>
              <a:rPr b="1" lang="ko" sz="1800">
                <a:solidFill>
                  <a:schemeClr val="dk2"/>
                </a:solidFill>
                <a:highlight>
                  <a:srgbClr val="FFD966"/>
                </a:highlight>
              </a:rPr>
              <a:t>]</a:t>
            </a:r>
            <a:endParaRPr b="1" sz="180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이상치 확인 -&gt; 특이사항 x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 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변수별 음수 값 확인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3125" y="169050"/>
            <a:ext cx="4695325" cy="266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1938" y="3159175"/>
            <a:ext cx="445770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/>
        </p:nvSpPr>
        <p:spPr>
          <a:xfrm>
            <a:off x="1412725" y="116525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데이터 전처리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1412725" y="696400"/>
            <a:ext cx="76413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highlight>
                  <a:srgbClr val="FFD966"/>
                </a:highlight>
              </a:rPr>
              <a:t>[파생변수 설정]</a:t>
            </a:r>
            <a:endParaRPr b="1" sz="180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업력 (회사의 나이)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매출대비투자비율 생성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epsilon = </a:t>
            </a:r>
            <a:r>
              <a:rPr lang="ko" sz="10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1e-5</a:t>
            </a:r>
            <a:endParaRPr sz="1050">
              <a:solidFill>
                <a:srgbClr val="116644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ko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'매출대비투자비율'</a:t>
            </a:r>
            <a:r>
              <a:rPr lang="ko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lang="ko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'연매출(억원)'</a:t>
            </a:r>
            <a:r>
              <a:rPr lang="ko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/ (df[</a:t>
            </a:r>
            <a:r>
              <a:rPr lang="ko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'총 투자금(억원)'</a:t>
            </a:r>
            <a:r>
              <a:rPr lang="ko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+ epsilon)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기업가치 성장 속도</a:t>
            </a:r>
            <a:r>
              <a:rPr b="1" lang="ko" sz="1500">
                <a:solidFill>
                  <a:schemeClr val="dk2"/>
                </a:solidFill>
                <a:highlight>
                  <a:schemeClr val="lt1"/>
                </a:highlight>
              </a:rPr>
              <a:t> 생성</a:t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epsilon = </a:t>
            </a:r>
            <a:r>
              <a:rPr lang="ko" sz="10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1e-5</a:t>
            </a:r>
            <a:endParaRPr sz="1050">
              <a:solidFill>
                <a:srgbClr val="116644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ko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'기업가치성장속도'</a:t>
            </a:r>
            <a:r>
              <a:rPr lang="ko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lang="ko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'기업가치(백억원)'</a:t>
            </a:r>
            <a:r>
              <a:rPr lang="ko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/ (df[</a:t>
            </a:r>
            <a:r>
              <a:rPr lang="ko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'업력'</a:t>
            </a:r>
            <a:r>
              <a:rPr lang="ko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+ epsilon)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5400" y="1388396"/>
            <a:ext cx="4266225" cy="105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1286600" y="61550"/>
            <a:ext cx="506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19264B"/>
                </a:solidFill>
              </a:rPr>
              <a:t>RandonForestRegressor</a:t>
            </a:r>
            <a:endParaRPr sz="1800">
              <a:solidFill>
                <a:srgbClr val="19264B"/>
              </a:solidFill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600" y="1017725"/>
            <a:ext cx="7528424" cy="103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1280800" y="523250"/>
            <a:ext cx="56457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ko" sz="1600">
                <a:solidFill>
                  <a:schemeClr val="dk2"/>
                </a:solidFill>
              </a:rPr>
              <a:t>GridSearchCV를 통해 최적의 하이퍼파라미터 탐색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ko" sz="1600">
                <a:solidFill>
                  <a:schemeClr val="dk2"/>
                </a:solidFill>
              </a:rPr>
              <a:t>RandomForestRegressor 진행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6600" y="2780750"/>
            <a:ext cx="7545702" cy="1425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/>
        </p:nvSpPr>
        <p:spPr>
          <a:xfrm>
            <a:off x="1286600" y="61550"/>
            <a:ext cx="506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19264B"/>
                </a:solidFill>
              </a:rPr>
              <a:t>RandonForestRegressor</a:t>
            </a:r>
            <a:endParaRPr sz="1800">
              <a:solidFill>
                <a:srgbClr val="19264B"/>
              </a:solidFill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1280800" y="523250"/>
            <a:ext cx="643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2"/>
                </a:solidFill>
              </a:rPr>
              <a:t>3.	매출대비투자비율 파생변수만 추가하였을 때의 성능 제일 좋음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600" y="1152475"/>
            <a:ext cx="7545698" cy="2203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4"/>
          <p:cNvSpPr txBox="1"/>
          <p:nvPr/>
        </p:nvSpPr>
        <p:spPr>
          <a:xfrm>
            <a:off x="1286600" y="61550"/>
            <a:ext cx="506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19264B"/>
                </a:solidFill>
              </a:rPr>
              <a:t>XGBoost </a:t>
            </a:r>
            <a:endParaRPr sz="1800">
              <a:solidFill>
                <a:srgbClr val="19264B"/>
              </a:solidFill>
            </a:endParaRPr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7850" y="954350"/>
            <a:ext cx="4737899" cy="352335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/>
        </p:nvSpPr>
        <p:spPr>
          <a:xfrm>
            <a:off x="1280800" y="523250"/>
            <a:ext cx="643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2"/>
                </a:solidFill>
              </a:rPr>
              <a:t>모델 학습 및 예측 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1975" y="4635573"/>
            <a:ext cx="1849650" cy="1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5"/>
          <p:cNvSpPr txBox="1"/>
          <p:nvPr/>
        </p:nvSpPr>
        <p:spPr>
          <a:xfrm>
            <a:off x="1286600" y="61550"/>
            <a:ext cx="506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19264B"/>
                </a:solidFill>
              </a:rPr>
              <a:t>XGBoost</a:t>
            </a:r>
            <a:endParaRPr sz="1800">
              <a:solidFill>
                <a:srgbClr val="19264B"/>
              </a:solidFill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1280800" y="523250"/>
            <a:ext cx="643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2"/>
                </a:solidFill>
              </a:rPr>
              <a:t>파생 변수를 적용했을 때 오히려 성능이 낮아짐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825" y="1498862"/>
            <a:ext cx="7665426" cy="21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6"/>
          <p:cNvSpPr txBox="1"/>
          <p:nvPr/>
        </p:nvSpPr>
        <p:spPr>
          <a:xfrm>
            <a:off x="1286600" y="61550"/>
            <a:ext cx="710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LightGBM(Light Gradient Boosting Machine) Regressor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1153575" y="523625"/>
            <a:ext cx="478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ko" sz="1500">
                <a:solidFill>
                  <a:schemeClr val="dk1"/>
                </a:solidFill>
              </a:rPr>
              <a:t>hyper parameter 설정: 모델 성능 최적화 값 설정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83" name="Google Shape;183;p26" title="Screenshot 2025-05-26 at 20.32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125" y="1017725"/>
            <a:ext cx="3254875" cy="2635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 title="Screenshot 2025-05-26 at 20.33.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7725" y="3775972"/>
            <a:ext cx="6963850" cy="61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6"/>
          <p:cNvSpPr txBox="1"/>
          <p:nvPr/>
        </p:nvSpPr>
        <p:spPr>
          <a:xfrm>
            <a:off x="4730750" y="1068925"/>
            <a:ext cx="4434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Scoring 생성해서 MAE 기준 튜닝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하이퍼 파라미터 튜닝을 통해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각 Best params variables들의 값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Best MAE 값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validation MAE 값 도출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1286600" y="61550"/>
            <a:ext cx="710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LightGBM(Light Gradient Boosting Machine) Regressor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1153575" y="523625"/>
            <a:ext cx="478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    2. 모델 학습 → 평가 함수 생성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95" name="Google Shape;195;p27" title="Screenshot 2025-05-26 at 20.37.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9250" y="1017727"/>
            <a:ext cx="5028351" cy="22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/>
        </p:nvSpPr>
        <p:spPr>
          <a:xfrm>
            <a:off x="1524000" y="3233600"/>
            <a:ext cx="609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</a:rPr>
              <a:t>3. 파생변수 케이스 별 실행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97" name="Google Shape;197;p27" title="Screenshot 2025-05-26 at 20.54.1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2975" y="3569450"/>
            <a:ext cx="4645112" cy="24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7" title="Screenshot 2025-05-26 at 20.54.4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42975" y="3887400"/>
            <a:ext cx="5199700" cy="29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7" title="Screenshot 2025-05-26 at 20.55.0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0475" y="4253575"/>
            <a:ext cx="5064699" cy="29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7" title="Screenshot 2025-05-26 at 20.55.41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14550" y="4568875"/>
            <a:ext cx="3644797" cy="24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8"/>
          <p:cNvSpPr txBox="1"/>
          <p:nvPr/>
        </p:nvSpPr>
        <p:spPr>
          <a:xfrm>
            <a:off x="1286600" y="61550"/>
            <a:ext cx="710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LightGBM(Light Gradient Boosting Machine) Regressor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09" name="Google Shape;209;p28" title="최종 결과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5925" y="1078375"/>
            <a:ext cx="7774761" cy="285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9"/>
          <p:cNvSpPr txBox="1"/>
          <p:nvPr/>
        </p:nvSpPr>
        <p:spPr>
          <a:xfrm>
            <a:off x="1412725" y="116525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모델별 정확도 비교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1476825" y="878625"/>
            <a:ext cx="59748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ko" sz="1500">
                <a:solidFill>
                  <a:schemeClr val="dk2"/>
                </a:solidFill>
              </a:rPr>
              <a:t>RandonForestRegressor </a:t>
            </a:r>
            <a:r>
              <a:rPr b="1" lang="ko" sz="1500">
                <a:solidFill>
                  <a:schemeClr val="dk2"/>
                </a:solidFill>
              </a:rPr>
              <a:t>정확도</a:t>
            </a:r>
            <a:r>
              <a:rPr b="1" lang="ko" sz="1500">
                <a:solidFill>
                  <a:schemeClr val="dk2"/>
                </a:solidFill>
              </a:rPr>
              <a:t> : 0.2236650152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ko" sz="1500">
                <a:solidFill>
                  <a:schemeClr val="dk2"/>
                </a:solidFill>
              </a:rPr>
              <a:t>XGBRegressor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ko" sz="1500">
                <a:solidFill>
                  <a:schemeClr val="dk2"/>
                </a:solidFill>
              </a:rPr>
              <a:t>LGBMRegressor </a:t>
            </a:r>
            <a:r>
              <a:rPr b="1" lang="ko" sz="1500">
                <a:solidFill>
                  <a:schemeClr val="dk2"/>
                </a:solidFill>
              </a:rPr>
              <a:t>정확도 : 0.2263764122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219" name="Google Shape;219;p29"/>
          <p:cNvPicPr preferRelativeResize="0"/>
          <p:nvPr/>
        </p:nvPicPr>
        <p:blipFill rotWithShape="1">
          <a:blip r:embed="rId4">
            <a:alphaModFix/>
          </a:blip>
          <a:srcRect b="0" l="0" r="0" t="78706"/>
          <a:stretch/>
        </p:blipFill>
        <p:spPr>
          <a:xfrm>
            <a:off x="1412715" y="2677600"/>
            <a:ext cx="7665426" cy="4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9"/>
          <p:cNvSpPr txBox="1"/>
          <p:nvPr/>
        </p:nvSpPr>
        <p:spPr>
          <a:xfrm>
            <a:off x="1610475" y="3134500"/>
            <a:ext cx="46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19264B"/>
                </a:solidFill>
              </a:rPr>
              <a:t>XGBoost 정확도: 0.2245446709</a:t>
            </a:r>
            <a:endParaRPr sz="1500">
              <a:solidFill>
                <a:srgbClr val="19264B"/>
              </a:solidFill>
            </a:endParaRPr>
          </a:p>
        </p:txBody>
      </p:sp>
      <p:pic>
        <p:nvPicPr>
          <p:cNvPr id="221" name="Google Shape;22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6825" y="1484250"/>
            <a:ext cx="7379748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9" title="Screenshot 2025-05-27 at 12.55.5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2725" y="4257925"/>
            <a:ext cx="7376768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