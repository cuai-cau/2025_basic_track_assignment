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5143500" type="screen16x9"/>
  <p:notesSz cx="6858000" cy="9144000"/>
  <p:embeddedFontLst>
    <p:embeddedFont>
      <p:font typeface="Roboto Mono" panose="020F0502020204030204" pitchFamily="49" charset="0"/>
      <p:regular r:id="rId20"/>
      <p:bold r:id="rId21"/>
      <p:italic r:id="rId22"/>
      <p:boldItalic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9" d="100"/>
          <a:sy n="89" d="100"/>
        </p:scale>
        <p:origin x="580" y="6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5d41cbcfe3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5d41cbcfe3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5d41cbcfe3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5d41cbcfe3_0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5d41cbcfe3_0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5d41cbcfe3_0_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5d41cbcfe3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5d41cbcfe3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5d92b91cd1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5d92b91cd1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/>
              <a:t>우선, 데이터 전처리를 진행하기 전에 간단한 EDA를 수행하였습니다. 데이터는 총 14개 칼럼으로 구성되어 있었고, 그 내용은 보시는 바와 같습니다. 분석 결과, 범주형 데이터인 국가, 분야, 투자단계, 인수여부, 상장여부 이렇게 5개 칼럼과 결측치가 존재하는 분야, 직원 수, 고객수, 기업가치 이렇게 총 4개의 칼럼에 대한 기초 전처리가 필요함을 알 수 있었습니다.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5d92b91cd1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5d92b91cd1_0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/>
              <a:t>타겟 변수인 ‘성공확률’ 칼럼을 대상으로 데이터의 분포를 시각화하여 데이터에 불균형성이 없는지 확인하였으며, 유의미한 변수 간 상관관계가 있는지 확인하기 위해 수치형 변수의 상관관계도 분석하여 시각화하였습니다.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5d92b91cd1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5d92b91cd1_0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/>
              <a:t>다음으로, 기초 전처리를 진행하였습니다. 먼저 의미 없는 ‘ID’ 칼럼을 삭제하고, ‘분야’ 칼럼의 결측치는 ‘Unknown’으로, ‘직원 수’, ‘고객 수 ‘ 칼럼의 결측치는 ‘median’으로 대체하였습니다. ‘기업가치’ 칼럼의 경우 convert_to_lower_limit 함수를 정의하여 문자열 형태의 값들을 숫자형으로 변환하였는데, ‘2500-3500’ 이런 식으로 나와 있었기 때문에 대체값은 ‘하한값’으로 설정하였습니다. 혼자 형태가 달랐던 값 ‘6000이하’는 ‘6000.0’으로, 하이픈 없이 숫자만 문자열 형태로 있는 경우 float로의 변환을 진행하였습니다. 그리고 남은 결측치들은 ‘median’으로 대체하였습니다. 범주형 데이터의 경우, O/X로 표현 가능한 ‘인수여부’, ‘상장여부’는 Label Encoding, 나머지 ‘국가’, ‘분야’, ‘투자단계’는 One-Hot Encoding을 진행하였습니다.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5d9ab21b0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5d9ab21b0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전처리 이후 이상치를 확인해봤습니다.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이상치를 확인해본 결과 특이사항이 없어 그냥 넘어갔습니다.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이후에 변수별 음수값이 있는거 같아 확인을 해보았지만 역시 모든 변수에 음수값은 없는 것으로 확인되었습니다.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5d9ab21b0c_1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5d9ab21b0c_1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다음으로 파생변수 설정했습니다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첫번째 파생변수는 ‘업력’입니다. 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‘설립연도’ 변수와 타깃값 간의 상관관계를 확인해보았을 때 -값이 나와서, 기준년도(현재) = 2025년에서 ‘설립연도’ 변수를 뺀값에 1을 더한 값으로 ‘업력’이라는 파생변수를 설정했습니다.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두번째 파생변수는  ‘매출대비 투자 비율’ 입니다. 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일단 기본 오류값을 설정해주고, ‘연매출’ 변수를 ‘총 투자금’ 변수로 나눈 값으로 ‘매출대비 투자 비율’이라는 파생변수를 설정했습니다.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이로써 투자대비 매출이 얼마나 나왔는지 확인할 수 있어 이 값이 높을 경우 기업이 성공할 확률이 높다고 생각하여 해당 파생변수를 생성하였습니다.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세번째 파생변수는 ‘기업가치 성장 속도’ 입니다.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마찬가지로 기본 오류값을 설정해주고, ‘기업가치’의 변수를 아까 만들었던 ‘업력’이라는 파생변수로 나누어준 값입니다. 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이로써 업력에 따라 기업가치가 얼마나 되나 확인할 수 있으며, 그럴수록 기업이 성공할 확률이 높다고 생각하여 해당 파생변수를 생성하였습니다.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5d92b91cd1_1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5d92b91cd1_1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랜덤포레스트 회귀의 경우 모델 학습 전 GridSearchCV를 통해 하이퍼파라미터를 탐색했습니다.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그 결과 n_estimators는 1000, max_depth는 8, min_samples_leaf는 1, min_samples_split은 2의 값이 나와 이를 이용해 모델을 돌렸습니다.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파생변수가 없는 경우, 기업가치성장속도만 있는 경우, 매출대비투자비율만 있는 경우 그리고 두 파생변수 모두 있는 경우 총 4번의 학습을 진행하였고 앞에 보이시는 것은 기업가치 성장속도만 추가하였을 때의 코드입니다.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5d9702c603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5d9702c603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위의 결과값을 dacon에 제출한 결과 큰 차이는 없지만 매출대비투자비율만을 파생변수로 추가하였을 때 성능이 제일 좋게 나왔습니다.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5d49e43239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5d49e43239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/>
              <a:t>다음은 XGBoost 회귀 모델을 학습시키는 코드입니다.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/>
              <a:t>먼저 train_test_split을 이용해 학습과 검증 데이터를 8:2 비율로 나누었습니다.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/>
              <a:t>XGBoost 모델을 통해 학습을 진행하면서 sklearn wrapper를 사용하지 않고 XGBoost의 DMatrix 객체를 직접 생성해 학습을 진행했습니다.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/>
              <a:t>하이퍼파라미터 설정에서 학습률은 0.01, 트리의 최대 깊이는 6으로 설정했습니다.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/>
              <a:t>early_stopping_rounds 파라미터를 통해 부스팅은 최대 5000회까지 수행 가능하지만 200번 동안 검증 성능이 개선되지 않으면 조기 종료되도록 했습니다.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마지막으로 해당 대회의 평가 기준이 weighted mae이었기 때문에 검증셋에 대해 예측값을 구한 뒤 compute_weights() 함수를 통해 샘플별 가중치를 계산하고 이를 이용한 weighted_mae() 함수로 최종 성능을 평가하도록 했습니다.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5d49e43239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5d49e43239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맨 아래에 제출한 것이 파생 변수를 적용하지 않은 예측 결과이고 위에 세 개의 제출물들이 파일 이름대로 파생 변수를 적용한 것입니다.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XGBoost에서는 파생변수를 적용하는 것이 오히려 적용하지 않은 것보다 성능을 낮추는 결과를 보였습니다.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5d95e294eb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35d95e294eb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LightGBM 회귀 모델의 경우 하이퍼 파라미터 설정부터 진행하였습니다. 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먼저 </a:t>
            </a:r>
            <a:r>
              <a:rPr lang="ko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param_grid</a:t>
            </a:r>
            <a:r>
              <a:rPr lang="ko">
                <a:solidFill>
                  <a:schemeClr val="dk1"/>
                </a:solidFill>
              </a:rPr>
              <a:t>에 네 가지 주요 파라미터—</a:t>
            </a:r>
            <a:r>
              <a:rPr lang="ko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n_estimators</a:t>
            </a:r>
            <a:r>
              <a:rPr lang="ko">
                <a:solidFill>
                  <a:schemeClr val="dk1"/>
                </a:solidFill>
              </a:rPr>
              <a:t>, </a:t>
            </a:r>
            <a:r>
              <a:rPr lang="ko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learning_rate</a:t>
            </a:r>
            <a:r>
              <a:rPr lang="ko">
                <a:solidFill>
                  <a:schemeClr val="dk1"/>
                </a:solidFill>
              </a:rPr>
              <a:t>, </a:t>
            </a:r>
            <a:r>
              <a:rPr lang="ko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num_leaves</a:t>
            </a:r>
            <a:r>
              <a:rPr lang="ko">
                <a:solidFill>
                  <a:schemeClr val="dk1"/>
                </a:solidFill>
              </a:rPr>
              <a:t>, </a:t>
            </a:r>
            <a:r>
              <a:rPr lang="ko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max_depth</a:t>
            </a:r>
            <a:r>
              <a:rPr lang="ko">
                <a:solidFill>
                  <a:schemeClr val="dk1"/>
                </a:solidFill>
              </a:rPr>
              <a:t>—의 후보값을 정의했습니다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GridSearchCV</a:t>
            </a:r>
            <a:r>
              <a:rPr lang="ko">
                <a:solidFill>
                  <a:schemeClr val="dk1"/>
                </a:solidFill>
              </a:rPr>
              <a:t>를 사용해 **3겹 cross validation*으로 각 조합을 시험하고,</a:t>
            </a:r>
            <a:br>
              <a:rPr lang="ko">
                <a:solidFill>
                  <a:schemeClr val="dk1"/>
                </a:solidFill>
              </a:rPr>
            </a:br>
            <a:r>
              <a:rPr lang="ko">
                <a:solidFill>
                  <a:schemeClr val="dk1"/>
                </a:solidFill>
              </a:rPr>
              <a:t>평가 지표로는 </a:t>
            </a:r>
            <a:r>
              <a:rPr lang="ko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neg_mean_absolute_error</a:t>
            </a:r>
            <a:r>
              <a:rPr lang="ko">
                <a:solidFill>
                  <a:schemeClr val="dk1"/>
                </a:solidFill>
              </a:rPr>
              <a:t>(MAE)를 선택해 ‘작을수록 좋음’ 기준으로 튜닝했습니다.</a:t>
            </a:r>
            <a:br>
              <a:rPr lang="ko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>
                <a:solidFill>
                  <a:schemeClr val="dk1"/>
                </a:solidFill>
              </a:rPr>
              <a:t>총 3×4×3×3 조합을 병렬로 학습한 뒤,</a:t>
            </a:r>
            <a:br>
              <a:rPr lang="ko">
                <a:solidFill>
                  <a:schemeClr val="dk1"/>
                </a:solidFill>
              </a:rPr>
            </a:br>
            <a:r>
              <a:rPr lang="ko">
                <a:solidFill>
                  <a:schemeClr val="dk1"/>
                </a:solidFill>
              </a:rPr>
              <a:t> 가장 MAE가 낮았던(음수 값으로 반환된) 최적 파라미터를 </a:t>
            </a:r>
            <a:r>
              <a:rPr lang="ko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Best params</a:t>
            </a:r>
            <a:r>
              <a:rPr lang="ko">
                <a:solidFill>
                  <a:schemeClr val="dk1"/>
                </a:solidFill>
              </a:rPr>
              <a:t>로 확인했습니다.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5d92b91cd1_1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35d92b91cd1_1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다음으로 최적의 hyper parameter 값들을 활용해서 lgbmregressor 모델 학습 및 이의 학습률과 정확도를 평가하는 함수를 생성했습니다.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모델 학습을 위해 평가용 데이터 리스트를 lgb.dataset로 모두 변환하였고, 학습 중간에 자동으로 멈추고, 학습 진행 상황을 주기적으로 출력하여 과적합을 방지하여주는 콜백함수를 만들어 얼리스톱핑과 로그를 지정해주었습니다. best_iteration method를 통해 얼리스토핑으로 찾은 최적 반복수를 활용하였고, 이를 submission 파일 형식에 맞추어 성공확률을 계산해 넣었습니다.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세번째로, 전처리에서 발생한 파생변수 매출투자비율과 기업가치 성장속도를 각각 모델에 넣어보고 해당하는 Weighted MAE 값을 도출해보았습니다.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파생변수 하나만 넣었을 때는 오히려 효과가 없었지만, 두 가지를 동시에 적용하니 Weighted MAE가 약간(0.0005) 개선된 것을 볼 수 있습니다. 이를 통해 개별 지표보다는 서로 보완적인 파생변수 조합이 핵심 신호를 더 잘 포착한다는 인사이트를 얻을 수 있었습니다. </a:t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5d92b91cd1_1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35d92b91cd1_1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Dacon 제출 후 결과 점수에도 파생변수 2개의 submission이 가장 점수가 높은 것을 볼 수 있습니다. </a:t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5dbbb29bd9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35dbbb29bd9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 dirty="0"/>
              <a:t>XGBoost로 학습 및 예측을 진행했을 때 dacon에 제출 시 weighted MAE는 약 0.2245였습니다.</a:t>
            </a:r>
            <a:endParaRPr dirty="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 dirty="0"/>
              <a:t>최종적으로 세 개의 모델 중 가장 정확도가 높았던 것은 </a:t>
            </a:r>
            <a:r>
              <a:rPr lang="ko" altLang="ko-KR" sz="1100" b="1" dirty="0">
                <a:solidFill>
                  <a:schemeClr val="dk2"/>
                </a:solidFill>
              </a:rPr>
              <a:t>LGBMRegressor</a:t>
            </a:r>
            <a:r>
              <a:rPr lang="ko" dirty="0"/>
              <a:t>이었습니다.</a:t>
            </a:r>
            <a:endParaRPr dirty="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9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4.png"/><Relationship Id="rId9" Type="http://schemas.openxmlformats.org/officeDocument/2006/relationships/image" Target="../media/image2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5.png"/><Relationship Id="rId4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" name="Google Shape;62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63" name="Google Shape;6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" name="Google Shape;69;p1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70" name="Google Shape;7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5"/>
          <p:cNvSpPr txBox="1"/>
          <p:nvPr/>
        </p:nvSpPr>
        <p:spPr>
          <a:xfrm>
            <a:off x="1476825" y="878625"/>
            <a:ext cx="4614600" cy="2816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rabicPeriod"/>
            </a:pPr>
            <a:r>
              <a:rPr lang="ko" sz="1800" b="1" dirty="0">
                <a:solidFill>
                  <a:schemeClr val="dk2"/>
                </a:solidFill>
              </a:rPr>
              <a:t>프로젝트 소개</a:t>
            </a:r>
            <a:endParaRPr lang="en-US" altLang="ko" sz="1800" b="1" dirty="0">
              <a:solidFill>
                <a:schemeClr val="dk2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rabicPeriod"/>
            </a:pPr>
            <a:endParaRPr lang="en-US" altLang="ko" sz="1800" b="1" dirty="0">
              <a:solidFill>
                <a:schemeClr val="dk2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rabicPeriod"/>
            </a:pPr>
            <a:r>
              <a:rPr lang="ko" sz="1800" b="1" dirty="0">
                <a:solidFill>
                  <a:schemeClr val="dk2"/>
                </a:solidFill>
              </a:rPr>
              <a:t>데이터 전처리</a:t>
            </a:r>
            <a:endParaRPr lang="en-US" altLang="ko" sz="1800" b="1" dirty="0">
              <a:solidFill>
                <a:schemeClr val="dk2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rabicPeriod"/>
            </a:pPr>
            <a:endParaRPr lang="en-US" altLang="ko" sz="1800" b="1" dirty="0">
              <a:solidFill>
                <a:schemeClr val="dk2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rabicPeriod"/>
            </a:pPr>
            <a:r>
              <a:rPr lang="ko" sz="1800" b="1" dirty="0">
                <a:solidFill>
                  <a:schemeClr val="dk2"/>
                </a:solidFill>
              </a:rPr>
              <a:t>모델링</a:t>
            </a:r>
            <a:endParaRPr lang="en-US" altLang="ko" sz="1800" b="1" dirty="0">
              <a:solidFill>
                <a:schemeClr val="dk2"/>
              </a:solidFill>
            </a:endParaRPr>
          </a:p>
          <a:p>
            <a:pPr marL="914400" lvl="1" indent="-323850">
              <a:buClr>
                <a:schemeClr val="dk2"/>
              </a:buClr>
              <a:buSzPts val="1500"/>
              <a:buAutoNum type="alphaLcPeriod"/>
            </a:pPr>
            <a:r>
              <a:rPr lang="en-US" altLang="ko" sz="1500" dirty="0" err="1">
                <a:solidFill>
                  <a:schemeClr val="dk2"/>
                </a:solidFill>
              </a:rPr>
              <a:t>RandonForestRegressor</a:t>
            </a:r>
            <a:endParaRPr lang="en-US" altLang="ko-KR" sz="1500" dirty="0">
              <a:solidFill>
                <a:schemeClr val="dk2"/>
              </a:solidFill>
            </a:endParaRPr>
          </a:p>
          <a:p>
            <a:pPr marL="914400" lvl="1" indent="-323850">
              <a:buClr>
                <a:schemeClr val="dk2"/>
              </a:buClr>
              <a:buSzPts val="1500"/>
              <a:buAutoNum type="alphaLcPeriod"/>
            </a:pPr>
            <a:r>
              <a:rPr lang="en-US" altLang="ko" sz="1500" dirty="0" err="1">
                <a:solidFill>
                  <a:schemeClr val="dk2"/>
                </a:solidFill>
              </a:rPr>
              <a:t>XGBRegressor</a:t>
            </a:r>
            <a:endParaRPr lang="en-US" altLang="ko-KR" sz="1500" dirty="0">
              <a:solidFill>
                <a:schemeClr val="dk2"/>
              </a:solidFill>
            </a:endParaRPr>
          </a:p>
          <a:p>
            <a:pPr marL="914400" lvl="1" indent="-323850">
              <a:buClr>
                <a:schemeClr val="dk2"/>
              </a:buClr>
              <a:buSzPts val="1500"/>
              <a:buAutoNum type="alphaLcPeriod"/>
            </a:pPr>
            <a:r>
              <a:rPr lang="en-US" altLang="ko" sz="1500" dirty="0" err="1">
                <a:solidFill>
                  <a:schemeClr val="dk2"/>
                </a:solidFill>
              </a:rPr>
              <a:t>LGBMRegressor</a:t>
            </a:r>
            <a:endParaRPr lang="en-US" altLang="ko-KR" sz="1800" b="1" dirty="0">
              <a:solidFill>
                <a:schemeClr val="dk2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rabicPeriod"/>
            </a:pPr>
            <a:endParaRPr lang="en-US" altLang="ko" sz="1800" b="1" dirty="0">
              <a:solidFill>
                <a:schemeClr val="dk2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rabicPeriod"/>
            </a:pPr>
            <a:r>
              <a:rPr lang="ko-KR" altLang="en-US" sz="1800" b="1" dirty="0">
                <a:solidFill>
                  <a:schemeClr val="dk2"/>
                </a:solidFill>
              </a:rPr>
              <a:t>결과 비교</a:t>
            </a:r>
            <a:endParaRPr sz="1800" b="1" dirty="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" name="Google Shape;77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78" name="Google Shape;7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16"/>
          <p:cNvSpPr txBox="1"/>
          <p:nvPr/>
        </p:nvSpPr>
        <p:spPr>
          <a:xfrm>
            <a:off x="1412725" y="300800"/>
            <a:ext cx="46146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2100">
                <a:solidFill>
                  <a:srgbClr val="19264B"/>
                </a:solidFill>
              </a:rPr>
              <a:t>프로젝트 소개</a:t>
            </a:r>
            <a:endParaRPr sz="2000">
              <a:solidFill>
                <a:srgbClr val="19264B"/>
              </a:solidFill>
            </a:endParaRPr>
          </a:p>
        </p:txBody>
      </p:sp>
      <p:sp>
        <p:nvSpPr>
          <p:cNvPr id="80" name="Google Shape;80;p16"/>
          <p:cNvSpPr txBox="1"/>
          <p:nvPr/>
        </p:nvSpPr>
        <p:spPr>
          <a:xfrm>
            <a:off x="1412725" y="808700"/>
            <a:ext cx="7641300" cy="36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  <a:highlight>
                  <a:srgbClr val="FFD966"/>
                </a:highlight>
              </a:rPr>
              <a:t>[기업 성공 확률 예측 해커톤: 미래의 성공기업을 발굴하라!]</a:t>
            </a:r>
            <a:endParaRPr sz="1800">
              <a:solidFill>
                <a:schemeClr val="dk2"/>
              </a:solidFill>
              <a:highlight>
                <a:srgbClr val="FFD966"/>
              </a:highlight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chemeClr val="dk2"/>
              </a:solidFill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-"/>
            </a:pPr>
            <a:r>
              <a:rPr lang="ko" sz="1500" b="1">
                <a:solidFill>
                  <a:schemeClr val="dk2"/>
                </a:solidFill>
              </a:rPr>
              <a:t>DACON 해커톤</a:t>
            </a:r>
            <a:endParaRPr sz="1500" b="1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chemeClr val="dk2"/>
              </a:solidFill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-"/>
            </a:pPr>
            <a:r>
              <a:rPr lang="ko" sz="1500" b="1">
                <a:solidFill>
                  <a:schemeClr val="dk2"/>
                </a:solidFill>
              </a:rPr>
              <a:t>주제</a:t>
            </a:r>
            <a:endParaRPr sz="1500" b="1">
              <a:solidFill>
                <a:schemeClr val="dk2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2"/>
                </a:solidFill>
              </a:rPr>
              <a:t>: </a:t>
            </a:r>
            <a:r>
              <a:rPr lang="ko" sz="1500">
                <a:solidFill>
                  <a:schemeClr val="dk1"/>
                </a:solidFill>
                <a:highlight>
                  <a:srgbClr val="FFFFFF"/>
                </a:highlight>
              </a:rPr>
              <a:t>기업의 성공 확률 예측 AI 알고리즘 개발</a:t>
            </a:r>
            <a:endParaRPr sz="15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-"/>
            </a:pPr>
            <a:r>
              <a:rPr lang="ko" sz="1500" b="1">
                <a:solidFill>
                  <a:schemeClr val="dk2"/>
                </a:solidFill>
              </a:rPr>
              <a:t>목표</a:t>
            </a:r>
            <a:endParaRPr sz="1500" b="1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2"/>
                </a:solidFill>
              </a:rPr>
              <a:t>	: </a:t>
            </a:r>
            <a:r>
              <a:rPr lang="ko" sz="1500">
                <a:solidFill>
                  <a:schemeClr val="dk1"/>
                </a:solidFill>
                <a:highlight>
                  <a:srgbClr val="FFFFFF"/>
                </a:highlight>
              </a:rPr>
              <a:t>다양한 기업 데이터를 기반으로 AI 알고리즘을 개발하여, </a:t>
            </a:r>
            <a:endParaRPr sz="15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highlight>
                  <a:srgbClr val="FFFFFF"/>
                </a:highlight>
              </a:rPr>
              <a:t>  기업의 성공 가능성을 예측하는 것.</a:t>
            </a:r>
            <a:endParaRPr sz="15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-"/>
            </a:pPr>
            <a:r>
              <a:rPr lang="ko" sz="1500" b="1">
                <a:solidFill>
                  <a:schemeClr val="dk1"/>
                </a:solidFill>
                <a:highlight>
                  <a:srgbClr val="FFFFFF"/>
                </a:highlight>
              </a:rPr>
              <a:t>데이터</a:t>
            </a:r>
            <a:endParaRPr sz="1500" b="1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-"/>
            </a:pPr>
            <a:r>
              <a:rPr lang="ko" sz="1500">
                <a:solidFill>
                  <a:schemeClr val="dk1"/>
                </a:solidFill>
                <a:highlight>
                  <a:srgbClr val="FFFFFF"/>
                </a:highlight>
              </a:rPr>
              <a:t>train.csv</a:t>
            </a:r>
            <a:endParaRPr sz="15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-"/>
            </a:pPr>
            <a:r>
              <a:rPr lang="ko" sz="1500">
                <a:solidFill>
                  <a:schemeClr val="dk1"/>
                </a:solidFill>
                <a:highlight>
                  <a:srgbClr val="FFFFFF"/>
                </a:highlight>
              </a:rPr>
              <a:t>test.csv</a:t>
            </a:r>
            <a:endParaRPr sz="15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-"/>
            </a:pPr>
            <a:r>
              <a:rPr lang="ko" sz="1500">
                <a:solidFill>
                  <a:schemeClr val="dk1"/>
                </a:solidFill>
                <a:highlight>
                  <a:srgbClr val="FFFFFF"/>
                </a:highlight>
              </a:rPr>
              <a:t>sample_submission.csv</a:t>
            </a:r>
            <a:endParaRPr sz="1500">
              <a:solidFill>
                <a:schemeClr val="dk1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87" name="Google Shape;87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7"/>
          <p:cNvSpPr txBox="1"/>
          <p:nvPr/>
        </p:nvSpPr>
        <p:spPr>
          <a:xfrm>
            <a:off x="1412725" y="300800"/>
            <a:ext cx="46146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2100">
                <a:solidFill>
                  <a:srgbClr val="19264B"/>
                </a:solidFill>
              </a:rPr>
              <a:t>데이터 전처리</a:t>
            </a:r>
            <a:endParaRPr sz="2000">
              <a:solidFill>
                <a:srgbClr val="19264B"/>
              </a:solidFill>
            </a:endParaRPr>
          </a:p>
        </p:txBody>
      </p:sp>
      <p:sp>
        <p:nvSpPr>
          <p:cNvPr id="89" name="Google Shape;89;p17"/>
          <p:cNvSpPr txBox="1"/>
          <p:nvPr/>
        </p:nvSpPr>
        <p:spPr>
          <a:xfrm>
            <a:off x="1412725" y="808700"/>
            <a:ext cx="7641300" cy="424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 b="1" dirty="0">
                <a:solidFill>
                  <a:schemeClr val="dk2"/>
                </a:solidFill>
                <a:highlight>
                  <a:srgbClr val="FFD966"/>
                </a:highlight>
              </a:rPr>
              <a:t>[EDA]</a:t>
            </a:r>
            <a:endParaRPr sz="1800" b="1" dirty="0">
              <a:solidFill>
                <a:schemeClr val="dk2"/>
              </a:solidFill>
              <a:highlight>
                <a:srgbClr val="FFD966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 dirty="0">
              <a:solidFill>
                <a:schemeClr val="dk2"/>
              </a:solidFill>
              <a:highlight>
                <a:srgbClr val="FFD966"/>
              </a:highlight>
            </a:endParaRPr>
          </a:p>
          <a:p>
            <a:pPr marL="133350" lvl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</a:pPr>
            <a:r>
              <a:rPr lang="en-US" altLang="ko" sz="1500" b="1" dirty="0">
                <a:solidFill>
                  <a:schemeClr val="dk2"/>
                </a:solidFill>
                <a:highlight>
                  <a:schemeClr val="lt1"/>
                </a:highlight>
              </a:rPr>
              <a:t>1. </a:t>
            </a:r>
            <a:r>
              <a:rPr lang="ko" sz="1500" b="1" dirty="0">
                <a:solidFill>
                  <a:schemeClr val="dk2"/>
                </a:solidFill>
                <a:highlight>
                  <a:schemeClr val="lt1"/>
                </a:highlight>
              </a:rPr>
              <a:t>데이터 크기 확인</a:t>
            </a:r>
            <a:r>
              <a:rPr lang="ko" sz="1500" dirty="0">
                <a:solidFill>
                  <a:schemeClr val="dk2"/>
                </a:solidFill>
                <a:highlight>
                  <a:schemeClr val="lt1"/>
                </a:highlight>
              </a:rPr>
              <a:t> </a:t>
            </a:r>
            <a:endParaRPr sz="1500" dirty="0">
              <a:solidFill>
                <a:schemeClr val="dk2"/>
              </a:solidFill>
              <a:highlight>
                <a:schemeClr val="lt1"/>
              </a:highlight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 dirty="0">
                <a:solidFill>
                  <a:schemeClr val="dk2"/>
                </a:solidFill>
                <a:highlight>
                  <a:schemeClr val="lt1"/>
                </a:highlight>
              </a:rPr>
              <a:t>: 14개 칼럼</a:t>
            </a:r>
            <a:endParaRPr sz="1500" dirty="0">
              <a:solidFill>
                <a:schemeClr val="dk2"/>
              </a:solidFill>
              <a:highlight>
                <a:schemeClr val="lt1"/>
              </a:highlight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 dirty="0">
              <a:solidFill>
                <a:schemeClr val="dk2"/>
              </a:solidFill>
              <a:highlight>
                <a:schemeClr val="lt1"/>
              </a:highlight>
            </a:endParaRPr>
          </a:p>
          <a:p>
            <a:pPr marL="133350" lvl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</a:pPr>
            <a:r>
              <a:rPr lang="en-US" altLang="ko" sz="1500" b="1" dirty="0">
                <a:solidFill>
                  <a:schemeClr val="dk2"/>
                </a:solidFill>
                <a:highlight>
                  <a:schemeClr val="lt1"/>
                </a:highlight>
              </a:rPr>
              <a:t>2. </a:t>
            </a:r>
            <a:r>
              <a:rPr lang="ko" sz="1500" b="1" dirty="0">
                <a:solidFill>
                  <a:schemeClr val="dk2"/>
                </a:solidFill>
                <a:highlight>
                  <a:schemeClr val="lt1"/>
                </a:highlight>
              </a:rPr>
              <a:t>기본 정보 확인</a:t>
            </a:r>
            <a:endParaRPr sz="1500" b="1" dirty="0">
              <a:solidFill>
                <a:schemeClr val="dk2"/>
              </a:solidFill>
              <a:highlight>
                <a:schemeClr val="lt1"/>
              </a:highlight>
            </a:endParaRPr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AutoNum type="alphaLcPeriod"/>
            </a:pPr>
            <a:r>
              <a:rPr lang="ko" sz="1500" b="1" dirty="0">
                <a:solidFill>
                  <a:schemeClr val="dk2"/>
                </a:solidFill>
                <a:highlight>
                  <a:schemeClr val="lt1"/>
                </a:highlight>
              </a:rPr>
              <a:t>칼럼 구성</a:t>
            </a:r>
            <a:endParaRPr sz="1500" b="1" dirty="0">
              <a:solidFill>
                <a:schemeClr val="dk2"/>
              </a:solidFill>
              <a:highlight>
                <a:schemeClr val="lt1"/>
              </a:highlight>
            </a:endParaRPr>
          </a:p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 dirty="0">
                <a:solidFill>
                  <a:schemeClr val="dk2"/>
                </a:solidFill>
                <a:highlight>
                  <a:schemeClr val="lt1"/>
                </a:highlight>
              </a:rPr>
              <a:t>: ID, 설립연도, 국가, 분야, 투자단계, </a:t>
            </a:r>
            <a:endParaRPr sz="1500" dirty="0">
              <a:solidFill>
                <a:schemeClr val="dk2"/>
              </a:solidFill>
              <a:highlight>
                <a:schemeClr val="lt1"/>
              </a:highlight>
            </a:endParaRPr>
          </a:p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 dirty="0">
                <a:solidFill>
                  <a:schemeClr val="dk2"/>
                </a:solidFill>
                <a:highlight>
                  <a:schemeClr val="lt1"/>
                </a:highlight>
              </a:rPr>
              <a:t>직원 수, 인수여부, 상장여부, 고객수(백만명), </a:t>
            </a:r>
            <a:endParaRPr sz="1500" dirty="0">
              <a:solidFill>
                <a:schemeClr val="dk2"/>
              </a:solidFill>
              <a:highlight>
                <a:schemeClr val="lt1"/>
              </a:highlight>
            </a:endParaRPr>
          </a:p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 dirty="0">
                <a:solidFill>
                  <a:schemeClr val="dk2"/>
                </a:solidFill>
                <a:highlight>
                  <a:schemeClr val="lt1"/>
                </a:highlight>
              </a:rPr>
              <a:t>총 투자금(억원), 연매출(억원), SNS 팔로워 수(백만명), </a:t>
            </a:r>
            <a:endParaRPr sz="1500" dirty="0">
              <a:solidFill>
                <a:schemeClr val="dk2"/>
              </a:solidFill>
              <a:highlight>
                <a:schemeClr val="lt1"/>
              </a:highlight>
            </a:endParaRPr>
          </a:p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 dirty="0">
                <a:solidFill>
                  <a:schemeClr val="dk2"/>
                </a:solidFill>
                <a:highlight>
                  <a:schemeClr val="lt1"/>
                </a:highlight>
              </a:rPr>
              <a:t>기업가치(백억원), 성공확률</a:t>
            </a:r>
            <a:endParaRPr sz="1500" dirty="0">
              <a:solidFill>
                <a:schemeClr val="dk2"/>
              </a:solidFill>
              <a:highlight>
                <a:schemeClr val="lt1"/>
              </a:highlight>
            </a:endParaRPr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AutoNum type="alphaLcPeriod"/>
            </a:pPr>
            <a:r>
              <a:rPr lang="ko" sz="1500" b="1" dirty="0">
                <a:solidFill>
                  <a:schemeClr val="dk2"/>
                </a:solidFill>
                <a:highlight>
                  <a:schemeClr val="lt1"/>
                </a:highlight>
              </a:rPr>
              <a:t>범주형 데이터 존재 확인</a:t>
            </a:r>
            <a:endParaRPr sz="1500" b="1" dirty="0">
              <a:solidFill>
                <a:schemeClr val="dk2"/>
              </a:solidFill>
              <a:highlight>
                <a:schemeClr val="lt1"/>
              </a:highlight>
            </a:endParaRPr>
          </a:p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 dirty="0">
                <a:solidFill>
                  <a:schemeClr val="dk2"/>
                </a:solidFill>
                <a:highlight>
                  <a:schemeClr val="lt1"/>
                </a:highlight>
              </a:rPr>
              <a:t>: 국가, 분야, 투자단계, 인수여부 , 상장여부</a:t>
            </a:r>
            <a:endParaRPr sz="1500" dirty="0">
              <a:solidFill>
                <a:schemeClr val="dk2"/>
              </a:solidFill>
              <a:highlight>
                <a:schemeClr val="lt1"/>
              </a:highlight>
            </a:endParaRPr>
          </a:p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 dirty="0">
              <a:solidFill>
                <a:schemeClr val="dk2"/>
              </a:solidFill>
              <a:highlight>
                <a:schemeClr val="lt1"/>
              </a:highlight>
            </a:endParaRPr>
          </a:p>
          <a:p>
            <a:pPr marL="133350" lvl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</a:pPr>
            <a:r>
              <a:rPr lang="en-US" altLang="ko" sz="1500" b="1" dirty="0">
                <a:solidFill>
                  <a:schemeClr val="dk2"/>
                </a:solidFill>
                <a:highlight>
                  <a:schemeClr val="lt1"/>
                </a:highlight>
              </a:rPr>
              <a:t>3. </a:t>
            </a:r>
            <a:r>
              <a:rPr lang="ko" sz="1500" b="1" dirty="0">
                <a:solidFill>
                  <a:schemeClr val="dk2"/>
                </a:solidFill>
                <a:highlight>
                  <a:schemeClr val="lt1"/>
                </a:highlight>
              </a:rPr>
              <a:t>결측치 존재 칼럼 확인 : 4개</a:t>
            </a:r>
            <a:endParaRPr sz="1500" b="1" dirty="0">
              <a:solidFill>
                <a:schemeClr val="dk2"/>
              </a:solidFill>
              <a:highlight>
                <a:schemeClr val="lt1"/>
              </a:highlight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 dirty="0">
                <a:solidFill>
                  <a:schemeClr val="dk2"/>
                </a:solidFill>
                <a:highlight>
                  <a:schemeClr val="lt1"/>
                </a:highlight>
              </a:rPr>
              <a:t>: 분야(857개), 직원 수(174개), 고객수(백만명)(1320개), 기업가치(백억원)(1220개)</a:t>
            </a:r>
            <a:endParaRPr sz="1500" dirty="0">
              <a:solidFill>
                <a:schemeClr val="dk2"/>
              </a:solidFill>
              <a:highlight>
                <a:schemeClr val="lt1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2"/>
              </a:solidFill>
              <a:highlight>
                <a:schemeClr val="lt1"/>
              </a:highlight>
            </a:endParaRPr>
          </a:p>
        </p:txBody>
      </p:sp>
      <p:pic>
        <p:nvPicPr>
          <p:cNvPr id="90" name="Google Shape;90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94100" y="1810499"/>
            <a:ext cx="1654525" cy="2244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1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97" name="Google Shape;9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8"/>
          <p:cNvSpPr txBox="1"/>
          <p:nvPr/>
        </p:nvSpPr>
        <p:spPr>
          <a:xfrm>
            <a:off x="1412725" y="300800"/>
            <a:ext cx="46146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2100">
                <a:solidFill>
                  <a:srgbClr val="19264B"/>
                </a:solidFill>
              </a:rPr>
              <a:t>데이터 전처리</a:t>
            </a:r>
            <a:endParaRPr sz="2000">
              <a:solidFill>
                <a:srgbClr val="19264B"/>
              </a:solidFill>
            </a:endParaRPr>
          </a:p>
        </p:txBody>
      </p:sp>
      <p:sp>
        <p:nvSpPr>
          <p:cNvPr id="99" name="Google Shape;99;p18"/>
          <p:cNvSpPr txBox="1"/>
          <p:nvPr/>
        </p:nvSpPr>
        <p:spPr>
          <a:xfrm>
            <a:off x="1412725" y="423088"/>
            <a:ext cx="7641300" cy="420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dk2"/>
              </a:solidFill>
              <a:highlight>
                <a:srgbClr val="FFD966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 b="1">
                <a:solidFill>
                  <a:schemeClr val="accent2"/>
                </a:solidFill>
                <a:highlight>
                  <a:schemeClr val="lt1"/>
                </a:highlight>
              </a:rPr>
              <a:t>4. 타겟 변수 '성공확률'의 분포 시각화</a:t>
            </a:r>
            <a:endParaRPr sz="1500" b="1">
              <a:solidFill>
                <a:schemeClr val="accent2"/>
              </a:solidFill>
              <a:highlight>
                <a:schemeClr val="lt1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 b="1">
              <a:solidFill>
                <a:schemeClr val="dk2"/>
              </a:solidFill>
              <a:highlight>
                <a:schemeClr val="lt1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chemeClr val="dk2"/>
              </a:solidFill>
              <a:highlight>
                <a:schemeClr val="lt1"/>
              </a:highlight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chemeClr val="dk2"/>
              </a:solidFill>
              <a:highlight>
                <a:schemeClr val="lt1"/>
              </a:highlight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chemeClr val="dk2"/>
              </a:solidFill>
              <a:highlight>
                <a:schemeClr val="lt1"/>
              </a:highlight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chemeClr val="dk2"/>
              </a:solidFill>
              <a:highlight>
                <a:schemeClr val="lt1"/>
              </a:highlight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chemeClr val="dk2"/>
              </a:solidFill>
              <a:highlight>
                <a:schemeClr val="lt1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chemeClr val="dk2"/>
              </a:solidFill>
              <a:highlight>
                <a:schemeClr val="lt1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500" b="1">
                <a:solidFill>
                  <a:schemeClr val="dk2"/>
                </a:solidFill>
                <a:highlight>
                  <a:schemeClr val="lt1"/>
                </a:highlight>
              </a:rPr>
              <a:t>      -&gt; </a:t>
            </a:r>
            <a:r>
              <a:rPr lang="ko" sz="1500">
                <a:solidFill>
                  <a:schemeClr val="dk1"/>
                </a:solidFill>
              </a:rPr>
              <a:t>데이터의 불균형성이 있는지 확인하기 위해 진행</a:t>
            </a:r>
            <a:endParaRPr sz="1500">
              <a:solidFill>
                <a:schemeClr val="dk2"/>
              </a:solidFill>
              <a:highlight>
                <a:schemeClr val="lt1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chemeClr val="dk2"/>
              </a:solidFill>
              <a:highlight>
                <a:schemeClr val="lt1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 b="1">
                <a:solidFill>
                  <a:schemeClr val="accent2"/>
                </a:solidFill>
                <a:highlight>
                  <a:schemeClr val="lt1"/>
                </a:highlight>
              </a:rPr>
              <a:t>5. 수치형 변수 상관관계 분석</a:t>
            </a:r>
            <a:endParaRPr sz="1500" b="1">
              <a:solidFill>
                <a:schemeClr val="accent2"/>
              </a:solidFill>
              <a:highlight>
                <a:schemeClr val="lt1"/>
              </a:highlight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-"/>
            </a:pPr>
            <a:r>
              <a:rPr lang="ko" sz="1500">
                <a:solidFill>
                  <a:schemeClr val="accent2"/>
                </a:solidFill>
                <a:highlight>
                  <a:schemeClr val="lt1"/>
                </a:highlight>
              </a:rPr>
              <a:t>유의미한 변수 탐색</a:t>
            </a:r>
            <a:endParaRPr sz="1500">
              <a:solidFill>
                <a:schemeClr val="accent2"/>
              </a:solidFill>
              <a:highlight>
                <a:schemeClr val="lt1"/>
              </a:highlight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-"/>
            </a:pPr>
            <a:r>
              <a:rPr lang="ko" sz="1500">
                <a:solidFill>
                  <a:schemeClr val="accent2"/>
                </a:solidFill>
                <a:highlight>
                  <a:schemeClr val="lt1"/>
                </a:highlight>
              </a:rPr>
              <a:t>파생변수 형성 시 사용</a:t>
            </a:r>
            <a:endParaRPr sz="1500">
              <a:solidFill>
                <a:schemeClr val="accent2"/>
              </a:solidFill>
              <a:highlight>
                <a:schemeClr val="lt1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 b="1">
              <a:solidFill>
                <a:schemeClr val="dk2"/>
              </a:solidFill>
              <a:highlight>
                <a:schemeClr val="lt1"/>
              </a:highlight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chemeClr val="dk2"/>
              </a:solidFill>
              <a:highlight>
                <a:schemeClr val="lt1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  <a:highlight>
                <a:schemeClr val="lt1"/>
              </a:highlight>
            </a:endParaRPr>
          </a:p>
        </p:txBody>
      </p:sp>
      <p:pic>
        <p:nvPicPr>
          <p:cNvPr id="100" name="Google Shape;100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97575" y="1017728"/>
            <a:ext cx="2166725" cy="158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096287" y="2969425"/>
            <a:ext cx="2274176" cy="2072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1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08" name="Google Shape;10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9"/>
          <p:cNvSpPr txBox="1"/>
          <p:nvPr/>
        </p:nvSpPr>
        <p:spPr>
          <a:xfrm>
            <a:off x="1412725" y="116525"/>
            <a:ext cx="46146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2100">
                <a:solidFill>
                  <a:srgbClr val="19264B"/>
                </a:solidFill>
              </a:rPr>
              <a:t>데이터 전처리</a:t>
            </a:r>
            <a:endParaRPr sz="2000">
              <a:solidFill>
                <a:srgbClr val="19264B"/>
              </a:solidFill>
            </a:endParaRPr>
          </a:p>
        </p:txBody>
      </p:sp>
      <p:sp>
        <p:nvSpPr>
          <p:cNvPr id="110" name="Google Shape;110;p19"/>
          <p:cNvSpPr txBox="1"/>
          <p:nvPr/>
        </p:nvSpPr>
        <p:spPr>
          <a:xfrm>
            <a:off x="1412725" y="520275"/>
            <a:ext cx="7641300" cy="45704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 b="1" dirty="0">
                <a:solidFill>
                  <a:schemeClr val="dk2"/>
                </a:solidFill>
                <a:highlight>
                  <a:srgbClr val="FFD966"/>
                </a:highlight>
              </a:rPr>
              <a:t>[기초 전처리]</a:t>
            </a:r>
            <a:endParaRPr sz="1800" b="1" dirty="0">
              <a:solidFill>
                <a:schemeClr val="dk2"/>
              </a:solidFill>
              <a:highlight>
                <a:srgbClr val="FFD966"/>
              </a:highlight>
            </a:endParaRPr>
          </a:p>
          <a:p>
            <a:pPr marL="133350" lvl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</a:pPr>
            <a:r>
              <a:rPr lang="en-US" altLang="ko" sz="1500" b="1" dirty="0">
                <a:solidFill>
                  <a:schemeClr val="dk2"/>
                </a:solidFill>
                <a:highlight>
                  <a:schemeClr val="lt1"/>
                </a:highlight>
              </a:rPr>
              <a:t>1. </a:t>
            </a:r>
            <a:r>
              <a:rPr lang="ko" sz="1500" b="1" dirty="0">
                <a:solidFill>
                  <a:schemeClr val="dk2"/>
                </a:solidFill>
                <a:highlight>
                  <a:schemeClr val="lt1"/>
                </a:highlight>
              </a:rPr>
              <a:t>‘ID’ 칼럼 삭제 </a:t>
            </a:r>
            <a:endParaRPr sz="1500" b="1" dirty="0">
              <a:solidFill>
                <a:schemeClr val="dk2"/>
              </a:solidFill>
              <a:highlight>
                <a:schemeClr val="lt1"/>
              </a:highlight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 dirty="0">
              <a:solidFill>
                <a:schemeClr val="dk2"/>
              </a:solidFill>
              <a:highlight>
                <a:schemeClr val="lt1"/>
              </a:highlight>
            </a:endParaRPr>
          </a:p>
          <a:p>
            <a:pPr marL="133350" lvl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</a:pPr>
            <a:r>
              <a:rPr lang="en-US" altLang="ko" sz="1500" b="1" dirty="0">
                <a:solidFill>
                  <a:schemeClr val="dk2"/>
                </a:solidFill>
                <a:highlight>
                  <a:schemeClr val="lt1"/>
                </a:highlight>
              </a:rPr>
              <a:t>2. </a:t>
            </a:r>
            <a:r>
              <a:rPr lang="ko" sz="1500" b="1" dirty="0">
                <a:solidFill>
                  <a:schemeClr val="dk2"/>
                </a:solidFill>
                <a:highlight>
                  <a:schemeClr val="lt1"/>
                </a:highlight>
              </a:rPr>
              <a:t>결측치 처리</a:t>
            </a:r>
            <a:endParaRPr sz="1500" b="1" dirty="0">
              <a:solidFill>
                <a:schemeClr val="dk2"/>
              </a:solidFill>
              <a:highlight>
                <a:schemeClr val="lt1"/>
              </a:highlight>
            </a:endParaRPr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AutoNum type="alphaLcPeriod"/>
            </a:pPr>
            <a:r>
              <a:rPr lang="ko" sz="1500" dirty="0">
                <a:solidFill>
                  <a:schemeClr val="dk2"/>
                </a:solidFill>
                <a:highlight>
                  <a:schemeClr val="lt1"/>
                </a:highlight>
              </a:rPr>
              <a:t>‘분야’ 칼럼 결측치 -&gt; ‘Unknown’ 처리</a:t>
            </a:r>
            <a:endParaRPr sz="1500" dirty="0">
              <a:solidFill>
                <a:schemeClr val="dk2"/>
              </a:solidFill>
              <a:highlight>
                <a:schemeClr val="lt1"/>
              </a:highlight>
            </a:endParaRPr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AutoNum type="alphaLcPeriod"/>
            </a:pPr>
            <a:r>
              <a:rPr lang="ko" sz="1500" dirty="0">
                <a:solidFill>
                  <a:schemeClr val="dk2"/>
                </a:solidFill>
                <a:highlight>
                  <a:schemeClr val="lt1"/>
                </a:highlight>
              </a:rPr>
              <a:t>'직원 수', '고객수(백만명)' 칼럼 결측치 -&gt; 'median' 대체 </a:t>
            </a:r>
            <a:endParaRPr sz="1500" dirty="0">
              <a:solidFill>
                <a:schemeClr val="dk2"/>
              </a:solidFill>
              <a:highlight>
                <a:schemeClr val="lt1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 dirty="0">
              <a:solidFill>
                <a:schemeClr val="dk2"/>
              </a:solidFill>
              <a:highlight>
                <a:schemeClr val="lt1"/>
              </a:highlight>
            </a:endParaRPr>
          </a:p>
          <a:p>
            <a:pPr marL="133350" lvl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</a:pPr>
            <a:r>
              <a:rPr lang="en-US" altLang="ko" sz="1500" b="1" dirty="0">
                <a:solidFill>
                  <a:schemeClr val="dk2"/>
                </a:solidFill>
                <a:highlight>
                  <a:schemeClr val="lt1"/>
                </a:highlight>
              </a:rPr>
              <a:t>3. </a:t>
            </a:r>
            <a:r>
              <a:rPr lang="ko" sz="1500" b="1" dirty="0">
                <a:solidFill>
                  <a:schemeClr val="dk2"/>
                </a:solidFill>
                <a:highlight>
                  <a:schemeClr val="lt1"/>
                </a:highlight>
              </a:rPr>
              <a:t>‘기업가치’ 칼럼 전처리</a:t>
            </a:r>
            <a:endParaRPr sz="1500" b="1" dirty="0">
              <a:solidFill>
                <a:schemeClr val="dk2"/>
              </a:solidFill>
              <a:highlight>
                <a:schemeClr val="lt1"/>
              </a:highlight>
            </a:endParaRPr>
          </a:p>
          <a:p>
            <a:pPr marL="590550" lvl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</a:pPr>
            <a:r>
              <a:rPr lang="en-US" altLang="ko" sz="1500" b="1" dirty="0">
                <a:solidFill>
                  <a:schemeClr val="dk2"/>
                </a:solidFill>
                <a:highlight>
                  <a:schemeClr val="lt1"/>
                </a:highlight>
              </a:rPr>
              <a:t>1) </a:t>
            </a:r>
            <a:r>
              <a:rPr lang="ko" sz="1500" b="1" dirty="0">
                <a:solidFill>
                  <a:schemeClr val="dk2"/>
                </a:solidFill>
                <a:highlight>
                  <a:schemeClr val="lt1"/>
                </a:highlight>
              </a:rPr>
              <a:t>하한값으로 변환(함수 convert_to_lower_limit 형성하여 처리)</a:t>
            </a:r>
            <a:endParaRPr sz="1500" b="1" dirty="0">
              <a:solidFill>
                <a:schemeClr val="dk2"/>
              </a:solidFill>
              <a:highlight>
                <a:schemeClr val="lt1"/>
              </a:highlight>
            </a:endParaRPr>
          </a:p>
          <a:p>
            <a:pPr marL="1371600" lvl="0" indent="-31115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Char char="-"/>
            </a:pPr>
            <a:r>
              <a:rPr lang="ko" sz="1300" dirty="0">
                <a:solidFill>
                  <a:schemeClr val="dk2"/>
                </a:solidFill>
                <a:highlight>
                  <a:schemeClr val="lt1"/>
                </a:highlight>
              </a:rPr>
              <a:t>값이 '6000이상' -&gt; '6000.0'으로 대체</a:t>
            </a:r>
            <a:endParaRPr sz="1300" dirty="0">
              <a:solidFill>
                <a:schemeClr val="dk2"/>
              </a:solidFill>
              <a:highlight>
                <a:schemeClr val="lt1"/>
              </a:highlight>
            </a:endParaRPr>
          </a:p>
          <a:p>
            <a:pPr marL="1371600" lvl="0" indent="-31115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Char char="-"/>
            </a:pPr>
            <a:r>
              <a:rPr lang="ko" sz="1300" dirty="0">
                <a:solidFill>
                  <a:schemeClr val="dk2"/>
                </a:solidFill>
                <a:highlight>
                  <a:schemeClr val="lt1"/>
                </a:highlight>
              </a:rPr>
              <a:t>값이 특수 문자 '-' 포함한 범주형 -&gt; 하한값('-' 앞의 값)만 추출</a:t>
            </a:r>
            <a:endParaRPr sz="1300" dirty="0">
              <a:solidFill>
                <a:schemeClr val="dk2"/>
              </a:solidFill>
              <a:highlight>
                <a:schemeClr val="lt1"/>
              </a:highlight>
            </a:endParaRPr>
          </a:p>
          <a:p>
            <a:pPr marL="1371600" lvl="0" indent="-31115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Char char="-"/>
            </a:pPr>
            <a:r>
              <a:rPr lang="ko" sz="1300" dirty="0">
                <a:solidFill>
                  <a:schemeClr val="dk2"/>
                </a:solidFill>
                <a:highlight>
                  <a:schemeClr val="lt1"/>
                </a:highlight>
              </a:rPr>
              <a:t>값이 '-'없이 숫자만 문자열 형태로 있는 경우 -&gt; float 변환</a:t>
            </a:r>
            <a:endParaRPr sz="1300" dirty="0">
              <a:solidFill>
                <a:schemeClr val="dk2"/>
              </a:solidFill>
              <a:highlight>
                <a:schemeClr val="lt1"/>
              </a:highlight>
            </a:endParaRPr>
          </a:p>
          <a:p>
            <a:pPr marL="590550" lvl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</a:pPr>
            <a:r>
              <a:rPr lang="en-US" altLang="ko" sz="1500" b="1" dirty="0">
                <a:solidFill>
                  <a:schemeClr val="dk2"/>
                </a:solidFill>
                <a:highlight>
                  <a:schemeClr val="lt1"/>
                </a:highlight>
              </a:rPr>
              <a:t>2) </a:t>
            </a:r>
            <a:r>
              <a:rPr lang="ko" sz="1500" b="1" dirty="0">
                <a:solidFill>
                  <a:schemeClr val="dk2"/>
                </a:solidFill>
                <a:highlight>
                  <a:schemeClr val="lt1"/>
                </a:highlight>
              </a:rPr>
              <a:t>결측치 -&gt; median 대체</a:t>
            </a:r>
            <a:endParaRPr sz="1500" b="1" dirty="0">
              <a:solidFill>
                <a:schemeClr val="dk2"/>
              </a:solidFill>
              <a:highlight>
                <a:schemeClr val="lt1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 dirty="0">
              <a:solidFill>
                <a:schemeClr val="dk2"/>
              </a:solidFill>
              <a:highlight>
                <a:schemeClr val="lt1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" sz="1500" b="1" dirty="0">
                <a:solidFill>
                  <a:schemeClr val="dk2"/>
                </a:solidFill>
                <a:highlight>
                  <a:schemeClr val="lt1"/>
                </a:highlight>
              </a:rPr>
              <a:t>  4. </a:t>
            </a:r>
            <a:r>
              <a:rPr lang="ko" sz="1500" b="1" dirty="0">
                <a:solidFill>
                  <a:schemeClr val="dk2"/>
                </a:solidFill>
                <a:highlight>
                  <a:schemeClr val="lt1"/>
                </a:highlight>
              </a:rPr>
              <a:t>범주형 데이터 처리</a:t>
            </a:r>
            <a:endParaRPr sz="1500" b="1" dirty="0">
              <a:solidFill>
                <a:schemeClr val="dk2"/>
              </a:solidFill>
              <a:highlight>
                <a:schemeClr val="lt1"/>
              </a:highlight>
            </a:endParaRPr>
          </a:p>
          <a:p>
            <a:pPr marL="914400" lvl="0" indent="-32385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AutoNum type="arabicParenR"/>
            </a:pPr>
            <a:r>
              <a:rPr lang="ko" sz="1500" b="1" dirty="0">
                <a:solidFill>
                  <a:schemeClr val="dk2"/>
                </a:solidFill>
                <a:highlight>
                  <a:schemeClr val="lt1"/>
                </a:highlight>
              </a:rPr>
              <a:t>'인수여부', '상장여부' -&gt; Label Encoding</a:t>
            </a:r>
            <a:endParaRPr sz="1500" b="1" dirty="0">
              <a:solidFill>
                <a:schemeClr val="dk2"/>
              </a:solidFill>
              <a:highlight>
                <a:schemeClr val="lt1"/>
              </a:highlight>
            </a:endParaRPr>
          </a:p>
          <a:p>
            <a:pPr marL="914400" lvl="0" indent="-32385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AutoNum type="arabicParenR"/>
            </a:pPr>
            <a:r>
              <a:rPr lang="ko" sz="1500" b="1" dirty="0">
                <a:solidFill>
                  <a:schemeClr val="dk2"/>
                </a:solidFill>
                <a:highlight>
                  <a:schemeClr val="lt1"/>
                </a:highlight>
              </a:rPr>
              <a:t>'국가', '분야', '투자단계' -&gt; One - Hot Encoding</a:t>
            </a:r>
            <a:endParaRPr sz="1500" b="1" dirty="0">
              <a:solidFill>
                <a:schemeClr val="dk2"/>
              </a:solidFill>
              <a:highlight>
                <a:schemeClr val="lt1"/>
              </a:highlight>
            </a:endParaRPr>
          </a:p>
          <a:p>
            <a:pPr marL="914400" lvl="0" indent="-31115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Char char="-"/>
            </a:pPr>
            <a:r>
              <a:rPr lang="ko" sz="1100" dirty="0">
                <a:solidFill>
                  <a:schemeClr val="dk2"/>
                </a:solidFill>
                <a:highlight>
                  <a:schemeClr val="lt1"/>
                </a:highlight>
              </a:rPr>
              <a:t>'국가' - CT001~CT010의 10개 칼럼으로 인코딩</a:t>
            </a:r>
            <a:endParaRPr sz="1100" dirty="0">
              <a:solidFill>
                <a:schemeClr val="dk2"/>
              </a:solidFill>
              <a:highlight>
                <a:schemeClr val="lt1"/>
              </a:highlight>
            </a:endParaRPr>
          </a:p>
          <a:p>
            <a:pPr marL="914400" lvl="0" indent="-31115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Char char="-"/>
            </a:pPr>
            <a:r>
              <a:rPr lang="ko" sz="1100" dirty="0">
                <a:solidFill>
                  <a:schemeClr val="dk2"/>
                </a:solidFill>
                <a:highlight>
                  <a:schemeClr val="lt1"/>
                </a:highlight>
              </a:rPr>
              <a:t>'분야' - 게임, 기술, 물류, 에너지, 에듀테크, 이커머스, 푸드테크, 핀테크, 헬스케어로 인코딩</a:t>
            </a:r>
            <a:endParaRPr sz="1100" dirty="0">
              <a:solidFill>
                <a:schemeClr val="dk2"/>
              </a:solidFill>
              <a:highlight>
                <a:schemeClr val="lt1"/>
              </a:highlight>
            </a:endParaRPr>
          </a:p>
          <a:p>
            <a:pPr marL="914400" lvl="0" indent="-31115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Char char="-"/>
            </a:pPr>
            <a:r>
              <a:rPr lang="ko" sz="1100" dirty="0">
                <a:solidFill>
                  <a:schemeClr val="dk2"/>
                </a:solidFill>
                <a:highlight>
                  <a:schemeClr val="lt1"/>
                </a:highlight>
              </a:rPr>
              <a:t>'투자단계' - IPO, Seed, Series A, Series B, Series C의 5개로 인코딩</a:t>
            </a:r>
            <a:endParaRPr sz="1100" dirty="0">
              <a:solidFill>
                <a:schemeClr val="dk2"/>
              </a:solidFill>
              <a:highlight>
                <a:schemeClr val="lt1"/>
              </a:highlight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2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17" name="Google Shape;117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20"/>
          <p:cNvSpPr txBox="1"/>
          <p:nvPr/>
        </p:nvSpPr>
        <p:spPr>
          <a:xfrm>
            <a:off x="1412725" y="116525"/>
            <a:ext cx="46146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2100">
                <a:solidFill>
                  <a:srgbClr val="19264B"/>
                </a:solidFill>
              </a:rPr>
              <a:t>데이터 전처리</a:t>
            </a:r>
            <a:endParaRPr sz="2000">
              <a:solidFill>
                <a:srgbClr val="19264B"/>
              </a:solidFill>
            </a:endParaRPr>
          </a:p>
        </p:txBody>
      </p:sp>
      <p:sp>
        <p:nvSpPr>
          <p:cNvPr id="119" name="Google Shape;119;p20"/>
          <p:cNvSpPr txBox="1"/>
          <p:nvPr/>
        </p:nvSpPr>
        <p:spPr>
          <a:xfrm>
            <a:off x="1329925" y="624425"/>
            <a:ext cx="7641300" cy="529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 b="1" dirty="0">
                <a:solidFill>
                  <a:schemeClr val="dk2"/>
                </a:solidFill>
                <a:highlight>
                  <a:srgbClr val="FFD966"/>
                </a:highlight>
              </a:rPr>
              <a:t>[이상치 확인]</a:t>
            </a:r>
            <a:endParaRPr sz="1800" b="1" dirty="0">
              <a:solidFill>
                <a:schemeClr val="dk2"/>
              </a:solidFill>
              <a:highlight>
                <a:srgbClr val="FFD966"/>
              </a:highlight>
            </a:endParaRPr>
          </a:p>
          <a:p>
            <a:pPr marL="133350" lvl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</a:pPr>
            <a:r>
              <a:rPr lang="en-US" altLang="ko" sz="1500" b="1" dirty="0">
                <a:solidFill>
                  <a:schemeClr val="dk2"/>
                </a:solidFill>
                <a:highlight>
                  <a:schemeClr val="lt1"/>
                </a:highlight>
              </a:rPr>
              <a:t>1. </a:t>
            </a:r>
            <a:r>
              <a:rPr lang="ko" sz="1500" b="1" dirty="0">
                <a:solidFill>
                  <a:schemeClr val="dk2"/>
                </a:solidFill>
                <a:highlight>
                  <a:schemeClr val="lt1"/>
                </a:highlight>
              </a:rPr>
              <a:t>이상치 확인 -&gt; 특이사항 x</a:t>
            </a:r>
            <a:endParaRPr sz="1500" b="1" dirty="0">
              <a:solidFill>
                <a:schemeClr val="dk2"/>
              </a:solidFill>
              <a:highlight>
                <a:schemeClr val="lt1"/>
              </a:highlight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 b="1" dirty="0">
              <a:solidFill>
                <a:schemeClr val="dk2"/>
              </a:solidFill>
              <a:highlight>
                <a:schemeClr val="lt1"/>
              </a:highlight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 b="1" dirty="0">
              <a:solidFill>
                <a:schemeClr val="dk2"/>
              </a:solidFill>
              <a:highlight>
                <a:schemeClr val="lt1"/>
              </a:highlight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 b="1" dirty="0">
              <a:solidFill>
                <a:schemeClr val="dk2"/>
              </a:solidFill>
              <a:highlight>
                <a:schemeClr val="lt1"/>
              </a:highlight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 b="1" dirty="0">
              <a:solidFill>
                <a:schemeClr val="dk2"/>
              </a:solidFill>
              <a:highlight>
                <a:schemeClr val="lt1"/>
              </a:highlight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 b="1" dirty="0">
              <a:solidFill>
                <a:schemeClr val="dk2"/>
              </a:solidFill>
              <a:highlight>
                <a:schemeClr val="lt1"/>
              </a:highlight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 b="1" dirty="0">
              <a:solidFill>
                <a:schemeClr val="dk2"/>
              </a:solidFill>
              <a:highlight>
                <a:schemeClr val="lt1"/>
              </a:highlight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 b="1" dirty="0">
              <a:solidFill>
                <a:schemeClr val="dk2"/>
              </a:solidFill>
              <a:highlight>
                <a:schemeClr val="lt1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 b="1" dirty="0">
              <a:solidFill>
                <a:schemeClr val="dk2"/>
              </a:solidFill>
              <a:highlight>
                <a:schemeClr val="lt1"/>
              </a:highlight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 b="1" dirty="0">
                <a:solidFill>
                  <a:schemeClr val="dk2"/>
                </a:solidFill>
                <a:highlight>
                  <a:schemeClr val="lt1"/>
                </a:highlight>
              </a:rPr>
              <a:t> </a:t>
            </a:r>
            <a:endParaRPr sz="1500" b="1" dirty="0">
              <a:solidFill>
                <a:schemeClr val="dk2"/>
              </a:solidFill>
              <a:highlight>
                <a:schemeClr val="lt1"/>
              </a:highlight>
            </a:endParaRPr>
          </a:p>
          <a:p>
            <a:pPr marL="133350" lvl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</a:pPr>
            <a:r>
              <a:rPr lang="en-US" altLang="ko" sz="1500" b="1" dirty="0">
                <a:solidFill>
                  <a:schemeClr val="dk2"/>
                </a:solidFill>
                <a:highlight>
                  <a:schemeClr val="lt1"/>
                </a:highlight>
              </a:rPr>
              <a:t>2. </a:t>
            </a:r>
            <a:r>
              <a:rPr lang="ko" sz="1500" b="1" dirty="0">
                <a:solidFill>
                  <a:schemeClr val="dk2"/>
                </a:solidFill>
                <a:highlight>
                  <a:schemeClr val="lt1"/>
                </a:highlight>
              </a:rPr>
              <a:t>변수별 음수 값 확인</a:t>
            </a:r>
            <a:endParaRPr sz="1500" b="1" dirty="0">
              <a:solidFill>
                <a:schemeClr val="dk2"/>
              </a:solidFill>
              <a:highlight>
                <a:schemeClr val="lt1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 b="1" dirty="0">
              <a:solidFill>
                <a:schemeClr val="dk2"/>
              </a:solidFill>
              <a:highlight>
                <a:schemeClr val="lt1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 b="1" dirty="0">
              <a:solidFill>
                <a:schemeClr val="dk2"/>
              </a:solidFill>
              <a:highlight>
                <a:schemeClr val="lt1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 b="1" dirty="0">
              <a:solidFill>
                <a:schemeClr val="dk2"/>
              </a:solidFill>
              <a:highlight>
                <a:schemeClr val="lt1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 b="1" dirty="0">
              <a:solidFill>
                <a:schemeClr val="dk2"/>
              </a:solidFill>
              <a:highlight>
                <a:schemeClr val="lt1"/>
              </a:highlight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 dirty="0">
              <a:solidFill>
                <a:schemeClr val="dk2"/>
              </a:solidFill>
              <a:highlight>
                <a:schemeClr val="lt1"/>
              </a:highlight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 b="1" dirty="0">
              <a:solidFill>
                <a:schemeClr val="dk2"/>
              </a:solidFill>
              <a:highlight>
                <a:schemeClr val="lt1"/>
              </a:highlight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50" dirty="0">
              <a:solidFill>
                <a:schemeClr val="dk1"/>
              </a:solidFill>
              <a:highlight>
                <a:srgbClr val="F7F7F7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50" dirty="0">
              <a:solidFill>
                <a:schemeClr val="dk1"/>
              </a:solidFill>
              <a:highlight>
                <a:srgbClr val="F7F7F7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50" dirty="0">
              <a:solidFill>
                <a:schemeClr val="dk1"/>
              </a:solidFill>
              <a:highlight>
                <a:srgbClr val="F7F7F7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chemeClr val="dk2"/>
              </a:solidFill>
              <a:highlight>
                <a:schemeClr val="lt1"/>
              </a:highlight>
            </a:endParaRPr>
          </a:p>
        </p:txBody>
      </p:sp>
      <p:pic>
        <p:nvPicPr>
          <p:cNvPr id="120" name="Google Shape;120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93126" y="678656"/>
            <a:ext cx="4236488" cy="215106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11938" y="3228975"/>
            <a:ext cx="4181968" cy="1339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2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28" name="Google Shape;128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21"/>
          <p:cNvSpPr txBox="1"/>
          <p:nvPr/>
        </p:nvSpPr>
        <p:spPr>
          <a:xfrm>
            <a:off x="1412725" y="116525"/>
            <a:ext cx="46146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2100">
                <a:solidFill>
                  <a:srgbClr val="19264B"/>
                </a:solidFill>
              </a:rPr>
              <a:t>데이터 전처리</a:t>
            </a:r>
            <a:endParaRPr sz="2000">
              <a:solidFill>
                <a:srgbClr val="19264B"/>
              </a:solidFill>
            </a:endParaRPr>
          </a:p>
        </p:txBody>
      </p:sp>
      <p:sp>
        <p:nvSpPr>
          <p:cNvPr id="130" name="Google Shape;130;p21"/>
          <p:cNvSpPr txBox="1"/>
          <p:nvPr/>
        </p:nvSpPr>
        <p:spPr>
          <a:xfrm>
            <a:off x="1412725" y="696400"/>
            <a:ext cx="7641300" cy="454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 b="1" dirty="0">
                <a:solidFill>
                  <a:schemeClr val="dk2"/>
                </a:solidFill>
                <a:highlight>
                  <a:srgbClr val="FFD966"/>
                </a:highlight>
              </a:rPr>
              <a:t>[파생변수 설정]</a:t>
            </a:r>
            <a:endParaRPr sz="1800" b="1" dirty="0">
              <a:solidFill>
                <a:schemeClr val="dk2"/>
              </a:solidFill>
              <a:highlight>
                <a:srgbClr val="FFD966"/>
              </a:highlight>
            </a:endParaRPr>
          </a:p>
          <a:p>
            <a:pPr marL="133350" lvl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</a:pPr>
            <a:r>
              <a:rPr lang="en-US" altLang="ko" sz="1500" b="1" dirty="0">
                <a:solidFill>
                  <a:schemeClr val="dk2"/>
                </a:solidFill>
                <a:highlight>
                  <a:schemeClr val="lt1"/>
                </a:highlight>
              </a:rPr>
              <a:t>1. </a:t>
            </a:r>
            <a:r>
              <a:rPr lang="ko" sz="1500" b="1" dirty="0">
                <a:solidFill>
                  <a:schemeClr val="dk2"/>
                </a:solidFill>
                <a:highlight>
                  <a:schemeClr val="lt1"/>
                </a:highlight>
              </a:rPr>
              <a:t>업력 (회사의 나이)</a:t>
            </a:r>
            <a:endParaRPr sz="1500" b="1" dirty="0">
              <a:solidFill>
                <a:schemeClr val="dk2"/>
              </a:solidFill>
              <a:highlight>
                <a:schemeClr val="lt1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 b="1" dirty="0">
              <a:solidFill>
                <a:schemeClr val="dk2"/>
              </a:solidFill>
              <a:highlight>
                <a:schemeClr val="lt1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 b="1" dirty="0">
              <a:solidFill>
                <a:schemeClr val="dk2"/>
              </a:solidFill>
              <a:highlight>
                <a:schemeClr val="lt1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 b="1" dirty="0">
              <a:solidFill>
                <a:schemeClr val="dk2"/>
              </a:solidFill>
              <a:highlight>
                <a:schemeClr val="lt1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 b="1" dirty="0">
              <a:solidFill>
                <a:schemeClr val="dk2"/>
              </a:solidFill>
              <a:highlight>
                <a:schemeClr val="lt1"/>
              </a:highlight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 dirty="0">
              <a:solidFill>
                <a:schemeClr val="dk2"/>
              </a:solidFill>
              <a:highlight>
                <a:schemeClr val="lt1"/>
              </a:highlight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 dirty="0">
              <a:solidFill>
                <a:schemeClr val="dk2"/>
              </a:solidFill>
              <a:highlight>
                <a:schemeClr val="lt1"/>
              </a:highlight>
            </a:endParaRPr>
          </a:p>
          <a:p>
            <a:pPr marL="133350" lvl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</a:pPr>
            <a:r>
              <a:rPr lang="en-US" altLang="ko" sz="1500" b="1" dirty="0">
                <a:solidFill>
                  <a:schemeClr val="dk2"/>
                </a:solidFill>
                <a:highlight>
                  <a:schemeClr val="lt1"/>
                </a:highlight>
              </a:rPr>
              <a:t>2. </a:t>
            </a:r>
            <a:r>
              <a:rPr lang="ko" sz="1500" b="1" dirty="0">
                <a:solidFill>
                  <a:schemeClr val="dk2"/>
                </a:solidFill>
                <a:highlight>
                  <a:schemeClr val="lt1"/>
                </a:highlight>
              </a:rPr>
              <a:t>매출대비투자비율 생성</a:t>
            </a:r>
            <a:endParaRPr sz="1500" b="1" dirty="0">
              <a:solidFill>
                <a:schemeClr val="dk2"/>
              </a:solidFill>
              <a:highlight>
                <a:schemeClr val="lt1"/>
              </a:highlight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 b="1" dirty="0">
              <a:solidFill>
                <a:schemeClr val="dk2"/>
              </a:solidFill>
              <a:highlight>
                <a:schemeClr val="lt1"/>
              </a:highlight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 dirty="0">
                <a:solidFill>
                  <a:schemeClr val="dk1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epsilon = </a:t>
            </a:r>
            <a:r>
              <a:rPr lang="ko" sz="1050" dirty="0">
                <a:solidFill>
                  <a:srgbClr val="116644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1e-5</a:t>
            </a:r>
            <a:endParaRPr sz="1050" dirty="0">
              <a:solidFill>
                <a:srgbClr val="116644"/>
              </a:solidFill>
              <a:highlight>
                <a:srgbClr val="F7F7F7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 dirty="0">
                <a:solidFill>
                  <a:schemeClr val="dk1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df[</a:t>
            </a:r>
            <a:r>
              <a:rPr lang="ko" sz="1050" dirty="0">
                <a:solidFill>
                  <a:srgbClr val="A31515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'매출대비투자비율'</a:t>
            </a:r>
            <a:r>
              <a:rPr lang="ko" sz="1050" dirty="0">
                <a:solidFill>
                  <a:schemeClr val="dk1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] = df[</a:t>
            </a:r>
            <a:r>
              <a:rPr lang="ko" sz="1050" dirty="0">
                <a:solidFill>
                  <a:srgbClr val="A31515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'연매출(억원)'</a:t>
            </a:r>
            <a:r>
              <a:rPr lang="ko" sz="1050" dirty="0">
                <a:solidFill>
                  <a:schemeClr val="dk1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] / (df[</a:t>
            </a:r>
            <a:r>
              <a:rPr lang="ko" sz="1050" dirty="0">
                <a:solidFill>
                  <a:srgbClr val="A31515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'총 투자금(억원)'</a:t>
            </a:r>
            <a:r>
              <a:rPr lang="ko" sz="1050" dirty="0">
                <a:solidFill>
                  <a:schemeClr val="dk1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] + epsilon)</a:t>
            </a:r>
            <a:endParaRPr sz="1050" dirty="0">
              <a:solidFill>
                <a:schemeClr val="dk1"/>
              </a:solidFill>
              <a:highlight>
                <a:srgbClr val="F7F7F7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50" dirty="0">
              <a:solidFill>
                <a:schemeClr val="dk1"/>
              </a:solidFill>
              <a:highlight>
                <a:srgbClr val="F7F7F7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50" dirty="0">
              <a:solidFill>
                <a:schemeClr val="dk1"/>
              </a:solidFill>
              <a:highlight>
                <a:srgbClr val="F7F7F7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133350" lvl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</a:pPr>
            <a:r>
              <a:rPr lang="en-US" altLang="ko" sz="1500" b="1" dirty="0">
                <a:solidFill>
                  <a:schemeClr val="dk2"/>
                </a:solidFill>
                <a:highlight>
                  <a:schemeClr val="lt1"/>
                </a:highlight>
              </a:rPr>
              <a:t>3. </a:t>
            </a:r>
            <a:r>
              <a:rPr lang="ko" sz="1500" b="1" dirty="0">
                <a:solidFill>
                  <a:schemeClr val="dk2"/>
                </a:solidFill>
                <a:highlight>
                  <a:schemeClr val="lt1"/>
                </a:highlight>
              </a:rPr>
              <a:t>기업가치 성장 속도 생성</a:t>
            </a:r>
            <a:endParaRPr sz="1500" b="1" dirty="0">
              <a:solidFill>
                <a:schemeClr val="dk2"/>
              </a:solidFill>
              <a:highlight>
                <a:schemeClr val="lt1"/>
              </a:highlight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 b="1" dirty="0">
              <a:solidFill>
                <a:schemeClr val="dk2"/>
              </a:solidFill>
              <a:highlight>
                <a:schemeClr val="lt1"/>
              </a:highlight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 dirty="0">
                <a:solidFill>
                  <a:schemeClr val="dk1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epsilon = </a:t>
            </a:r>
            <a:r>
              <a:rPr lang="ko" sz="1050" dirty="0">
                <a:solidFill>
                  <a:srgbClr val="116644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1e-5</a:t>
            </a:r>
            <a:endParaRPr sz="1050" dirty="0">
              <a:solidFill>
                <a:srgbClr val="116644"/>
              </a:solidFill>
              <a:highlight>
                <a:srgbClr val="F7F7F7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 dirty="0">
                <a:solidFill>
                  <a:schemeClr val="dk1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df[</a:t>
            </a:r>
            <a:r>
              <a:rPr lang="ko" sz="1050" dirty="0">
                <a:solidFill>
                  <a:srgbClr val="A31515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'기업가치성장속도'</a:t>
            </a:r>
            <a:r>
              <a:rPr lang="ko" sz="1050" dirty="0">
                <a:solidFill>
                  <a:schemeClr val="dk1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] = df[</a:t>
            </a:r>
            <a:r>
              <a:rPr lang="ko" sz="1050" dirty="0">
                <a:solidFill>
                  <a:srgbClr val="A31515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'기업가치(백억원)'</a:t>
            </a:r>
            <a:r>
              <a:rPr lang="ko" sz="1050" dirty="0">
                <a:solidFill>
                  <a:schemeClr val="dk1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] / (df[</a:t>
            </a:r>
            <a:r>
              <a:rPr lang="ko" sz="1050" dirty="0">
                <a:solidFill>
                  <a:srgbClr val="A31515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'업력'</a:t>
            </a:r>
            <a:r>
              <a:rPr lang="ko" sz="1050" dirty="0">
                <a:solidFill>
                  <a:schemeClr val="dk1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] + epsilon)</a:t>
            </a:r>
            <a:endParaRPr sz="1050" dirty="0">
              <a:solidFill>
                <a:schemeClr val="dk1"/>
              </a:solidFill>
              <a:highlight>
                <a:srgbClr val="F7F7F7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 b="1" dirty="0">
              <a:solidFill>
                <a:schemeClr val="dk2"/>
              </a:solidFill>
              <a:highlight>
                <a:schemeClr val="lt1"/>
              </a:highlight>
            </a:endParaRPr>
          </a:p>
        </p:txBody>
      </p:sp>
      <p:pic>
        <p:nvPicPr>
          <p:cNvPr id="131" name="Google Shape;131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05400" y="1388396"/>
            <a:ext cx="4266225" cy="1050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2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38" name="Google Shape;138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22"/>
          <p:cNvSpPr txBox="1"/>
          <p:nvPr/>
        </p:nvSpPr>
        <p:spPr>
          <a:xfrm>
            <a:off x="1286600" y="61550"/>
            <a:ext cx="506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rgbClr val="19264B"/>
                </a:solidFill>
              </a:rPr>
              <a:t>RandonForestRegressor</a:t>
            </a:r>
            <a:endParaRPr sz="1800">
              <a:solidFill>
                <a:srgbClr val="19264B"/>
              </a:solidFill>
            </a:endParaRPr>
          </a:p>
        </p:txBody>
      </p:sp>
      <p:pic>
        <p:nvPicPr>
          <p:cNvPr id="140" name="Google Shape;140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86600" y="1017725"/>
            <a:ext cx="7528424" cy="1032675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22"/>
          <p:cNvSpPr txBox="1"/>
          <p:nvPr/>
        </p:nvSpPr>
        <p:spPr>
          <a:xfrm>
            <a:off x="1280800" y="523250"/>
            <a:ext cx="5645700" cy="215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27000" lvl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</a:pPr>
            <a:r>
              <a:rPr lang="en-US" altLang="ko" sz="1600" dirty="0">
                <a:solidFill>
                  <a:schemeClr val="dk2"/>
                </a:solidFill>
              </a:rPr>
              <a:t>1. </a:t>
            </a:r>
            <a:r>
              <a:rPr lang="ko" sz="1600" dirty="0">
                <a:solidFill>
                  <a:schemeClr val="dk2"/>
                </a:solidFill>
              </a:rPr>
              <a:t>GridSearchCV를 통해 최적의 하이퍼파라미터 탐색</a:t>
            </a:r>
            <a:endParaRPr sz="1600" dirty="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chemeClr val="dk2"/>
              </a:solidFill>
            </a:endParaRPr>
          </a:p>
          <a:p>
            <a:pPr marL="127000" lvl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</a:pPr>
            <a:r>
              <a:rPr lang="en-US" altLang="ko" sz="1600" dirty="0">
                <a:solidFill>
                  <a:schemeClr val="dk2"/>
                </a:solidFill>
              </a:rPr>
              <a:t>2. </a:t>
            </a:r>
            <a:r>
              <a:rPr lang="ko" sz="1600" dirty="0">
                <a:solidFill>
                  <a:schemeClr val="dk2"/>
                </a:solidFill>
              </a:rPr>
              <a:t>RandomForestRegressor 진행</a:t>
            </a:r>
            <a:endParaRPr sz="1600" dirty="0">
              <a:solidFill>
                <a:schemeClr val="dk2"/>
              </a:solidFill>
            </a:endParaRPr>
          </a:p>
        </p:txBody>
      </p:sp>
      <p:pic>
        <p:nvPicPr>
          <p:cNvPr id="142" name="Google Shape;142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86600" y="2780750"/>
            <a:ext cx="7545702" cy="14254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2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49" name="Google Shape;149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23"/>
          <p:cNvSpPr txBox="1"/>
          <p:nvPr/>
        </p:nvSpPr>
        <p:spPr>
          <a:xfrm>
            <a:off x="1286600" y="61550"/>
            <a:ext cx="506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rgbClr val="19264B"/>
                </a:solidFill>
              </a:rPr>
              <a:t>RandonForestRegressor</a:t>
            </a:r>
            <a:endParaRPr sz="1800">
              <a:solidFill>
                <a:srgbClr val="19264B"/>
              </a:solidFill>
            </a:endParaRPr>
          </a:p>
        </p:txBody>
      </p:sp>
      <p:sp>
        <p:nvSpPr>
          <p:cNvPr id="151" name="Google Shape;151;p23"/>
          <p:cNvSpPr txBox="1"/>
          <p:nvPr/>
        </p:nvSpPr>
        <p:spPr>
          <a:xfrm>
            <a:off x="1280800" y="523250"/>
            <a:ext cx="64371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600" dirty="0">
                <a:solidFill>
                  <a:schemeClr val="dk2"/>
                </a:solidFill>
              </a:rPr>
              <a:t>3.</a:t>
            </a:r>
            <a:r>
              <a:rPr lang="en-US" altLang="ko" sz="1600" dirty="0">
                <a:solidFill>
                  <a:schemeClr val="dk2"/>
                </a:solidFill>
              </a:rPr>
              <a:t> </a:t>
            </a:r>
            <a:r>
              <a:rPr lang="ko" sz="1600" dirty="0">
                <a:solidFill>
                  <a:schemeClr val="dk2"/>
                </a:solidFill>
              </a:rPr>
              <a:t>매출대비투자비율 파생변수만 추가하였을 때의 성능 제일 좋음</a:t>
            </a:r>
            <a:endParaRPr sz="1600" dirty="0">
              <a:solidFill>
                <a:schemeClr val="dk2"/>
              </a:solidFill>
            </a:endParaRPr>
          </a:p>
        </p:txBody>
      </p:sp>
      <p:pic>
        <p:nvPicPr>
          <p:cNvPr id="152" name="Google Shape;152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86602" y="1401200"/>
            <a:ext cx="7545698" cy="22032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2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59" name="Google Shape;159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24"/>
          <p:cNvSpPr txBox="1"/>
          <p:nvPr/>
        </p:nvSpPr>
        <p:spPr>
          <a:xfrm>
            <a:off x="1286600" y="61550"/>
            <a:ext cx="506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rgbClr val="19264B"/>
                </a:solidFill>
              </a:rPr>
              <a:t>XGBoost </a:t>
            </a:r>
            <a:endParaRPr sz="1800">
              <a:solidFill>
                <a:srgbClr val="19264B"/>
              </a:solidFill>
            </a:endParaRPr>
          </a:p>
        </p:txBody>
      </p:sp>
      <p:pic>
        <p:nvPicPr>
          <p:cNvPr id="161" name="Google Shape;161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97850" y="954350"/>
            <a:ext cx="4737899" cy="3523351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24"/>
          <p:cNvSpPr txBox="1"/>
          <p:nvPr/>
        </p:nvSpPr>
        <p:spPr>
          <a:xfrm>
            <a:off x="1280800" y="523250"/>
            <a:ext cx="64371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600">
                <a:solidFill>
                  <a:schemeClr val="dk2"/>
                </a:solidFill>
              </a:rPr>
              <a:t>모델 학습 및 예측 </a:t>
            </a:r>
            <a:endParaRPr sz="1600">
              <a:solidFill>
                <a:schemeClr val="dk2"/>
              </a:solidFill>
            </a:endParaRPr>
          </a:p>
        </p:txBody>
      </p:sp>
      <p:pic>
        <p:nvPicPr>
          <p:cNvPr id="163" name="Google Shape;163;p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141975" y="4635573"/>
            <a:ext cx="1849650" cy="154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p2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70" name="Google Shape;170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25"/>
          <p:cNvSpPr txBox="1"/>
          <p:nvPr/>
        </p:nvSpPr>
        <p:spPr>
          <a:xfrm>
            <a:off x="1286600" y="61550"/>
            <a:ext cx="506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rgbClr val="19264B"/>
                </a:solidFill>
              </a:rPr>
              <a:t>XGBoost</a:t>
            </a:r>
            <a:endParaRPr sz="1800">
              <a:solidFill>
                <a:srgbClr val="19264B"/>
              </a:solidFill>
            </a:endParaRPr>
          </a:p>
        </p:txBody>
      </p:sp>
      <p:sp>
        <p:nvSpPr>
          <p:cNvPr id="172" name="Google Shape;172;p25"/>
          <p:cNvSpPr txBox="1"/>
          <p:nvPr/>
        </p:nvSpPr>
        <p:spPr>
          <a:xfrm>
            <a:off x="1280800" y="523250"/>
            <a:ext cx="64371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600">
                <a:solidFill>
                  <a:schemeClr val="dk2"/>
                </a:solidFill>
              </a:rPr>
              <a:t>파생 변수를 적용했을 때 오히려 성능이 낮아짐</a:t>
            </a:r>
            <a:endParaRPr sz="1600">
              <a:solidFill>
                <a:schemeClr val="dk2"/>
              </a:solidFill>
            </a:endParaRPr>
          </a:p>
        </p:txBody>
      </p:sp>
      <p:pic>
        <p:nvPicPr>
          <p:cNvPr id="173" name="Google Shape;173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71825" y="1498862"/>
            <a:ext cx="7665426" cy="2145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2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80" name="Google Shape;180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26"/>
          <p:cNvSpPr txBox="1"/>
          <p:nvPr/>
        </p:nvSpPr>
        <p:spPr>
          <a:xfrm>
            <a:off x="1286600" y="61550"/>
            <a:ext cx="71061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1"/>
                </a:solidFill>
              </a:rPr>
              <a:t>LightGBM(Light Gradient Boosting Machine) Regressor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182" name="Google Shape;182;p26"/>
          <p:cNvSpPr txBox="1"/>
          <p:nvPr/>
        </p:nvSpPr>
        <p:spPr>
          <a:xfrm>
            <a:off x="1153575" y="523625"/>
            <a:ext cx="47838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rabicPeriod"/>
            </a:pPr>
            <a:r>
              <a:rPr lang="ko" sz="1500">
                <a:solidFill>
                  <a:schemeClr val="dk1"/>
                </a:solidFill>
              </a:rPr>
              <a:t>hyper parameter 설정: 모델 성능 최적화 값 설정</a:t>
            </a:r>
            <a:endParaRPr sz="1500">
              <a:solidFill>
                <a:schemeClr val="dk1"/>
              </a:solidFill>
            </a:endParaRPr>
          </a:p>
        </p:txBody>
      </p:sp>
      <p:pic>
        <p:nvPicPr>
          <p:cNvPr id="183" name="Google Shape;183;p26" title="Screenshot 2025-05-26 at 20.32.07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17125" y="1017725"/>
            <a:ext cx="3254875" cy="26352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26" title="Screenshot 2025-05-26 at 20.33.00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357725" y="3775972"/>
            <a:ext cx="6963850" cy="615075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26"/>
          <p:cNvSpPr txBox="1"/>
          <p:nvPr/>
        </p:nvSpPr>
        <p:spPr>
          <a:xfrm>
            <a:off x="4730750" y="1068925"/>
            <a:ext cx="4434300" cy="15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ko" sz="1800">
                <a:solidFill>
                  <a:schemeClr val="dk2"/>
                </a:solidFill>
              </a:rPr>
              <a:t>Scoring 생성해서 MAE 기준 튜닝</a:t>
            </a:r>
            <a:endParaRPr sz="1800">
              <a:solidFill>
                <a:schemeClr val="dk2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ko" sz="1800">
                <a:solidFill>
                  <a:schemeClr val="dk2"/>
                </a:solidFill>
              </a:rPr>
              <a:t>하이퍼 파라미터 튜닝을 통해</a:t>
            </a:r>
            <a:endParaRPr sz="1800">
              <a:solidFill>
                <a:schemeClr val="dk2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각 Best params variables들의 값</a:t>
            </a:r>
            <a:endParaRPr sz="1800">
              <a:solidFill>
                <a:schemeClr val="dk2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Best MAE 값</a:t>
            </a:r>
            <a:endParaRPr sz="1800">
              <a:solidFill>
                <a:schemeClr val="dk2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validation MAE 값 도출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p2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92" name="Google Shape;192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27"/>
          <p:cNvSpPr txBox="1"/>
          <p:nvPr/>
        </p:nvSpPr>
        <p:spPr>
          <a:xfrm>
            <a:off x="1286600" y="61550"/>
            <a:ext cx="71061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1"/>
                </a:solidFill>
              </a:rPr>
              <a:t>LightGBM(Light Gradient Boosting Machine) Regressor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194" name="Google Shape;194;p27"/>
          <p:cNvSpPr txBox="1"/>
          <p:nvPr/>
        </p:nvSpPr>
        <p:spPr>
          <a:xfrm>
            <a:off x="1153575" y="523625"/>
            <a:ext cx="47838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</a:rPr>
              <a:t>       2. 모델 학습 → 평가 함수 생성</a:t>
            </a:r>
            <a:endParaRPr sz="1500">
              <a:solidFill>
                <a:schemeClr val="dk1"/>
              </a:solidFill>
            </a:endParaRPr>
          </a:p>
        </p:txBody>
      </p:sp>
      <p:pic>
        <p:nvPicPr>
          <p:cNvPr id="195" name="Google Shape;195;p27" title="Screenshot 2025-05-26 at 20.37.39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619250" y="1017727"/>
            <a:ext cx="5028351" cy="2215875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27"/>
          <p:cNvSpPr txBox="1"/>
          <p:nvPr/>
        </p:nvSpPr>
        <p:spPr>
          <a:xfrm>
            <a:off x="1524000" y="3233600"/>
            <a:ext cx="6096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600">
                <a:solidFill>
                  <a:schemeClr val="dk1"/>
                </a:solidFill>
              </a:rPr>
              <a:t>3. 파생변수 케이스 별 실행</a:t>
            </a:r>
            <a:endParaRPr sz="1600">
              <a:solidFill>
                <a:schemeClr val="dk1"/>
              </a:solidFill>
            </a:endParaRPr>
          </a:p>
        </p:txBody>
      </p:sp>
      <p:pic>
        <p:nvPicPr>
          <p:cNvPr id="197" name="Google Shape;197;p27" title="Screenshot 2025-05-26 at 20.54.18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742975" y="3569450"/>
            <a:ext cx="4645112" cy="243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7" title="Screenshot 2025-05-26 at 20.54.40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742975" y="3887400"/>
            <a:ext cx="5199700" cy="291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27" title="Screenshot 2025-05-26 at 20.55.07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810475" y="4253575"/>
            <a:ext cx="5064699" cy="291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27" title="Screenshot 2025-05-26 at 20.55.41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914550" y="4568875"/>
            <a:ext cx="3644797" cy="243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2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207" name="Google Shape;207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28"/>
          <p:cNvSpPr txBox="1"/>
          <p:nvPr/>
        </p:nvSpPr>
        <p:spPr>
          <a:xfrm>
            <a:off x="1286600" y="61550"/>
            <a:ext cx="71061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1"/>
                </a:solidFill>
              </a:rPr>
              <a:t>LightGBM(Light Gradient Boosting Machine) Regressor</a:t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id="209" name="Google Shape;209;p28" title="최종 결과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95925" y="1078375"/>
            <a:ext cx="7774761" cy="2858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2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216" name="Google Shape;216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9"/>
          <p:cNvSpPr txBox="1"/>
          <p:nvPr/>
        </p:nvSpPr>
        <p:spPr>
          <a:xfrm>
            <a:off x="1412725" y="116525"/>
            <a:ext cx="46146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2100">
                <a:solidFill>
                  <a:srgbClr val="19264B"/>
                </a:solidFill>
              </a:rPr>
              <a:t>모델별 정확도 비교</a:t>
            </a:r>
            <a:endParaRPr sz="2000">
              <a:solidFill>
                <a:srgbClr val="19264B"/>
              </a:solidFill>
            </a:endParaRPr>
          </a:p>
        </p:txBody>
      </p:sp>
      <p:sp>
        <p:nvSpPr>
          <p:cNvPr id="218" name="Google Shape;218;p29"/>
          <p:cNvSpPr txBox="1"/>
          <p:nvPr/>
        </p:nvSpPr>
        <p:spPr>
          <a:xfrm>
            <a:off x="1476825" y="878625"/>
            <a:ext cx="5974800" cy="2954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14300" lvl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</a:pPr>
            <a:r>
              <a:rPr lang="en-US" altLang="ko" sz="1500" b="1" dirty="0">
                <a:solidFill>
                  <a:schemeClr val="dk2"/>
                </a:solidFill>
              </a:rPr>
              <a:t>1. </a:t>
            </a:r>
            <a:r>
              <a:rPr lang="ko" sz="1500" b="1" dirty="0">
                <a:solidFill>
                  <a:schemeClr val="dk2"/>
                </a:solidFill>
              </a:rPr>
              <a:t>RandonForestRegressor 정확도 : 0.2236650152</a:t>
            </a:r>
            <a:endParaRPr sz="1500" b="1" dirty="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 b="1" dirty="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 b="1" dirty="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 b="1" dirty="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 b="1" dirty="0">
              <a:solidFill>
                <a:schemeClr val="dk2"/>
              </a:solidFill>
            </a:endParaRPr>
          </a:p>
          <a:p>
            <a:pPr marL="114300" lvl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</a:pPr>
            <a:r>
              <a:rPr lang="en-US" altLang="ko" sz="1500" b="1" dirty="0">
                <a:solidFill>
                  <a:schemeClr val="dk2"/>
                </a:solidFill>
              </a:rPr>
              <a:t>2. </a:t>
            </a:r>
            <a:r>
              <a:rPr lang="ko" sz="1500" b="1" dirty="0">
                <a:solidFill>
                  <a:schemeClr val="dk2"/>
                </a:solidFill>
              </a:rPr>
              <a:t>XGBRegressor</a:t>
            </a:r>
            <a:r>
              <a:rPr lang="en-US" altLang="ko" sz="1500" b="1" dirty="0">
                <a:solidFill>
                  <a:schemeClr val="dk2"/>
                </a:solidFill>
              </a:rPr>
              <a:t> </a:t>
            </a:r>
            <a:r>
              <a:rPr lang="ko-KR" altLang="en-US" sz="1500" b="1" dirty="0">
                <a:solidFill>
                  <a:schemeClr val="dk2"/>
                </a:solidFill>
              </a:rPr>
              <a:t>정확도 </a:t>
            </a:r>
            <a:r>
              <a:rPr lang="en-US" altLang="ko-KR" sz="1500" b="1" dirty="0">
                <a:solidFill>
                  <a:schemeClr val="dk2"/>
                </a:solidFill>
              </a:rPr>
              <a:t>: 0.2245446709</a:t>
            </a:r>
            <a:endParaRPr sz="1500" b="1" dirty="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 b="1" dirty="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 b="1" dirty="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 b="1" dirty="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 b="1" dirty="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 b="1" dirty="0">
              <a:solidFill>
                <a:schemeClr val="dk2"/>
              </a:solidFill>
            </a:endParaRPr>
          </a:p>
          <a:p>
            <a:pPr marL="114300" lvl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</a:pPr>
            <a:r>
              <a:rPr lang="en-US" altLang="ko" sz="1500" b="1" dirty="0">
                <a:solidFill>
                  <a:schemeClr val="dk2"/>
                </a:solidFill>
              </a:rPr>
              <a:t>3. </a:t>
            </a:r>
            <a:r>
              <a:rPr lang="ko" sz="1500" b="1" dirty="0">
                <a:solidFill>
                  <a:schemeClr val="dk2"/>
                </a:solidFill>
              </a:rPr>
              <a:t>LGBMRegressor 정확도 : 0.2263764122</a:t>
            </a:r>
            <a:endParaRPr sz="1800" b="1" dirty="0">
              <a:solidFill>
                <a:schemeClr val="dk2"/>
              </a:solidFill>
            </a:endParaRPr>
          </a:p>
        </p:txBody>
      </p:sp>
      <p:pic>
        <p:nvPicPr>
          <p:cNvPr id="219" name="Google Shape;219;p29"/>
          <p:cNvPicPr preferRelativeResize="0"/>
          <p:nvPr/>
        </p:nvPicPr>
        <p:blipFill rotWithShape="1">
          <a:blip r:embed="rId4">
            <a:alphaModFix/>
          </a:blip>
          <a:srcRect t="78706"/>
          <a:stretch/>
        </p:blipFill>
        <p:spPr>
          <a:xfrm>
            <a:off x="1412715" y="2677600"/>
            <a:ext cx="7665426" cy="456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476825" y="1484250"/>
            <a:ext cx="7379748" cy="431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29" title="Screenshot 2025-05-27 at 12.55.59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412725" y="4257925"/>
            <a:ext cx="7376768" cy="572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1557</Words>
  <Application>Microsoft Office PowerPoint</Application>
  <PresentationFormat>화면 슬라이드 쇼(16:9)</PresentationFormat>
  <Paragraphs>204</Paragraphs>
  <Slides>17</Slides>
  <Notes>17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21" baseType="lpstr">
      <vt:lpstr>Arial</vt:lpstr>
      <vt:lpstr>Courier New</vt:lpstr>
      <vt:lpstr>Roboto Mono</vt:lpstr>
      <vt:lpstr>Simple Light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박정민</dc:creator>
  <cp:lastModifiedBy>박정민</cp:lastModifiedBy>
  <cp:revision>1</cp:revision>
  <dcterms:modified xsi:type="dcterms:W3CDTF">2025-05-27T04:11:31Z</dcterms:modified>
</cp:coreProperties>
</file>