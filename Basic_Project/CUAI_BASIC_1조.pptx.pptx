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3" r:id="rId10"/>
    <p:sldId id="264" r:id="rId11"/>
    <p:sldId id="265" r:id="rId12"/>
    <p:sldId id="271" r:id="rId13"/>
    <p:sldId id="266" r:id="rId14"/>
    <p:sldId id="268" r:id="rId15"/>
    <p:sldId id="269" r:id="rId16"/>
    <p:sldId id="270" r:id="rId1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858" y="4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ECDCC8C4-1C8C-8999-E934-C7688A855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04C24E0E-D150-F56C-C79A-0187E79159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24A6B454-A2B5-AB39-17DA-4F343DFB76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11476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51F54C84-97D8-0C88-99B4-14C09114B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3B8F6CC9-111A-A34B-3FC3-208518CF17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7A125EDD-1DB1-A14A-F03B-0BCB64FAC2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50733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2ED4D763-F4A2-90BE-20EB-8676ED429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500FF7C9-15C7-F0DF-157A-62470CFC55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40835482-23FE-AA38-48C3-F67B6C78B1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24845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22169691-617D-E38E-F61C-FD86890CC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A6DE63C4-2DBA-A2C5-314B-F7EC3EFEEA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349AD83F-9DDA-7D3B-0CC7-E7EE0E860D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56860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064D50F6-99FC-586D-F994-10BC63A8B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F5551900-F5CF-FC50-4E41-9A14868D7A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765825CF-77F6-BE96-0179-4C6CB6F00D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92021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A4600D6D-27A8-0518-7632-89DBF2789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FAE2CC16-F272-AFBF-C1C1-EB7457B0C9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8FC22948-3B80-55DB-7D96-07C444660A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43272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6BAAFED2-1910-1047-9AE5-E67DD280D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6980894A-2067-0762-C3D9-C423EB9B38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40522549-E51E-2920-8C69-0B22AA2FC0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97308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EA073034-D1CA-F815-0F1D-A0CE4281D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A58E6C6A-BAF8-8B2C-EF82-1247C7C267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9A4D345E-EBAD-3A85-3BB7-5A2A08F44E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92085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7B0D3D5A-7F26-1A61-F180-49BE51CC5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4ED461AB-3BA1-A9B5-5C53-6BFFB22F9F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7B603986-7E6E-A407-FD29-1ED0BCF25F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09130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8311F1F3-1B97-F329-2E6D-FBDB2F776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BFD73A68-0FD4-BD87-B546-6E46926B75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F367E775-12B2-955E-5B34-8A30D6E00C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88178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5D27EE8C-2B9F-7CAF-CCE5-845CEEB94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0642EA57-503A-789F-775F-D9432267A8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3FEEF858-6B04-8B98-3A98-ED7FD3D58C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72165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B64843CF-B13E-FA3D-2F57-ED7F8BC8C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1D566115-F0C2-E3A3-83B9-D95085F2A8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15FB4D1B-41C9-EBB4-4805-FA0B7E688D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2676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1339750" y="2710050"/>
            <a:ext cx="4979400" cy="156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19264B"/>
                </a:solidFill>
              </a:rPr>
              <a:t>CUAI 스터디 </a:t>
            </a:r>
            <a:r>
              <a:rPr lang="en-US" altLang="ko" sz="2500" b="1" dirty="0">
                <a:solidFill>
                  <a:srgbClr val="19264B"/>
                </a:solidFill>
              </a:rPr>
              <a:t>Basic 1</a:t>
            </a:r>
            <a:r>
              <a:rPr lang="ko-KR" altLang="en-US" sz="2500" b="1" dirty="0">
                <a:solidFill>
                  <a:srgbClr val="19264B"/>
                </a:solidFill>
              </a:rPr>
              <a:t>팀</a:t>
            </a:r>
            <a:endParaRPr sz="2500" b="1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19264B"/>
                </a:solidFill>
              </a:rPr>
              <a:t>202</a:t>
            </a:r>
            <a:r>
              <a:rPr lang="en-US" altLang="ko" dirty="0">
                <a:solidFill>
                  <a:srgbClr val="19264B"/>
                </a:solidFill>
              </a:rPr>
              <a:t>5</a:t>
            </a:r>
            <a:r>
              <a:rPr lang="ko" dirty="0">
                <a:solidFill>
                  <a:srgbClr val="19264B"/>
                </a:solidFill>
              </a:rPr>
              <a:t>.0</a:t>
            </a:r>
            <a:r>
              <a:rPr lang="en-US" altLang="ko" dirty="0">
                <a:solidFill>
                  <a:srgbClr val="19264B"/>
                </a:solidFill>
              </a:rPr>
              <a:t>5</a:t>
            </a:r>
            <a:r>
              <a:rPr lang="ko" dirty="0">
                <a:solidFill>
                  <a:srgbClr val="19264B"/>
                </a:solidFill>
              </a:rPr>
              <a:t>.</a:t>
            </a:r>
            <a:r>
              <a:rPr lang="en-US" altLang="ko" dirty="0">
                <a:solidFill>
                  <a:srgbClr val="19264B"/>
                </a:solidFill>
              </a:rPr>
              <a:t>27</a:t>
            </a: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19264B"/>
                </a:solidFill>
              </a:rPr>
              <a:t>발표자 : </a:t>
            </a:r>
            <a:r>
              <a:rPr lang="ko-KR" altLang="en-US" sz="1100" dirty="0" err="1">
                <a:solidFill>
                  <a:srgbClr val="19264B"/>
                </a:solidFill>
              </a:rPr>
              <a:t>이지유</a:t>
            </a:r>
            <a:endParaRPr sz="1100" dirty="0">
              <a:solidFill>
                <a:srgbClr val="19264B"/>
              </a:solidFill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" name="Google Shape;63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/>
          <p:nvPr/>
        </p:nvSpPr>
        <p:spPr>
          <a:xfrm>
            <a:off x="1599250" y="1262100"/>
            <a:ext cx="4287600" cy="3414600"/>
          </a:xfrm>
          <a:prstGeom prst="rect">
            <a:avLst/>
          </a:prstGeom>
          <a:solidFill>
            <a:srgbClr val="EFEFEF"/>
          </a:solidFill>
          <a:ln w="38100" cap="flat" cmpd="sng">
            <a:solidFill>
              <a:srgbClr val="1926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이곳에 만나서 찍은 사진을 넣어주세요.</a:t>
            </a:r>
            <a:endParaRPr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(비대면일 경우엔 화면 캡쳐 이용)</a:t>
            </a:r>
            <a:endParaRPr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얼굴이 나오게 찍어주셔야 합니다:D</a:t>
            </a:r>
            <a:endParaRPr sz="1200" dirty="0"/>
          </a:p>
        </p:txBody>
      </p:sp>
      <p:sp>
        <p:nvSpPr>
          <p:cNvPr id="66" name="Google Shape;66;p14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스터디원 소개 및 만남 인증</a:t>
            </a:r>
            <a:endParaRPr sz="200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6137600" y="1820125"/>
            <a:ext cx="2282100" cy="212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스터디원 1 : </a:t>
            </a:r>
            <a:r>
              <a:rPr lang="ko-KR" altLang="en-US" dirty="0"/>
              <a:t>노기현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스터디원 2 : </a:t>
            </a:r>
            <a:r>
              <a:rPr lang="ko-KR" altLang="en-US" dirty="0"/>
              <a:t>민유안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스터디원 3 : </a:t>
            </a:r>
            <a:r>
              <a:rPr lang="ko-KR" altLang="en-US" dirty="0"/>
              <a:t>백승범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스터디원 </a:t>
            </a:r>
            <a:r>
              <a:rPr lang="en-US" altLang="ko-KR" dirty="0"/>
              <a:t>4 : </a:t>
            </a:r>
            <a:r>
              <a:rPr lang="ko-KR" altLang="en-US" dirty="0"/>
              <a:t>이지유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스터디원 </a:t>
            </a:r>
            <a:r>
              <a:rPr lang="en-US" altLang="ko-KR" dirty="0"/>
              <a:t>5 : </a:t>
            </a:r>
            <a:r>
              <a:rPr lang="ko-KR" altLang="en-US" dirty="0"/>
              <a:t>태아카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1499676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목차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FEDA49-32E3-1DB1-69EF-EE5F89780CFF}"/>
              </a:ext>
            </a:extLst>
          </p:cNvPr>
          <p:cNvSpPr txBox="1"/>
          <p:nvPr/>
        </p:nvSpPr>
        <p:spPr>
          <a:xfrm>
            <a:off x="1823776" y="981107"/>
            <a:ext cx="6229977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000" dirty="0"/>
              <a:t>주제 소개</a:t>
            </a:r>
            <a:endParaRPr lang="en-US" altLang="ko-KR" sz="2000" dirty="0"/>
          </a:p>
          <a:p>
            <a:pPr marL="457200" indent="-457200">
              <a:buAutoNum type="arabicPeriod"/>
            </a:pPr>
            <a:endParaRPr lang="en-US" altLang="ko-KR" sz="2000" dirty="0"/>
          </a:p>
          <a:p>
            <a:pPr marL="457200" indent="-457200">
              <a:buAutoNum type="arabicPeriod"/>
            </a:pPr>
            <a:r>
              <a:rPr lang="ko-KR" altLang="en-US" sz="2000" dirty="0"/>
              <a:t>데이터 분석</a:t>
            </a:r>
            <a:endParaRPr lang="en-US" altLang="ko-KR" sz="2000" dirty="0"/>
          </a:p>
          <a:p>
            <a:r>
              <a:rPr lang="en-US" altLang="ko-KR" sz="2000" dirty="0"/>
              <a:t>     </a:t>
            </a:r>
            <a:r>
              <a:rPr lang="en-US" altLang="ko-KR" sz="1800" dirty="0"/>
              <a:t>1)    </a:t>
            </a:r>
            <a:r>
              <a:rPr lang="ko-KR" altLang="en-US" sz="1800" dirty="0" err="1"/>
              <a:t>피쳐</a:t>
            </a:r>
            <a:r>
              <a:rPr lang="ko-KR" altLang="en-US" sz="1800" dirty="0"/>
              <a:t> 간 상간관계 분석</a:t>
            </a:r>
            <a:endParaRPr lang="en-US" altLang="ko-KR" sz="1800" dirty="0"/>
          </a:p>
          <a:p>
            <a:r>
              <a:rPr lang="en-US" altLang="ko-KR" sz="1800" dirty="0"/>
              <a:t>      2)    </a:t>
            </a:r>
            <a:r>
              <a:rPr lang="ko-KR" altLang="en-US" sz="1800" dirty="0"/>
              <a:t>새로운 </a:t>
            </a:r>
            <a:r>
              <a:rPr lang="ko-KR" altLang="en-US" sz="1800" dirty="0" err="1"/>
              <a:t>피쳐</a:t>
            </a:r>
            <a:r>
              <a:rPr lang="ko-KR" altLang="en-US" sz="1800" dirty="0"/>
              <a:t> 추가</a:t>
            </a:r>
            <a:endParaRPr lang="en-US" altLang="ko-KR" sz="1800" dirty="0"/>
          </a:p>
          <a:p>
            <a:r>
              <a:rPr lang="en-US" altLang="ko-KR" sz="1800" dirty="0"/>
              <a:t>      3)    </a:t>
            </a:r>
            <a:r>
              <a:rPr lang="ko-KR" altLang="en-US" sz="1800" dirty="0"/>
              <a:t>정규화</a:t>
            </a:r>
            <a:endParaRPr lang="en-US" altLang="ko-KR" sz="1800" dirty="0"/>
          </a:p>
          <a:p>
            <a:r>
              <a:rPr lang="en-US" altLang="ko-KR" sz="1800" dirty="0"/>
              <a:t>      4)    </a:t>
            </a:r>
            <a:r>
              <a:rPr lang="ko-KR" altLang="en-US" sz="1800" dirty="0"/>
              <a:t>샘플링</a:t>
            </a:r>
            <a:endParaRPr lang="en-US" altLang="ko-KR" sz="1800" dirty="0"/>
          </a:p>
          <a:p>
            <a:endParaRPr lang="en-US" altLang="ko-KR" sz="2000" dirty="0"/>
          </a:p>
          <a:p>
            <a:r>
              <a:rPr lang="en-US" altLang="ko-KR" sz="2400" dirty="0"/>
              <a:t>3. </a:t>
            </a:r>
            <a:r>
              <a:rPr lang="ko-KR" altLang="en-US" sz="2000" dirty="0"/>
              <a:t>모델 </a:t>
            </a:r>
            <a:r>
              <a:rPr lang="en-US" altLang="ko-KR" sz="2000" dirty="0"/>
              <a:t>– Logistic Regression</a:t>
            </a:r>
          </a:p>
          <a:p>
            <a:endParaRPr lang="en-US" altLang="ko-KR" sz="2000" dirty="0"/>
          </a:p>
          <a:p>
            <a:r>
              <a:rPr lang="en-US" altLang="ko-KR" sz="2400" dirty="0"/>
              <a:t>4. </a:t>
            </a:r>
            <a:r>
              <a:rPr lang="ko-KR" altLang="en-US" sz="2000" dirty="0"/>
              <a:t>결과</a:t>
            </a:r>
            <a:endParaRPr lang="en-US" altLang="ko-KR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1. 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주제 소개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F8D4B2-5E99-1225-484E-5905810E53C9}"/>
              </a:ext>
            </a:extLst>
          </p:cNvPr>
          <p:cNvSpPr txBox="1"/>
          <p:nvPr/>
        </p:nvSpPr>
        <p:spPr>
          <a:xfrm>
            <a:off x="1619664" y="2754259"/>
            <a:ext cx="685422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dirty="0"/>
              <a:t>Kaggle</a:t>
            </a:r>
            <a:r>
              <a:rPr lang="ko-KR" altLang="en-US" sz="1600" dirty="0"/>
              <a:t>의 데이터셋을 활용하여 직원들의 </a:t>
            </a:r>
            <a:r>
              <a:rPr lang="en-US" altLang="ko-KR" sz="1600" dirty="0"/>
              <a:t>Attrition(</a:t>
            </a:r>
            <a:r>
              <a:rPr lang="ko-KR" altLang="en-US" sz="1600" dirty="0"/>
              <a:t>퇴사</a:t>
            </a:r>
            <a:r>
              <a:rPr lang="en-US" altLang="ko-KR" sz="1600" dirty="0"/>
              <a:t>)</a:t>
            </a:r>
            <a:r>
              <a:rPr lang="ko-KR" altLang="en-US" sz="1600" dirty="0"/>
              <a:t> 가능성을 예측</a:t>
            </a:r>
            <a:r>
              <a:rPr lang="en-US" altLang="ko-KR" sz="1600" dirty="0"/>
              <a:t>,</a:t>
            </a:r>
          </a:p>
          <a:p>
            <a:pPr algn="ctr">
              <a:lnSpc>
                <a:spcPct val="150000"/>
              </a:lnSpc>
            </a:pPr>
            <a:r>
              <a:rPr lang="ko-KR" altLang="en-US" sz="1600" dirty="0"/>
              <a:t>이직 결정에 영향을 미치는 주요 요인 도출</a:t>
            </a:r>
            <a:endParaRPr lang="en-US" altLang="ko-KR" sz="1600" dirty="0"/>
          </a:p>
          <a:p>
            <a:pPr algn="ctr"/>
            <a:endParaRPr lang="en-US" altLang="ko-KR" sz="1600" dirty="0"/>
          </a:p>
          <a:p>
            <a:pPr algn="ctr"/>
            <a:endParaRPr lang="en-US" altLang="ko-KR" sz="1600" dirty="0"/>
          </a:p>
          <a:p>
            <a:pPr algn="ctr"/>
            <a:endParaRPr lang="en-US" altLang="ko-KR" sz="1600" dirty="0"/>
          </a:p>
          <a:p>
            <a:pPr algn="ctr"/>
            <a:r>
              <a:rPr lang="ko-KR" altLang="en-US" sz="1600" dirty="0"/>
              <a:t>인적 자원 관리의 효율성을 높이고</a:t>
            </a:r>
            <a:r>
              <a:rPr lang="en-US" altLang="ko-KR" sz="1600" dirty="0"/>
              <a:t>, </a:t>
            </a:r>
            <a:r>
              <a:rPr lang="ko-KR" altLang="en-US" sz="1600" dirty="0"/>
              <a:t>자발적 퇴사자 사전 예측에 기여 가능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304A747-2599-5E61-9C43-7AB66D2476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8504" y="1146006"/>
            <a:ext cx="6556549" cy="1358616"/>
          </a:xfrm>
          <a:prstGeom prst="rect">
            <a:avLst/>
          </a:prstGeom>
        </p:spPr>
      </p:pic>
      <p:sp>
        <p:nvSpPr>
          <p:cNvPr id="4" name="화살표: 아래쪽 3">
            <a:extLst>
              <a:ext uri="{FF2B5EF4-FFF2-40B4-BE49-F238E27FC236}">
                <a16:creationId xmlns:a16="http://schemas.microsoft.com/office/drawing/2014/main" id="{6730C687-8D67-2FC8-EF37-FE9B06C4C8A1}"/>
              </a:ext>
            </a:extLst>
          </p:cNvPr>
          <p:cNvSpPr/>
          <p:nvPr/>
        </p:nvSpPr>
        <p:spPr>
          <a:xfrm>
            <a:off x="4918664" y="3613600"/>
            <a:ext cx="256233" cy="453783"/>
          </a:xfrm>
          <a:prstGeom prst="down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00BC3C54-F6B7-C606-4C17-9502E06D5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2C80F38E-6B84-0D2A-7839-020DCC16CE16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B8BC9D1B-3319-5FD3-C712-827A0643278B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034AA983-6C1F-64A2-3465-379F12B0B14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3;p16">
            <a:extLst>
              <a:ext uri="{FF2B5EF4-FFF2-40B4-BE49-F238E27FC236}">
                <a16:creationId xmlns:a16="http://schemas.microsoft.com/office/drawing/2014/main" id="{94B8F489-C287-46B6-17F6-551D2EC15C0F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2. 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데이터 분석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B9C020-F3D9-39AF-3E66-4E6204C2277A}"/>
              </a:ext>
            </a:extLst>
          </p:cNvPr>
          <p:cNvSpPr txBox="1"/>
          <p:nvPr/>
        </p:nvSpPr>
        <p:spPr>
          <a:xfrm>
            <a:off x="1909187" y="4198564"/>
            <a:ext cx="64158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결과에 영향 없는 피처</a:t>
            </a:r>
            <a:r>
              <a:rPr lang="en-US" altLang="ko-KR" sz="1200" dirty="0"/>
              <a:t>(</a:t>
            </a:r>
            <a:r>
              <a:rPr lang="en-US" altLang="ko-KR" sz="1200" dirty="0" err="1"/>
              <a:t>EmployeeNumber</a:t>
            </a:r>
            <a:r>
              <a:rPr lang="en-US" altLang="ko-KR" sz="1200" dirty="0"/>
              <a:t>, </a:t>
            </a:r>
            <a:r>
              <a:rPr lang="en-US" altLang="ko-KR" sz="1200" dirty="0" err="1"/>
              <a:t>StandardHours</a:t>
            </a:r>
            <a:r>
              <a:rPr lang="en-US" altLang="ko-KR" sz="1200" dirty="0"/>
              <a:t>, Over18, </a:t>
            </a:r>
            <a:r>
              <a:rPr lang="en-US" altLang="ko-KR" sz="1200" dirty="0" err="1"/>
              <a:t>EmployeeCount</a:t>
            </a:r>
            <a:r>
              <a:rPr lang="en-US" altLang="ko-KR" sz="1200" dirty="0"/>
              <a:t>)</a:t>
            </a:r>
            <a:r>
              <a:rPr lang="ko-KR" altLang="en-US" sz="1200" dirty="0"/>
              <a:t> 삭제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6F42DB-FAFD-08C5-50D0-511F05DFAD73}"/>
              </a:ext>
            </a:extLst>
          </p:cNvPr>
          <p:cNvSpPr txBox="1"/>
          <p:nvPr/>
        </p:nvSpPr>
        <p:spPr>
          <a:xfrm>
            <a:off x="1849191" y="1275750"/>
            <a:ext cx="2933816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Dataset</a:t>
            </a:r>
            <a:r>
              <a:rPr lang="ko-KR" altLang="en-US" dirty="0"/>
              <a:t>은 </a:t>
            </a:r>
            <a:r>
              <a:rPr lang="en-US" altLang="ko-KR" b="1" dirty="0"/>
              <a:t>35</a:t>
            </a:r>
            <a:r>
              <a:rPr lang="ko-KR" altLang="en-US" b="1" dirty="0"/>
              <a:t>개의 </a:t>
            </a:r>
            <a:r>
              <a:rPr lang="en-US" altLang="ko-KR" b="1" dirty="0" err="1"/>
              <a:t>colum</a:t>
            </a:r>
            <a:r>
              <a:rPr lang="ko-KR" altLang="en-US" dirty="0"/>
              <a:t>으로 구성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Age </a:t>
            </a:r>
          </a:p>
          <a:p>
            <a:r>
              <a:rPr lang="en-US" altLang="ko-KR" dirty="0"/>
              <a:t> Attrition</a:t>
            </a:r>
          </a:p>
          <a:p>
            <a:r>
              <a:rPr lang="en-US" altLang="ko-KR" dirty="0"/>
              <a:t> </a:t>
            </a:r>
            <a:r>
              <a:rPr lang="en-US" altLang="ko-KR" dirty="0" err="1"/>
              <a:t>BusinessTravel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en-US" altLang="ko-KR" dirty="0" err="1"/>
              <a:t>DailyRate</a:t>
            </a:r>
            <a:endParaRPr lang="en-US" altLang="ko-KR" dirty="0"/>
          </a:p>
          <a:p>
            <a:r>
              <a:rPr lang="en-US" altLang="ko-KR" dirty="0"/>
              <a:t> ⁝ </a:t>
            </a:r>
          </a:p>
          <a:p>
            <a:r>
              <a:rPr lang="en-US" altLang="ko-KR" dirty="0"/>
              <a:t> </a:t>
            </a:r>
            <a:r>
              <a:rPr lang="en-US" altLang="ko-KR" dirty="0" err="1"/>
              <a:t>YearsInCurrentRole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en-US" altLang="ko-KR" dirty="0" err="1"/>
              <a:t>YearsSinceLastPromotion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en-US" altLang="ko-KR" dirty="0" err="1"/>
              <a:t>YearsWithCurrManager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D940B5-16E3-4B5C-5CA7-CC1026AAC5A1}"/>
              </a:ext>
            </a:extLst>
          </p:cNvPr>
          <p:cNvSpPr txBox="1"/>
          <p:nvPr/>
        </p:nvSpPr>
        <p:spPr>
          <a:xfrm>
            <a:off x="6064180" y="1210855"/>
            <a:ext cx="2542233" cy="259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Target variable</a:t>
            </a:r>
            <a:r>
              <a:rPr lang="en-US" altLang="ko-KR" dirty="0"/>
              <a:t>: </a:t>
            </a:r>
          </a:p>
          <a:p>
            <a:r>
              <a:rPr lang="en-US" altLang="ko-KR" dirty="0"/>
              <a:t>   Attrition</a:t>
            </a:r>
          </a:p>
          <a:p>
            <a:endParaRPr lang="en-US" altLang="ko-KR" dirty="0"/>
          </a:p>
          <a:p>
            <a:r>
              <a:rPr lang="en-US" altLang="ko-KR" b="1" dirty="0"/>
              <a:t>Feature variable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   Age</a:t>
            </a:r>
          </a:p>
          <a:p>
            <a:r>
              <a:rPr lang="en-US" altLang="ko-KR" dirty="0"/>
              <a:t>   </a:t>
            </a:r>
            <a:r>
              <a:rPr lang="en-US" altLang="ko-KR" dirty="0" err="1"/>
              <a:t>BusinessTravel</a:t>
            </a:r>
            <a:r>
              <a:rPr lang="en-US" altLang="ko-KR" dirty="0"/>
              <a:t>  </a:t>
            </a:r>
          </a:p>
          <a:p>
            <a:r>
              <a:rPr lang="en-US" altLang="ko-KR" dirty="0"/>
              <a:t>   </a:t>
            </a:r>
            <a:r>
              <a:rPr lang="en-US" altLang="ko-KR" dirty="0" err="1"/>
              <a:t>DailyRate</a:t>
            </a:r>
            <a:endParaRPr lang="en-US" altLang="ko-KR" dirty="0"/>
          </a:p>
          <a:p>
            <a:r>
              <a:rPr lang="en-US" altLang="ko-KR" dirty="0"/>
              <a:t>    ⁝</a:t>
            </a:r>
          </a:p>
          <a:p>
            <a:r>
              <a:rPr lang="en-US" altLang="ko-KR" dirty="0"/>
              <a:t>   </a:t>
            </a:r>
            <a:r>
              <a:rPr lang="en-US" altLang="ko-KR" dirty="0" err="1"/>
              <a:t>YearsInCurrentRole</a:t>
            </a:r>
            <a:endParaRPr lang="en-US" altLang="ko-KR" dirty="0"/>
          </a:p>
          <a:p>
            <a:r>
              <a:rPr lang="en-US" altLang="ko-KR" dirty="0"/>
              <a:t>   </a:t>
            </a:r>
            <a:r>
              <a:rPr lang="en-US" altLang="ko-KR" dirty="0" err="1"/>
              <a:t>YearsSinceLastPromotion</a:t>
            </a:r>
            <a:endParaRPr lang="en-US" altLang="ko-KR" dirty="0"/>
          </a:p>
          <a:p>
            <a:r>
              <a:rPr lang="en-US" altLang="ko-KR" dirty="0"/>
              <a:t>   </a:t>
            </a:r>
            <a:r>
              <a:rPr lang="en-US" altLang="ko-KR" dirty="0" err="1"/>
              <a:t>YearsWithCurrManager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6DABD083-0F15-469B-11EB-376C31719DD4}"/>
              </a:ext>
            </a:extLst>
          </p:cNvPr>
          <p:cNvSpPr/>
          <p:nvPr/>
        </p:nvSpPr>
        <p:spPr>
          <a:xfrm rot="16200000">
            <a:off x="4978624" y="1969562"/>
            <a:ext cx="276999" cy="1074586"/>
          </a:xfrm>
          <a:prstGeom prst="downArrow">
            <a:avLst>
              <a:gd name="adj1" fmla="val 50000"/>
              <a:gd name="adj2" fmla="val 84931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022A6EB7-DFC7-C47D-BC82-F745B7A7D671}"/>
              </a:ext>
            </a:extLst>
          </p:cNvPr>
          <p:cNvCxnSpPr>
            <a:cxnSpLocks/>
          </p:cNvCxnSpPr>
          <p:nvPr/>
        </p:nvCxnSpPr>
        <p:spPr>
          <a:xfrm flipV="1">
            <a:off x="5117123" y="2933729"/>
            <a:ext cx="0" cy="1226264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2856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9F1EBA22-B8C4-11D8-B370-017436C6F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6DA62919-A268-A5CA-0992-40EF6B3FA29E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6C6FC9D3-F847-A21E-5BC1-EDC92F2336A8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944C102C-980E-A86B-48B7-96B4319E02B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83;p16">
            <a:extLst>
              <a:ext uri="{FF2B5EF4-FFF2-40B4-BE49-F238E27FC236}">
                <a16:creationId xmlns:a16="http://schemas.microsoft.com/office/drawing/2014/main" id="{665821EE-293D-2BB7-1789-A627192A14B6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2. 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데이터 분석 </a:t>
            </a: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– </a:t>
            </a:r>
            <a:r>
              <a:rPr lang="ko-KR" altLang="en-US" sz="2000" b="1" dirty="0" err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피쳐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간 상관관계 분석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8F48F81-743F-5C8D-D3D1-6AD946327F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3631" y="4235698"/>
            <a:ext cx="5556738" cy="54566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01B0038-053E-D05C-FAD6-21DD8C3AD8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8543" y="1055550"/>
            <a:ext cx="3595116" cy="31064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CDC4772-9163-740C-FE6E-AE8F9D061530}"/>
              </a:ext>
            </a:extLst>
          </p:cNvPr>
          <p:cNvSpPr txBox="1"/>
          <p:nvPr/>
        </p:nvSpPr>
        <p:spPr>
          <a:xfrm>
            <a:off x="5550618" y="1874709"/>
            <a:ext cx="348787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X label:   </a:t>
            </a:r>
            <a:r>
              <a:rPr lang="en-US" altLang="ko-KR" dirty="0" err="1"/>
              <a:t>NumCompaniesWorked</a:t>
            </a:r>
            <a:endParaRPr lang="en-US" altLang="ko-KR" dirty="0"/>
          </a:p>
          <a:p>
            <a:r>
              <a:rPr lang="en-US" altLang="ko-KR" dirty="0"/>
              <a:t>Y label:   </a:t>
            </a:r>
            <a:r>
              <a:rPr lang="en-US" altLang="ko-KR" dirty="0" err="1"/>
              <a:t>TotalWorkingYears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근무했던 회사는 많지만</a:t>
            </a:r>
            <a:r>
              <a:rPr lang="en-US" altLang="ko-KR" dirty="0"/>
              <a:t>, </a:t>
            </a:r>
            <a:r>
              <a:rPr lang="ko-KR" altLang="en-US" dirty="0"/>
              <a:t>총 근무 연수가 적을수록 </a:t>
            </a:r>
            <a:r>
              <a:rPr lang="en-US" altLang="ko-KR" dirty="0"/>
              <a:t>Attrition</a:t>
            </a:r>
            <a:r>
              <a:rPr lang="ko-KR" altLang="en-US" dirty="0"/>
              <a:t>이 잦음</a:t>
            </a:r>
          </a:p>
        </p:txBody>
      </p:sp>
    </p:spTree>
    <p:extLst>
      <p:ext uri="{BB962C8B-B14F-4D97-AF65-F5344CB8AC3E}">
        <p14:creationId xmlns:p14="http://schemas.microsoft.com/office/powerpoint/2010/main" val="29569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B0791788-5BAE-A19A-2694-3C63402E0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CFFAF7BD-8FDA-253D-2C2B-62DA8AA27B84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5F0DF5F9-F606-2F35-1CE2-E54997EC0030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1E753AF4-3476-4B2D-35CA-6645D584FF2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3;p16">
            <a:extLst>
              <a:ext uri="{FF2B5EF4-FFF2-40B4-BE49-F238E27FC236}">
                <a16:creationId xmlns:a16="http://schemas.microsoft.com/office/drawing/2014/main" id="{6CD761F9-1D51-8B0D-874A-4FA1294481DF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2. 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데이터 분석 </a:t>
            </a: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– </a:t>
            </a:r>
            <a:r>
              <a:rPr lang="ko-KR" altLang="en-US" sz="2000" b="1" dirty="0" err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피쳐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간 상관관계 분석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CBD98F08-2041-88B9-4E5D-26934B3A3F2F}"/>
              </a:ext>
            </a:extLst>
          </p:cNvPr>
          <p:cNvGrpSpPr/>
          <p:nvPr/>
        </p:nvGrpSpPr>
        <p:grpSpPr>
          <a:xfrm>
            <a:off x="2215661" y="799609"/>
            <a:ext cx="6015992" cy="3136995"/>
            <a:chOff x="1602210" y="1293660"/>
            <a:chExt cx="6463646" cy="3438884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B858A71A-0BD3-9501-6D60-32D627C696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2210" y="1293660"/>
              <a:ext cx="6463646" cy="29793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BE93BC9A-3F7E-074C-60AB-5847D2537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74537" y="4246100"/>
              <a:ext cx="5311661" cy="486444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4E6DA01-612B-14FB-6423-7DCDC16833A3}"/>
              </a:ext>
            </a:extLst>
          </p:cNvPr>
          <p:cNvSpPr txBox="1"/>
          <p:nvPr/>
        </p:nvSpPr>
        <p:spPr>
          <a:xfrm>
            <a:off x="1668026" y="4192825"/>
            <a:ext cx="22056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X label: </a:t>
            </a:r>
            <a:r>
              <a:rPr lang="en-US" altLang="ko-KR" dirty="0" err="1"/>
              <a:t>JobSatisfaction</a:t>
            </a:r>
            <a:endParaRPr lang="en-US" altLang="ko-KR" dirty="0"/>
          </a:p>
          <a:p>
            <a:r>
              <a:rPr lang="en-US" altLang="ko-KR" dirty="0"/>
              <a:t>Column: </a:t>
            </a:r>
            <a:r>
              <a:rPr lang="en-US" altLang="ko-KR" dirty="0" err="1"/>
              <a:t>OverTime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058426-12B0-3CD0-E580-5D3EFB806D80}"/>
              </a:ext>
            </a:extLst>
          </p:cNvPr>
          <p:cNvSpPr txBox="1"/>
          <p:nvPr/>
        </p:nvSpPr>
        <p:spPr>
          <a:xfrm>
            <a:off x="3783205" y="4300546"/>
            <a:ext cx="5124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근무시간을 초과하고 직업 만족도가 낮을 수록 </a:t>
            </a:r>
            <a:r>
              <a:rPr lang="en-US" altLang="ko-KR" dirty="0"/>
              <a:t>Attrition</a:t>
            </a:r>
            <a:r>
              <a:rPr lang="ko-KR" altLang="en-US" dirty="0"/>
              <a:t>이 잦음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53464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DAD8F736-8D6D-AA77-8AAB-241219848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FE591F77-3B03-CA06-69E0-B1F9E1EA4ACF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10529474-E409-4831-589B-40448957FBFB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BE04E468-9C6E-8810-B465-6445DAC47B0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3;p16">
            <a:extLst>
              <a:ext uri="{FF2B5EF4-FFF2-40B4-BE49-F238E27FC236}">
                <a16:creationId xmlns:a16="http://schemas.microsoft.com/office/drawing/2014/main" id="{D58C2C12-DC98-8845-0B12-05776B047267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2. 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데이터 분석 </a:t>
            </a: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– </a:t>
            </a:r>
            <a:r>
              <a:rPr lang="ko-KR" altLang="en-US" sz="2000" b="1" dirty="0" err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피쳐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간 상관관계 분석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1BA9F0D-C709-845A-D79B-7E06EC342A44}"/>
              </a:ext>
            </a:extLst>
          </p:cNvPr>
          <p:cNvGrpSpPr/>
          <p:nvPr/>
        </p:nvGrpSpPr>
        <p:grpSpPr>
          <a:xfrm>
            <a:off x="2125827" y="845454"/>
            <a:ext cx="5932952" cy="3221543"/>
            <a:chOff x="2361962" y="819705"/>
            <a:chExt cx="5932952" cy="3221543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2227A692-B89D-BDCE-A45B-4478EE65CE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1962" y="819705"/>
              <a:ext cx="5932952" cy="27347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6E45F42D-26DA-A096-DFEB-60D04B76497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53836" y="3554426"/>
              <a:ext cx="5289868" cy="486822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CB012F0-DE6C-3B63-B4F4-2DD0CF859747}"/>
              </a:ext>
            </a:extLst>
          </p:cNvPr>
          <p:cNvSpPr txBox="1"/>
          <p:nvPr/>
        </p:nvSpPr>
        <p:spPr>
          <a:xfrm>
            <a:off x="1823776" y="4298046"/>
            <a:ext cx="22056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X label: </a:t>
            </a:r>
            <a:r>
              <a:rPr lang="en-US" altLang="ko-KR" dirty="0" err="1"/>
              <a:t>WorkLifeBalance</a:t>
            </a:r>
            <a:endParaRPr lang="en-US" altLang="ko-KR" dirty="0"/>
          </a:p>
          <a:p>
            <a:r>
              <a:rPr lang="en-US" altLang="ko-KR" dirty="0"/>
              <a:t>Column: </a:t>
            </a:r>
            <a:r>
              <a:rPr lang="en-US" altLang="ko-KR" dirty="0" err="1"/>
              <a:t>OverTime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DA5F7B-987B-72E6-BFC0-94F9A26844B3}"/>
              </a:ext>
            </a:extLst>
          </p:cNvPr>
          <p:cNvSpPr txBox="1"/>
          <p:nvPr/>
        </p:nvSpPr>
        <p:spPr>
          <a:xfrm>
            <a:off x="4029389" y="4405767"/>
            <a:ext cx="46925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근무시간을 초과하고 </a:t>
            </a:r>
            <a:r>
              <a:rPr lang="ko-KR" altLang="en-US" dirty="0" err="1"/>
              <a:t>워라밸이</a:t>
            </a:r>
            <a:r>
              <a:rPr lang="ko-KR" altLang="en-US" dirty="0"/>
              <a:t> 낮을 수록 </a:t>
            </a:r>
            <a:r>
              <a:rPr lang="en-US" altLang="ko-KR" dirty="0"/>
              <a:t>Attrition</a:t>
            </a:r>
            <a:r>
              <a:rPr lang="ko-KR" altLang="en-US" dirty="0"/>
              <a:t>이 잦음</a:t>
            </a:r>
          </a:p>
        </p:txBody>
      </p:sp>
    </p:spTree>
    <p:extLst>
      <p:ext uri="{BB962C8B-B14F-4D97-AF65-F5344CB8AC3E}">
        <p14:creationId xmlns:p14="http://schemas.microsoft.com/office/powerpoint/2010/main" val="1301177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E35E4619-D895-82B7-DCC2-7B11C7E42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000698C0-0F5C-9C73-EBE8-FFDFAFCDB61D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280F4D97-FEEB-D333-720B-E9A47D090611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1ED82801-FE9E-1F3E-C2A5-29AB116B1AC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3;p16">
            <a:extLst>
              <a:ext uri="{FF2B5EF4-FFF2-40B4-BE49-F238E27FC236}">
                <a16:creationId xmlns:a16="http://schemas.microsoft.com/office/drawing/2014/main" id="{DE07505D-2197-EA8A-1105-CF75FDD377F5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2. 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데이터 분석 </a:t>
            </a: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– </a:t>
            </a:r>
            <a:r>
              <a:rPr lang="ko-KR" altLang="en-US" sz="2000" b="1" dirty="0" err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피쳐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간 상관관계 분석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53F9770-C7DF-7CB6-9821-96F2B9D8B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8400" y="845454"/>
            <a:ext cx="4580550" cy="4068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1D91C5-574B-BEC2-1F7C-135987F00B2B}"/>
              </a:ext>
            </a:extLst>
          </p:cNvPr>
          <p:cNvSpPr txBox="1"/>
          <p:nvPr/>
        </p:nvSpPr>
        <p:spPr>
          <a:xfrm>
            <a:off x="6379324" y="2023111"/>
            <a:ext cx="234387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높은 상관관계 보이는 </a:t>
            </a:r>
            <a:r>
              <a:rPr lang="ko-KR" altLang="en-US" sz="1100" dirty="0" err="1"/>
              <a:t>피쳐들</a:t>
            </a:r>
            <a:r>
              <a:rPr lang="ko-KR" altLang="en-US" sz="1100" dirty="0"/>
              <a:t> 존재</a:t>
            </a:r>
            <a:endParaRPr lang="en-US" altLang="ko-KR" sz="1100" dirty="0"/>
          </a:p>
          <a:p>
            <a:endParaRPr lang="en-US" altLang="ko-KR" sz="1100" dirty="0"/>
          </a:p>
          <a:p>
            <a:pPr algn="ctr"/>
            <a:r>
              <a:rPr lang="en-US" altLang="ko-KR" sz="1100" dirty="0" err="1"/>
              <a:t>MonthlyIncome</a:t>
            </a:r>
            <a:endParaRPr lang="en-US" altLang="ko-KR" sz="1100" dirty="0"/>
          </a:p>
          <a:p>
            <a:pPr algn="ctr"/>
            <a:r>
              <a:rPr lang="en-US" altLang="ko-KR" sz="1100" dirty="0" err="1"/>
              <a:t>YearsInCurrentRole</a:t>
            </a:r>
            <a:endParaRPr lang="en-US" altLang="ko-KR" sz="1100" dirty="0"/>
          </a:p>
          <a:p>
            <a:pPr algn="ctr"/>
            <a:r>
              <a:rPr lang="en-US" altLang="ko-KR" sz="1100" dirty="0"/>
              <a:t>YearsAtCompany</a:t>
            </a:r>
          </a:p>
          <a:p>
            <a:pPr algn="ctr"/>
            <a:r>
              <a:rPr lang="en-US" altLang="ko-KR" sz="1100" dirty="0" err="1"/>
              <a:t>YearsSinceLastPromotion</a:t>
            </a:r>
            <a:endParaRPr lang="en-US" altLang="ko-KR" sz="1100" dirty="0"/>
          </a:p>
          <a:p>
            <a:pPr algn="ctr"/>
            <a:r>
              <a:rPr lang="en-US" altLang="ko-KR" sz="1100" dirty="0" err="1"/>
              <a:t>YearsWithCurrManager</a:t>
            </a:r>
            <a:endParaRPr lang="en-US" altLang="ko-KR" sz="1100" dirty="0"/>
          </a:p>
          <a:p>
            <a:pPr algn="ctr"/>
            <a:r>
              <a:rPr lang="en-US" altLang="ko-KR" sz="1100" dirty="0"/>
              <a:t>  ⁝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651774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A2971DBD-CE5B-C8BE-8E14-C780D1F90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BABF6F93-A0B5-B87E-361E-A3C6BE517CDC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5B49C081-CC8C-1F0F-6194-C901564637A9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1A51D638-05A1-4EF2-9458-C83C70215D2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3;p16">
            <a:extLst>
              <a:ext uri="{FF2B5EF4-FFF2-40B4-BE49-F238E27FC236}">
                <a16:creationId xmlns:a16="http://schemas.microsoft.com/office/drawing/2014/main" id="{91F01F0E-AE19-B41E-5868-C29FF3E4EF00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2. 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데이터 분석 </a:t>
            </a: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– 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새로운 </a:t>
            </a:r>
            <a:r>
              <a:rPr lang="ko-KR" altLang="en-US" sz="2000" b="1" dirty="0" err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피쳐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추가</a:t>
            </a:r>
            <a:endParaRPr lang="en-US" altLang="ko-KR"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4ECC16E-A199-DC12-4753-4469B5D5E14A}"/>
              </a:ext>
            </a:extLst>
          </p:cNvPr>
          <p:cNvGrpSpPr/>
          <p:nvPr/>
        </p:nvGrpSpPr>
        <p:grpSpPr>
          <a:xfrm>
            <a:off x="2307794" y="1622502"/>
            <a:ext cx="5767926" cy="2301946"/>
            <a:chOff x="2160157" y="1855864"/>
            <a:chExt cx="5767926" cy="23019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810DAE8C-39F5-22F8-3B84-C803230A9020}"/>
                    </a:ext>
                  </a:extLst>
                </p:cNvPr>
                <p:cNvSpPr txBox="1"/>
                <p:nvPr/>
              </p:nvSpPr>
              <p:spPr>
                <a:xfrm>
                  <a:off x="3798726" y="1855864"/>
                  <a:ext cx="2490787" cy="5741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600" b="1" dirty="0"/>
                    <a:t>Attrition </a:t>
                  </a:r>
                  <a:r>
                    <a:rPr lang="ko-KR" altLang="en-US" sz="1600" b="1" dirty="0"/>
                    <a:t>∝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1600" b="1" i="1">
                              <a:latin typeface="Cambria Math" panose="02040503050406030204" pitchFamily="18" charset="0"/>
                            </a:rPr>
                            <m:t>근</m:t>
                          </m:r>
                          <m:r>
                            <a:rPr lang="ko-KR" altLang="en-US" sz="1600" b="1" i="1" smtClean="0">
                              <a:latin typeface="Cambria Math" panose="02040503050406030204" pitchFamily="18" charset="0"/>
                            </a:rPr>
                            <m:t>무</m:t>
                          </m:r>
                          <m:r>
                            <a:rPr lang="ko-KR" altLang="en-US" sz="1600" b="1" i="1">
                              <a:latin typeface="Cambria Math" panose="02040503050406030204" pitchFamily="18" charset="0"/>
                            </a:rPr>
                            <m:t>했</m:t>
                          </m:r>
                          <m:r>
                            <a:rPr lang="ko-KR" altLang="en-US" sz="1600" b="1" i="1" smtClean="0">
                              <a:latin typeface="Cambria Math" panose="02040503050406030204" pitchFamily="18" charset="0"/>
                            </a:rPr>
                            <m:t>던</m:t>
                          </m:r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sz="1600" b="1" i="1">
                              <a:latin typeface="Cambria Math" panose="02040503050406030204" pitchFamily="18" charset="0"/>
                            </a:rPr>
                            <m:t>회</m:t>
                          </m:r>
                          <m:r>
                            <a:rPr lang="ko-KR" altLang="en-US" sz="1600" b="1" i="1" smtClean="0">
                              <a:latin typeface="Cambria Math" panose="02040503050406030204" pitchFamily="18" charset="0"/>
                            </a:rPr>
                            <m:t>사</m:t>
                          </m:r>
                        </m:num>
                        <m:den>
                          <m:r>
                            <a:rPr lang="ko-KR" altLang="en-US" sz="1600" b="1" i="1">
                              <a:latin typeface="Cambria Math" panose="02040503050406030204" pitchFamily="18" charset="0"/>
                            </a:rPr>
                            <m:t>총</m:t>
                          </m:r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sz="1600" b="1" i="1">
                              <a:latin typeface="Cambria Math" panose="02040503050406030204" pitchFamily="18" charset="0"/>
                            </a:rPr>
                            <m:t>근</m:t>
                          </m:r>
                          <m:r>
                            <a:rPr lang="ko-KR" altLang="en-US" sz="1600" b="1" i="1" smtClean="0">
                              <a:latin typeface="Cambria Math" panose="02040503050406030204" pitchFamily="18" charset="0"/>
                            </a:rPr>
                            <m:t>무</m:t>
                          </m:r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sz="1600" b="1" i="1">
                              <a:latin typeface="Cambria Math" panose="02040503050406030204" pitchFamily="18" charset="0"/>
                            </a:rPr>
                            <m:t>연</m:t>
                          </m:r>
                          <m:r>
                            <a:rPr lang="ko-KR" altLang="en-US" sz="1600" b="1" i="1" smtClean="0">
                              <a:latin typeface="Cambria Math" panose="02040503050406030204" pitchFamily="18" charset="0"/>
                            </a:rPr>
                            <m:t>수</m:t>
                          </m:r>
                        </m:den>
                      </m:f>
                    </m:oMath>
                  </a14:m>
                  <a:endParaRPr lang="ko-KR" altLang="en-US" sz="1600" b="1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810DAE8C-39F5-22F8-3B84-C803230A90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98726" y="1855864"/>
                  <a:ext cx="2490787" cy="574196"/>
                </a:xfrm>
                <a:prstGeom prst="rect">
                  <a:avLst/>
                </a:prstGeom>
                <a:blipFill>
                  <a:blip r:embed="rId4"/>
                  <a:stretch>
                    <a:fillRect l="-122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화살표: 아래쪽 3">
              <a:extLst>
                <a:ext uri="{FF2B5EF4-FFF2-40B4-BE49-F238E27FC236}">
                  <a16:creationId xmlns:a16="http://schemas.microsoft.com/office/drawing/2014/main" id="{523B94E5-0E60-4D32-5AFC-87C559F1ACF4}"/>
                </a:ext>
              </a:extLst>
            </p:cNvPr>
            <p:cNvSpPr/>
            <p:nvPr/>
          </p:nvSpPr>
          <p:spPr>
            <a:xfrm>
              <a:off x="4905623" y="2822691"/>
              <a:ext cx="276999" cy="731444"/>
            </a:xfrm>
            <a:prstGeom prst="downArrow">
              <a:avLst>
                <a:gd name="adj1" fmla="val 50000"/>
                <a:gd name="adj2" fmla="val 84931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8948A41-59E8-DA16-B989-3F69D9C1712F}"/>
                </a:ext>
              </a:extLst>
            </p:cNvPr>
            <p:cNvSpPr txBox="1"/>
            <p:nvPr/>
          </p:nvSpPr>
          <p:spPr>
            <a:xfrm>
              <a:off x="2160157" y="3819256"/>
              <a:ext cx="57679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i="0" dirty="0" err="1">
                  <a:effectLst/>
                  <a:latin typeface="system-ui"/>
                </a:rPr>
                <a:t>JobChangeRate</a:t>
              </a:r>
              <a:r>
                <a:rPr lang="en-US" altLang="ko-KR" sz="1600" i="0" dirty="0">
                  <a:effectLst/>
                  <a:latin typeface="system-ui"/>
                </a:rPr>
                <a:t> = </a:t>
              </a:r>
              <a:r>
                <a:rPr lang="en-US" altLang="ko-KR" sz="1600" i="0" dirty="0" err="1">
                  <a:effectLst/>
                  <a:latin typeface="system-ui"/>
                </a:rPr>
                <a:t>NumCompaniesWorked</a:t>
              </a:r>
              <a:r>
                <a:rPr lang="en-US" altLang="ko-KR" sz="1600" i="0" dirty="0">
                  <a:effectLst/>
                  <a:latin typeface="system-ui"/>
                </a:rPr>
                <a:t> / (TotalWorkingYears+1)</a:t>
              </a:r>
              <a:endParaRPr lang="ko-KR" alt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7236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1BA1D263-EA96-7919-E517-41366B620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162F2E82-F352-1395-5516-AEFE9B359BFC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C191BE5B-D395-674B-2A1D-2FAAC4869EE6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341162FF-BF67-A195-FEF1-586FB14B122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83;p16">
            <a:extLst>
              <a:ext uri="{FF2B5EF4-FFF2-40B4-BE49-F238E27FC236}">
                <a16:creationId xmlns:a16="http://schemas.microsoft.com/office/drawing/2014/main" id="{91085C3D-9E6A-D8A2-228B-D5F142230769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2. 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데이터 분석 </a:t>
            </a: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– 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새로운 </a:t>
            </a:r>
            <a:r>
              <a:rPr lang="ko-KR" altLang="en-US" sz="2000" b="1" dirty="0" err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피쳐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추가</a:t>
            </a:r>
            <a:endParaRPr lang="en-US" altLang="ko-KR"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7817CF1-EFA9-12B0-F77E-02534D2F2BF4}"/>
              </a:ext>
            </a:extLst>
          </p:cNvPr>
          <p:cNvGrpSpPr/>
          <p:nvPr/>
        </p:nvGrpSpPr>
        <p:grpSpPr>
          <a:xfrm>
            <a:off x="1932407" y="1694452"/>
            <a:ext cx="6356786" cy="2387266"/>
            <a:chOff x="1827629" y="1613488"/>
            <a:chExt cx="6356786" cy="2387266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822F3792-F876-384A-15CC-03638516CAD1}"/>
                </a:ext>
              </a:extLst>
            </p:cNvPr>
            <p:cNvGrpSpPr/>
            <p:nvPr/>
          </p:nvGrpSpPr>
          <p:grpSpPr>
            <a:xfrm>
              <a:off x="1827629" y="1613488"/>
              <a:ext cx="6356786" cy="572529"/>
              <a:chOff x="1893726" y="1361075"/>
              <a:chExt cx="6356786" cy="57252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" name="TextBox 1">
                    <a:extLst>
                      <a:ext uri="{FF2B5EF4-FFF2-40B4-BE49-F238E27FC236}">
                        <a16:creationId xmlns:a16="http://schemas.microsoft.com/office/drawing/2014/main" id="{931492CF-9F28-8DD7-E02D-0211EF3E1AC1}"/>
                      </a:ext>
                    </a:extLst>
                  </p:cNvPr>
                  <p:cNvSpPr txBox="1"/>
                  <p:nvPr/>
                </p:nvSpPr>
                <p:spPr>
                  <a:xfrm>
                    <a:off x="1893726" y="1361075"/>
                    <a:ext cx="3059274" cy="57252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1600" b="1" dirty="0"/>
                      <a:t>Attrition </a:t>
                    </a:r>
                    <a:r>
                      <a:rPr lang="ko-KR" altLang="en-US" sz="1600" b="1" dirty="0"/>
                      <a:t>∝ </a:t>
                    </a:r>
                    <a14:m>
                      <m:oMath xmlns:m="http://schemas.openxmlformats.org/officeDocument/2006/math">
                        <m:f>
                          <m:fPr>
                            <m:ctrlPr>
                              <a:rPr lang="en-US" altLang="ko-KR" sz="16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ko-KR" altLang="en-US" sz="1600" b="1" i="1">
                                <a:latin typeface="Cambria Math" panose="02040503050406030204" pitchFamily="18" charset="0"/>
                              </a:rPr>
                              <m:t>근</m:t>
                            </m:r>
                            <m:r>
                              <a:rPr lang="ko-KR" altLang="en-US" sz="1600" b="1" i="1" smtClean="0">
                                <a:latin typeface="Cambria Math" panose="02040503050406030204" pitchFamily="18" charset="0"/>
                              </a:rPr>
                              <m:t>무</m:t>
                            </m:r>
                            <m:r>
                              <a:rPr lang="ko-KR" altLang="en-US" sz="1600" b="1" i="1">
                                <a:latin typeface="Cambria Math" panose="02040503050406030204" pitchFamily="18" charset="0"/>
                              </a:rPr>
                              <m:t>시</m:t>
                            </m:r>
                            <m:r>
                              <a:rPr lang="ko-KR" altLang="en-US" sz="1600" b="1" i="1" smtClean="0">
                                <a:latin typeface="Cambria Math" panose="02040503050406030204" pitchFamily="18" charset="0"/>
                              </a:rPr>
                              <m:t>간</m:t>
                            </m:r>
                            <m:r>
                              <a:rPr lang="en-US" altLang="ko-KR" sz="1600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ko-KR" altLang="en-US" sz="1600" b="1" i="1">
                                <a:latin typeface="Cambria Math" panose="02040503050406030204" pitchFamily="18" charset="0"/>
                              </a:rPr>
                              <m:t>초</m:t>
                            </m:r>
                            <m:r>
                              <a:rPr lang="ko-KR" altLang="en-US" sz="1600" b="1" i="1" smtClean="0">
                                <a:latin typeface="Cambria Math" panose="02040503050406030204" pitchFamily="18" charset="0"/>
                              </a:rPr>
                              <m:t>과</m:t>
                            </m:r>
                            <m:r>
                              <a:rPr lang="en-US" altLang="ko-KR" sz="1600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ko-KR" altLang="en-US" sz="1600" b="1" i="1">
                                <a:latin typeface="Cambria Math" panose="02040503050406030204" pitchFamily="18" charset="0"/>
                              </a:rPr>
                              <m:t>여</m:t>
                            </m:r>
                            <m:r>
                              <a:rPr lang="ko-KR" altLang="en-US" sz="1600" b="1" i="1" smtClean="0">
                                <a:latin typeface="Cambria Math" panose="02040503050406030204" pitchFamily="18" charset="0"/>
                              </a:rPr>
                              <m:t>부</m:t>
                            </m:r>
                          </m:num>
                          <m:den>
                            <m:r>
                              <a:rPr lang="ko-KR" altLang="en-US" sz="1600" b="1" i="1">
                                <a:latin typeface="Cambria Math" panose="02040503050406030204" pitchFamily="18" charset="0"/>
                              </a:rPr>
                              <m:t>직</m:t>
                            </m:r>
                            <m:r>
                              <a:rPr lang="ko-KR" altLang="en-US" sz="1600" b="1" i="1" smtClean="0">
                                <a:latin typeface="Cambria Math" panose="02040503050406030204" pitchFamily="18" charset="0"/>
                              </a:rPr>
                              <m:t>업</m:t>
                            </m:r>
                            <m:r>
                              <a:rPr lang="en-US" altLang="ko-KR" sz="1600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ko-KR" altLang="en-US" sz="1600" b="1" i="1">
                                <a:latin typeface="Cambria Math" panose="02040503050406030204" pitchFamily="18" charset="0"/>
                              </a:rPr>
                              <m:t>만</m:t>
                            </m:r>
                            <m:r>
                              <a:rPr lang="ko-KR" altLang="en-US" sz="1600" b="1" i="1" smtClean="0">
                                <a:latin typeface="Cambria Math" panose="02040503050406030204" pitchFamily="18" charset="0"/>
                              </a:rPr>
                              <m:t>족</m:t>
                            </m:r>
                            <m:r>
                              <a:rPr lang="ko-KR" altLang="en-US" sz="1600" b="1" i="1">
                                <a:latin typeface="Cambria Math" panose="02040503050406030204" pitchFamily="18" charset="0"/>
                              </a:rPr>
                              <m:t>도</m:t>
                            </m:r>
                          </m:den>
                        </m:f>
                      </m:oMath>
                    </a14:m>
                    <a:endParaRPr lang="ko-KR" altLang="en-US" sz="1600" b="1" dirty="0"/>
                  </a:p>
                </p:txBody>
              </p:sp>
            </mc:Choice>
            <mc:Fallback xmlns="">
              <p:sp>
                <p:nvSpPr>
                  <p:cNvPr id="2" name="TextBox 1">
                    <a:extLst>
                      <a:ext uri="{FF2B5EF4-FFF2-40B4-BE49-F238E27FC236}">
                        <a16:creationId xmlns:a16="http://schemas.microsoft.com/office/drawing/2014/main" id="{931492CF-9F28-8DD7-E02D-0211EF3E1AC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93726" y="1361075"/>
                    <a:ext cx="3059274" cy="57252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195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32D02D8B-28E5-1536-C366-220EC2BFBA38}"/>
                      </a:ext>
                    </a:extLst>
                  </p:cNvPr>
                  <p:cNvSpPr txBox="1"/>
                  <p:nvPr/>
                </p:nvSpPr>
                <p:spPr>
                  <a:xfrm>
                    <a:off x="5191238" y="1361075"/>
                    <a:ext cx="3059274" cy="56945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1600" b="1" dirty="0"/>
                      <a:t>Attrition </a:t>
                    </a:r>
                    <a:r>
                      <a:rPr lang="ko-KR" altLang="en-US" sz="1600" b="1" dirty="0"/>
                      <a:t>∝ </a:t>
                    </a:r>
                    <a14:m>
                      <m:oMath xmlns:m="http://schemas.openxmlformats.org/officeDocument/2006/math">
                        <m:f>
                          <m:fPr>
                            <m:ctrlPr>
                              <a:rPr lang="en-US" altLang="ko-KR" sz="16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ko-KR" altLang="en-US" sz="1600" b="1" i="1">
                                <a:latin typeface="Cambria Math" panose="02040503050406030204" pitchFamily="18" charset="0"/>
                              </a:rPr>
                              <m:t>근</m:t>
                            </m:r>
                            <m:r>
                              <a:rPr lang="ko-KR" altLang="en-US" sz="1600" b="1" i="1" smtClean="0">
                                <a:latin typeface="Cambria Math" panose="02040503050406030204" pitchFamily="18" charset="0"/>
                              </a:rPr>
                              <m:t>무</m:t>
                            </m:r>
                            <m:r>
                              <a:rPr lang="ko-KR" altLang="en-US" sz="1600" b="1" i="1">
                                <a:latin typeface="Cambria Math" panose="02040503050406030204" pitchFamily="18" charset="0"/>
                              </a:rPr>
                              <m:t>시</m:t>
                            </m:r>
                            <m:r>
                              <a:rPr lang="ko-KR" altLang="en-US" sz="1600" b="1" i="1" smtClean="0">
                                <a:latin typeface="Cambria Math" panose="02040503050406030204" pitchFamily="18" charset="0"/>
                              </a:rPr>
                              <m:t>간</m:t>
                            </m:r>
                            <m:r>
                              <a:rPr lang="en-US" altLang="ko-KR" sz="1600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ko-KR" altLang="en-US" sz="1600" b="1" i="1">
                                <a:latin typeface="Cambria Math" panose="02040503050406030204" pitchFamily="18" charset="0"/>
                              </a:rPr>
                              <m:t>초</m:t>
                            </m:r>
                            <m:r>
                              <a:rPr lang="ko-KR" altLang="en-US" sz="1600" b="1" i="1" smtClean="0">
                                <a:latin typeface="Cambria Math" panose="02040503050406030204" pitchFamily="18" charset="0"/>
                              </a:rPr>
                              <m:t>과</m:t>
                            </m:r>
                            <m:r>
                              <a:rPr lang="en-US" altLang="ko-KR" sz="1600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ko-KR" altLang="en-US" sz="1600" b="1" i="1">
                                <a:latin typeface="Cambria Math" panose="02040503050406030204" pitchFamily="18" charset="0"/>
                              </a:rPr>
                              <m:t>여</m:t>
                            </m:r>
                            <m:r>
                              <a:rPr lang="ko-KR" altLang="en-US" sz="1600" b="1" i="1" smtClean="0">
                                <a:latin typeface="Cambria Math" panose="02040503050406030204" pitchFamily="18" charset="0"/>
                              </a:rPr>
                              <m:t>부</m:t>
                            </m:r>
                          </m:num>
                          <m:den>
                            <m:r>
                              <a:rPr lang="ko-KR" altLang="en-US" sz="1600" b="1" i="1">
                                <a:latin typeface="Cambria Math" panose="02040503050406030204" pitchFamily="18" charset="0"/>
                              </a:rPr>
                              <m:t>워</m:t>
                            </m:r>
                            <m:r>
                              <a:rPr lang="ko-KR" altLang="en-US" sz="1600" b="1" i="1" smtClean="0">
                                <a:latin typeface="Cambria Math" panose="02040503050406030204" pitchFamily="18" charset="0"/>
                              </a:rPr>
                              <m:t>라</m:t>
                            </m:r>
                            <m:r>
                              <a:rPr lang="ko-KR" altLang="en-US" sz="1600" b="1" i="1">
                                <a:latin typeface="Cambria Math" panose="02040503050406030204" pitchFamily="18" charset="0"/>
                              </a:rPr>
                              <m:t>밸</m:t>
                            </m:r>
                          </m:den>
                        </m:f>
                      </m:oMath>
                    </a14:m>
                    <a:endParaRPr lang="ko-KR" altLang="en-US" sz="1600" b="1" dirty="0"/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32D02D8B-28E5-1536-C366-220EC2BFBA3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91238" y="1361075"/>
                    <a:ext cx="3059274" cy="569451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195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" name="화살표: 아래쪽 6">
              <a:extLst>
                <a:ext uri="{FF2B5EF4-FFF2-40B4-BE49-F238E27FC236}">
                  <a16:creationId xmlns:a16="http://schemas.microsoft.com/office/drawing/2014/main" id="{07930632-B335-FDF5-424F-20D0B6EE7E47}"/>
                </a:ext>
              </a:extLst>
            </p:cNvPr>
            <p:cNvSpPr/>
            <p:nvPr/>
          </p:nvSpPr>
          <p:spPr>
            <a:xfrm>
              <a:off x="4867523" y="2527416"/>
              <a:ext cx="276999" cy="731444"/>
            </a:xfrm>
            <a:prstGeom prst="downArrow">
              <a:avLst>
                <a:gd name="adj1" fmla="val 50000"/>
                <a:gd name="adj2" fmla="val 84931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1179D6A-F047-5D92-9E1C-2AAD3B114174}"/>
                </a:ext>
              </a:extLst>
            </p:cNvPr>
            <p:cNvSpPr txBox="1"/>
            <p:nvPr/>
          </p:nvSpPr>
          <p:spPr>
            <a:xfrm>
              <a:off x="2225453" y="3662200"/>
              <a:ext cx="576632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i="0" dirty="0" err="1">
                  <a:effectLst/>
                  <a:latin typeface="system-ui"/>
                </a:rPr>
                <a:t>StressScore</a:t>
              </a:r>
              <a:r>
                <a:rPr lang="en-US" altLang="ko-KR" sz="1600" i="0" dirty="0">
                  <a:effectLst/>
                  <a:latin typeface="system-ui"/>
                </a:rPr>
                <a:t> = (OverTime+1) / (</a:t>
              </a:r>
              <a:r>
                <a:rPr lang="en-US" altLang="ko-KR" sz="1600" i="0" dirty="0" err="1">
                  <a:effectLst/>
                  <a:latin typeface="system-ui"/>
                </a:rPr>
                <a:t>JobSatisfaction+WorkLifeBalance</a:t>
              </a:r>
              <a:r>
                <a:rPr lang="en-US" altLang="ko-KR" sz="1600" i="0" dirty="0">
                  <a:effectLst/>
                  <a:latin typeface="system-ui"/>
                </a:rPr>
                <a:t>)</a:t>
              </a:r>
              <a:endParaRPr lang="ko-KR" alt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66842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381EDAAE-199C-3FD5-8D07-0C3171FFE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1B9141E0-4B24-1718-AA00-63216843FAC9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8FC6DACD-3CFD-BE6E-6559-ED5F265989A0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59553889-1F67-D252-3EF5-0BAF7D429D9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3;p16">
            <a:extLst>
              <a:ext uri="{FF2B5EF4-FFF2-40B4-BE49-F238E27FC236}">
                <a16:creationId xmlns:a16="http://schemas.microsoft.com/office/drawing/2014/main" id="{0564BBCE-2723-4081-2B0A-F1BAD9CA3819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2. 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데이터 분석 </a:t>
            </a: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– 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새로운 </a:t>
            </a:r>
            <a:r>
              <a:rPr lang="ko-KR" altLang="en-US" sz="2000" b="1" dirty="0" err="1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피쳐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추가</a:t>
            </a:r>
            <a:endParaRPr lang="en-US" altLang="ko-KR"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4" name="화살표: 아래쪽 3">
            <a:extLst>
              <a:ext uri="{FF2B5EF4-FFF2-40B4-BE49-F238E27FC236}">
                <a16:creationId xmlns:a16="http://schemas.microsoft.com/office/drawing/2014/main" id="{A893DEE8-D0B0-64E6-9102-3FC95CE5EC5F}"/>
              </a:ext>
            </a:extLst>
          </p:cNvPr>
          <p:cNvSpPr/>
          <p:nvPr/>
        </p:nvSpPr>
        <p:spPr>
          <a:xfrm>
            <a:off x="4986585" y="2571750"/>
            <a:ext cx="276999" cy="731444"/>
          </a:xfrm>
          <a:prstGeom prst="downArrow">
            <a:avLst>
              <a:gd name="adj1" fmla="val 50000"/>
              <a:gd name="adj2" fmla="val 84931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3F1E75-D999-57E8-6B22-510D2EDB2570}"/>
              </a:ext>
            </a:extLst>
          </p:cNvPr>
          <p:cNvSpPr txBox="1"/>
          <p:nvPr/>
        </p:nvSpPr>
        <p:spPr>
          <a:xfrm>
            <a:off x="1896475" y="3605624"/>
            <a:ext cx="64572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i="0" dirty="0" err="1">
                <a:effectLst/>
                <a:latin typeface="system-ui"/>
              </a:rPr>
              <a:t>CareerTenureScore</a:t>
            </a:r>
            <a:r>
              <a:rPr lang="en-US" altLang="ko-KR" sz="1600" i="0" dirty="0">
                <a:effectLst/>
                <a:latin typeface="system-ui"/>
              </a:rPr>
              <a:t> = </a:t>
            </a:r>
            <a:r>
              <a:rPr lang="en-US" altLang="ko-KR" sz="1600" dirty="0"/>
              <a:t>YearsAtCompany*0.4 + </a:t>
            </a:r>
            <a:r>
              <a:rPr lang="en-US" altLang="ko-KR" sz="1600" dirty="0" err="1"/>
              <a:t>YearsInCurrentRole</a:t>
            </a:r>
            <a:r>
              <a:rPr lang="en-US" altLang="ko-KR" sz="1600" dirty="0"/>
              <a:t>*0.3 </a:t>
            </a:r>
          </a:p>
          <a:p>
            <a:r>
              <a:rPr lang="en-US" altLang="ko-KR" sz="1600" dirty="0"/>
              <a:t>+ </a:t>
            </a:r>
            <a:r>
              <a:rPr lang="en-US" altLang="ko-KR" sz="1600" dirty="0" err="1"/>
              <a:t>YearsSinceLastPromotion</a:t>
            </a:r>
            <a:r>
              <a:rPr lang="en-US" altLang="ko-KR" sz="1600" dirty="0"/>
              <a:t>*0.2 + </a:t>
            </a:r>
            <a:r>
              <a:rPr lang="en-US" altLang="ko-KR" sz="1600" dirty="0" err="1"/>
              <a:t>YearsWithCurrManager</a:t>
            </a:r>
            <a:r>
              <a:rPr lang="en-US" altLang="ko-KR" sz="1600" dirty="0"/>
              <a:t>*0.1</a:t>
            </a:r>
            <a:endParaRPr lang="ko-KR" alt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1153AB-A54D-DD3C-7250-C239BE8FE9A1}"/>
              </a:ext>
            </a:extLst>
          </p:cNvPr>
          <p:cNvSpPr txBox="1"/>
          <p:nvPr/>
        </p:nvSpPr>
        <p:spPr>
          <a:xfrm>
            <a:off x="1788952" y="1315213"/>
            <a:ext cx="68056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높은 상관관계를 갖는 </a:t>
            </a:r>
            <a:r>
              <a:rPr lang="ko-KR" altLang="en-US" dirty="0" err="1"/>
              <a:t>피쳐</a:t>
            </a:r>
            <a:r>
              <a:rPr lang="ko-KR" altLang="en-US" dirty="0"/>
              <a:t> 중</a:t>
            </a:r>
            <a:r>
              <a:rPr lang="en-US" altLang="ko-KR" dirty="0"/>
              <a:t> </a:t>
            </a:r>
            <a:r>
              <a:rPr lang="ko-KR" altLang="en-US" b="1" dirty="0"/>
              <a:t>근속 기간</a:t>
            </a:r>
            <a:r>
              <a:rPr lang="ko-KR" altLang="en-US" dirty="0"/>
              <a:t>이나 </a:t>
            </a:r>
            <a:r>
              <a:rPr lang="ko-KR" altLang="en-US" b="1" dirty="0"/>
              <a:t>경력 관련 시간 정보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 err="1"/>
              <a:t>담고있는</a:t>
            </a:r>
            <a:r>
              <a:rPr lang="ko-KR" altLang="en-US" dirty="0"/>
              <a:t> </a:t>
            </a:r>
            <a:r>
              <a:rPr lang="ko-KR" altLang="en-US" dirty="0" err="1"/>
              <a:t>피쳐</a:t>
            </a:r>
            <a:endParaRPr lang="en-US" altLang="ko-KR" dirty="0"/>
          </a:p>
          <a:p>
            <a:endParaRPr lang="en-US" altLang="ko-KR" dirty="0"/>
          </a:p>
          <a:p>
            <a:pPr algn="ctr"/>
            <a:r>
              <a:rPr lang="en-US" altLang="ko-KR" dirty="0"/>
              <a:t>YearsAtCompany, </a:t>
            </a:r>
            <a:r>
              <a:rPr lang="en-US" altLang="ko-KR" dirty="0" err="1"/>
              <a:t>YearsInCurrentRole</a:t>
            </a:r>
            <a:r>
              <a:rPr lang="en-US" altLang="ko-KR" dirty="0"/>
              <a:t>, </a:t>
            </a:r>
          </a:p>
          <a:p>
            <a:pPr algn="ctr"/>
            <a:r>
              <a:rPr lang="en-US" altLang="ko-KR" dirty="0" err="1"/>
              <a:t>YearsSinceLastPromotion</a:t>
            </a:r>
            <a:r>
              <a:rPr lang="en-US" altLang="ko-KR" dirty="0"/>
              <a:t>, </a:t>
            </a:r>
            <a:r>
              <a:rPr lang="en-US" altLang="ko-KR" dirty="0" err="1"/>
              <a:t>YearsWithCurrManager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7798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9CE6BD77-1F9C-35AD-88DB-E0985CA67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185C0902-E188-F4EB-5E7B-6A2CA246252B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C55F5E03-DD8F-E0A1-E462-3F0F27F2D6BF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563D7BC3-E05F-F1FB-1ADD-A7340A4F763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83;p16">
            <a:extLst>
              <a:ext uri="{FF2B5EF4-FFF2-40B4-BE49-F238E27FC236}">
                <a16:creationId xmlns:a16="http://schemas.microsoft.com/office/drawing/2014/main" id="{B48A4E47-662D-58C7-8BAF-AE466E502B94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2. 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데이터 분석 </a:t>
            </a: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– 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정규화</a:t>
            </a:r>
            <a:endParaRPr lang="en-US" altLang="ko-KR"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08B649-BA51-A58B-AD15-98DF034C97B1}"/>
              </a:ext>
            </a:extLst>
          </p:cNvPr>
          <p:cNvSpPr txBox="1"/>
          <p:nvPr/>
        </p:nvSpPr>
        <p:spPr>
          <a:xfrm>
            <a:off x="2217877" y="3319302"/>
            <a:ext cx="56108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Min Max </a:t>
            </a:r>
            <a:r>
              <a:rPr lang="ko-KR" altLang="en-US" sz="1600" dirty="0"/>
              <a:t>정규화를 사용해서 모든 </a:t>
            </a:r>
            <a:r>
              <a:rPr lang="ko-KR" altLang="en-US" sz="1600" dirty="0" err="1"/>
              <a:t>입력값을</a:t>
            </a:r>
            <a:r>
              <a:rPr lang="ko-KR" altLang="en-US" sz="1600" dirty="0"/>
              <a:t> </a:t>
            </a:r>
            <a:r>
              <a:rPr lang="en-US" altLang="ko-KR" sz="1600" dirty="0"/>
              <a:t>0~1 </a:t>
            </a:r>
            <a:r>
              <a:rPr lang="ko-KR" altLang="en-US" sz="1600" dirty="0"/>
              <a:t>범위로 맞춤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ko-KR" altLang="en-US" sz="1600" dirty="0"/>
              <a:t>정답</a:t>
            </a:r>
            <a:r>
              <a:rPr lang="en-US" altLang="ko-KR" sz="1600" dirty="0"/>
              <a:t>(label)</a:t>
            </a:r>
            <a:r>
              <a:rPr lang="ko-KR" altLang="en-US" sz="1600" dirty="0"/>
              <a:t> 칼럼인 </a:t>
            </a:r>
            <a:r>
              <a:rPr lang="en-US" altLang="ko-KR" sz="1600" dirty="0"/>
              <a:t>Attrition</a:t>
            </a:r>
            <a:r>
              <a:rPr lang="ko-KR" altLang="en-US" sz="1600" dirty="0"/>
              <a:t>은 정규화 대상에서 제외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16A3196-CF3A-7DDE-E25E-E74D6C3BF2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3187" y="1523780"/>
            <a:ext cx="4535302" cy="123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6224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063F24FA-22E4-2B4E-34A7-D4A1CBF59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B0379536-87A9-0E99-00C1-FCD4AE3E8604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CCCBA6F5-99CB-8CCB-01A4-C568099FF9BF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41C53B0B-AE94-7453-F80D-D50B86DD9DC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3;p16">
            <a:extLst>
              <a:ext uri="{FF2B5EF4-FFF2-40B4-BE49-F238E27FC236}">
                <a16:creationId xmlns:a16="http://schemas.microsoft.com/office/drawing/2014/main" id="{CE13B618-83E8-EDCE-AD78-1A8F2CA7FA7E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2. 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데이터 분석 </a:t>
            </a: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– 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샘플링</a:t>
            </a:r>
            <a:endParaRPr lang="en-US" altLang="ko-KR"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72CDB68-3825-8738-8821-E464A0A391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3599208"/>
              </p:ext>
            </p:extLst>
          </p:nvPr>
        </p:nvGraphicFramePr>
        <p:xfrm>
          <a:off x="1594712" y="1402940"/>
          <a:ext cx="7234237" cy="744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3451">
                  <a:extLst>
                    <a:ext uri="{9D8B030D-6E8A-4147-A177-3AD203B41FA5}">
                      <a16:colId xmlns:a16="http://schemas.microsoft.com/office/drawing/2014/main" val="3382921825"/>
                    </a:ext>
                  </a:extLst>
                </a:gridCol>
                <a:gridCol w="2100262">
                  <a:extLst>
                    <a:ext uri="{9D8B030D-6E8A-4147-A177-3AD203B41FA5}">
                      <a16:colId xmlns:a16="http://schemas.microsoft.com/office/drawing/2014/main" val="727169291"/>
                    </a:ext>
                  </a:extLst>
                </a:gridCol>
                <a:gridCol w="2100262">
                  <a:extLst>
                    <a:ext uri="{9D8B030D-6E8A-4147-A177-3AD203B41FA5}">
                      <a16:colId xmlns:a16="http://schemas.microsoft.com/office/drawing/2014/main" val="1196475218"/>
                    </a:ext>
                  </a:extLst>
                </a:gridCol>
                <a:gridCol w="2100262">
                  <a:extLst>
                    <a:ext uri="{9D8B030D-6E8A-4147-A177-3AD203B41FA5}">
                      <a16:colId xmlns:a16="http://schemas.microsoft.com/office/drawing/2014/main" val="102168118"/>
                    </a:ext>
                  </a:extLst>
                </a:gridCol>
              </a:tblGrid>
              <a:tr h="369881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sampling</a:t>
                      </a:r>
                      <a:endParaRPr lang="ko-KR" altLang="en-US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Under sampling</a:t>
                      </a:r>
                      <a:endParaRPr lang="ko-KR" altLang="en-US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SMOTE </a:t>
                      </a:r>
                      <a:r>
                        <a:rPr lang="ko-KR" altLang="en-US" dirty="0"/>
                        <a:t>기법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821591"/>
                  </a:ext>
                </a:extLst>
              </a:tr>
              <a:tr h="3747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F1 score</a:t>
                      </a:r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0.94</a:t>
                      </a:r>
                      <a:endParaRPr lang="ko-KR" alt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0.37</a:t>
                      </a:r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0.86</a:t>
                      </a:r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815938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CEEF667-E783-AE1A-DC33-F3BF0A417C36}"/>
              </a:ext>
            </a:extLst>
          </p:cNvPr>
          <p:cNvSpPr txBox="1"/>
          <p:nvPr/>
        </p:nvSpPr>
        <p:spPr>
          <a:xfrm>
            <a:off x="1689960" y="2571750"/>
            <a:ext cx="657773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b="1" dirty="0"/>
              <a:t>Under sampling</a:t>
            </a:r>
          </a:p>
          <a:p>
            <a:r>
              <a:rPr lang="ko-KR" altLang="en-US" dirty="0"/>
              <a:t>샘플수가 적은 데이터셋 대상으로 </a:t>
            </a:r>
            <a:r>
              <a:rPr lang="ko-KR" altLang="en-US" dirty="0" err="1"/>
              <a:t>언더샘플링을</a:t>
            </a:r>
            <a:r>
              <a:rPr lang="ko-KR" altLang="en-US" dirty="0"/>
              <a:t> 적용하여 데이터의 수가 충분하지 않아 학습이 충분히 이루어지지 않았음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b="1" dirty="0"/>
              <a:t>SMOTE </a:t>
            </a:r>
            <a:r>
              <a:rPr lang="ko-KR" altLang="en-US" b="1" dirty="0"/>
              <a:t>기법</a:t>
            </a:r>
            <a:endParaRPr lang="en-US" altLang="ko-KR" b="1" dirty="0"/>
          </a:p>
          <a:p>
            <a:r>
              <a:rPr lang="ko-KR" altLang="en-US" dirty="0"/>
              <a:t>생성된 인공 데이터가 모델의 일반화 성능을 떨어뜨려</a:t>
            </a:r>
            <a:r>
              <a:rPr lang="en-US" altLang="ko-KR" dirty="0"/>
              <a:t>, </a:t>
            </a:r>
            <a:r>
              <a:rPr lang="ko-KR" altLang="en-US" dirty="0"/>
              <a:t>소수 클래스 예측은 늘었지만 오히려 과적합과 경계 혼란으로 인해 </a:t>
            </a:r>
            <a:r>
              <a:rPr lang="en-US" altLang="ko-KR" dirty="0"/>
              <a:t>accuracy</a:t>
            </a:r>
            <a:r>
              <a:rPr lang="ko-KR" altLang="en-US" dirty="0"/>
              <a:t>와 </a:t>
            </a:r>
            <a:r>
              <a:rPr lang="en-US" altLang="ko-KR" dirty="0"/>
              <a:t>F1-score </a:t>
            </a:r>
            <a:r>
              <a:rPr lang="ko-KR" altLang="en-US" dirty="0"/>
              <a:t>모두 낮아짐</a:t>
            </a:r>
          </a:p>
        </p:txBody>
      </p:sp>
    </p:spTree>
    <p:extLst>
      <p:ext uri="{BB962C8B-B14F-4D97-AF65-F5344CB8AC3E}">
        <p14:creationId xmlns:p14="http://schemas.microsoft.com/office/powerpoint/2010/main" val="249141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6DEFC2C4-CA40-CE3B-1393-9F2B95426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9B74A296-2EEF-D9F1-AC42-F2CF141BBBCC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01BB6044-3CFC-33F3-AE27-D3B6C19F2F58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FF77D8B6-ED84-DF10-8D78-BAFD84052BB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3;p16">
            <a:extLst>
              <a:ext uri="{FF2B5EF4-FFF2-40B4-BE49-F238E27FC236}">
                <a16:creationId xmlns:a16="http://schemas.microsoft.com/office/drawing/2014/main" id="{58005F6D-1FD1-9315-8050-6476C3BDCA17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3. 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모델 </a:t>
            </a:r>
            <a:r>
              <a:rPr lang="en-US" altLang="ko-KR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– Logistic Regression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9BEDD4-A2F0-E5C4-D04A-2563B3757EA5}"/>
              </a:ext>
            </a:extLst>
          </p:cNvPr>
          <p:cNvSpPr txBox="1"/>
          <p:nvPr/>
        </p:nvSpPr>
        <p:spPr>
          <a:xfrm>
            <a:off x="1724353" y="3514890"/>
            <a:ext cx="58721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과적합</a:t>
            </a:r>
            <a:r>
              <a:rPr lang="ko-KR" altLang="en-US" dirty="0"/>
              <a:t> 방지를 위해 </a:t>
            </a:r>
            <a:r>
              <a:rPr lang="en-US" altLang="ko-KR" dirty="0"/>
              <a:t>L2 </a:t>
            </a:r>
            <a:r>
              <a:rPr lang="ko-KR" altLang="en-US" dirty="0"/>
              <a:t>규제</a:t>
            </a:r>
            <a:r>
              <a:rPr lang="en-US" altLang="ko-KR" dirty="0"/>
              <a:t>(Ridge) </a:t>
            </a:r>
            <a:r>
              <a:rPr lang="ko-KR" altLang="en-US" dirty="0"/>
              <a:t>사용 →</a:t>
            </a:r>
            <a:r>
              <a:rPr lang="en-US" altLang="ko-KR" dirty="0"/>
              <a:t>  C = 100</a:t>
            </a:r>
          </a:p>
          <a:p>
            <a:r>
              <a:rPr lang="ko-KR" altLang="en-US" dirty="0"/>
              <a:t>수렴 문제를 방지하기 위해 충분한 반복횟수 설정 </a:t>
            </a:r>
            <a:r>
              <a:rPr lang="en-US" altLang="ko-KR" dirty="0" err="1"/>
              <a:t>max_iter</a:t>
            </a:r>
            <a:r>
              <a:rPr lang="en-US" altLang="ko-KR" dirty="0"/>
              <a:t> = 10,000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C76DD58-56B1-8631-D297-9764996F8E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5597273"/>
              </p:ext>
            </p:extLst>
          </p:nvPr>
        </p:nvGraphicFramePr>
        <p:xfrm>
          <a:off x="5897562" y="1333990"/>
          <a:ext cx="2845525" cy="1943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3506">
                  <a:extLst>
                    <a:ext uri="{9D8B030D-6E8A-4147-A177-3AD203B41FA5}">
                      <a16:colId xmlns:a16="http://schemas.microsoft.com/office/drawing/2014/main" val="3253602224"/>
                    </a:ext>
                  </a:extLst>
                </a:gridCol>
                <a:gridCol w="882019">
                  <a:extLst>
                    <a:ext uri="{9D8B030D-6E8A-4147-A177-3AD203B41FA5}">
                      <a16:colId xmlns:a16="http://schemas.microsoft.com/office/drawing/2014/main" val="4152322711"/>
                    </a:ext>
                  </a:extLst>
                </a:gridCol>
              </a:tblGrid>
              <a:tr h="3238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 (</a:t>
                      </a:r>
                      <a:r>
                        <a:rPr lang="ko-KR" altLang="en-US" sz="1200" dirty="0"/>
                        <a:t>정규화 강도의 역수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accuracy</a:t>
                      </a:r>
                      <a:endParaRPr lang="ko-KR" altLang="en-US" sz="1200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7644151"/>
                  </a:ext>
                </a:extLst>
              </a:tr>
              <a:tr h="3238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0.01</a:t>
                      </a:r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0.8673</a:t>
                      </a:r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4528293"/>
                  </a:ext>
                </a:extLst>
              </a:tr>
              <a:tr h="3238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0.1</a:t>
                      </a:r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0.8875</a:t>
                      </a:r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149695"/>
                  </a:ext>
                </a:extLst>
              </a:tr>
              <a:tr h="3238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0.8877</a:t>
                      </a:r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4987401"/>
                  </a:ext>
                </a:extLst>
              </a:tr>
              <a:tr h="3238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0.8911</a:t>
                      </a:r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25800"/>
                  </a:ext>
                </a:extLst>
              </a:tr>
              <a:tr h="3238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</a:t>
                      </a:r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0.8945</a:t>
                      </a:r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9612664"/>
                  </a:ext>
                </a:extLst>
              </a:tr>
            </a:tbl>
          </a:graphicData>
        </a:graphic>
      </p:graphicFrame>
      <p:pic>
        <p:nvPicPr>
          <p:cNvPr id="10" name="그림 9">
            <a:extLst>
              <a:ext uri="{FF2B5EF4-FFF2-40B4-BE49-F238E27FC236}">
                <a16:creationId xmlns:a16="http://schemas.microsoft.com/office/drawing/2014/main" id="{A72240C6-BB5C-8AC9-A200-869BB0B429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4353" y="1333990"/>
            <a:ext cx="3843633" cy="1149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7592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ABD9032F-12D5-577A-F835-B48E5EB88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7C355EB6-CE43-EFC7-9CB4-EC62193171D7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2973D07D-9130-B411-0DB1-205E1E47E86D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398F74F5-53C7-9105-05E6-AE314BADFE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83;p16">
            <a:extLst>
              <a:ext uri="{FF2B5EF4-FFF2-40B4-BE49-F238E27FC236}">
                <a16:creationId xmlns:a16="http://schemas.microsoft.com/office/drawing/2014/main" id="{EAF254C1-834F-2F83-0E03-B4F0ED4AAC30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4. </a:t>
            </a: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결과</a:t>
            </a:r>
            <a:endParaRPr lang="en-US" altLang="ko-KR"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AD9CED9-47C7-9710-8DEE-8425362595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8912" y="964334"/>
            <a:ext cx="4910137" cy="1780636"/>
          </a:xfrm>
          <a:prstGeom prst="rect">
            <a:avLst/>
          </a:prstGeom>
        </p:spPr>
      </p:pic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980FAFB3-F815-BF8E-D40A-1D57A0B7BC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7366200"/>
              </p:ext>
            </p:extLst>
          </p:nvPr>
        </p:nvGraphicFramePr>
        <p:xfrm>
          <a:off x="2014537" y="3021012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405331435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52934502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82628898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4057884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9853893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precision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recall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F1 score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Support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283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Yes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0.68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0.38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0.49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39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1721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No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0.91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0.97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0.94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255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291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accuracy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0.89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12462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035034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532</Words>
  <Application>Microsoft Office PowerPoint</Application>
  <PresentationFormat>화면 슬라이드 쇼(16:9)</PresentationFormat>
  <Paragraphs>147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NanumGothic ExtraBold</vt:lpstr>
      <vt:lpstr>system-ui</vt:lpstr>
      <vt:lpstr>Arial</vt:lpstr>
      <vt:lpstr>Cambria Math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노기현</cp:lastModifiedBy>
  <cp:revision>10</cp:revision>
  <dcterms:modified xsi:type="dcterms:W3CDTF">2025-05-25T14:08:24Z</dcterms:modified>
</cp:coreProperties>
</file>